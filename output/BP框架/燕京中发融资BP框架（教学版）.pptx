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财务数字一律用经审计口径。混改期间对外说的数，要和评估报告、审计报告一致，不能各说各的。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没批下来的一律写"拟"。把示意图写成已定方案，是国资项目最容易出问题的地方。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研发人员数量和占比将来 IPO 要核查，这里写的数要和研发台账、工时记录对得上。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只写履历事实，不写"经验丰富""开拓创新"这类评价。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燕京品牌是背书，但商标怎么授权、授权到哪年，要写清楚——这是将来 IPO 独立性问询的必问点。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一页最多 8 个单品。在售的和在研的分开标，别混在一起。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功效表述受《广告法》和保健食品标签规范约束，只能写批文核准的功能，不能自己扩大。文献结论要注明出处，不要写成公司自己的结论。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向燕京啤酒租的土地厂房要单独说明——这是关联交易，IPO 前要清理或论证。写 BP 时就把整改安排一并写上，别回避。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经销商和终端数量将来会被穿透核查——写多少就要拿得出台账。返利政策、经销商进销存也要能对上，现在就按可核查的口径写。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人群规模是"潜在人群"，不是你的客户。别直接拿人数乘单价当成自己的市场。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两国数据口径常常不同（含不含保健食品、按零售额还是出厂额），要在图下写清楚，不能混着比。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图下必须写"数据来源：某机构某报告，某年发布"。自己测算的份额要能让人复算一遍。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这页是背景，控制在一页，别喧宾夺主。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这张表投资人会直接拿来给你算价格。选谁进表、用哪一天的市值，先想清楚，并在表下注明日期。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批文申报时间要按主管部门实际审批周期估。写一个自己解释不了的时间点，比不写更糟。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这里的投资额，要和第五章的资金用途、第四章的财务预测三处完全一致。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目标要能验收。"加大市场投入""持续拓展渠道"这种话别写。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只写计划和条件的对应关系。不承诺一定能上、不承诺时间、不承诺回报，并在页脚注明进度受监管节奏影响。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经审计和未审计要分别标清楚。混改期间这几个数会被反复引用，先内部统一口径。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销售费用里的推广费、咨询费要能说清商业实质——这是 IPO 重点核查项，现在就按规范口径列，别等到问询时再改。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预测增速明显高于历史的，在同一页解释清楚。每条假设都要能追到已经发生的事实。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国资混改的价格不能自己定。BP 里不要出现具体估值承诺，一律写"拟"。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用途要和第三章的规划、第四章的预测对得上，三处数字不一样一定会被问。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所有条款以最终经国资审核的方案和产权交易所挂牌公告为准，BP 里全部写"拟"。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公开挂牌期间对外口径要统一，指定唯一对接人，别多头对外。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F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192024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燕京中发　融资 BP 框架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1005840" y="28803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混合所有制改革引入战略投资者 · 材料编写指引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1005840" y="3611880"/>
            <a:ext cx="3108960" cy="0"/>
          </a:xfrm>
          <a:prstGeom prst="line">
            <a:avLst/>
          </a:prstGeom>
          <a:noFill/>
          <a:ln w="25400">
            <a:solidFill>
              <a:srgbClr val="8FB6C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3931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3D6E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全篇 25 页，分五章：公司介绍 · 行业分析 · 发展规划 · 财务状况 · 融资方案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4389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3D6E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每一页告诉你：先准备哪些材料、这一页怎么写、要注意什么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国泰海通证券投资银行部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动笔之前，先说清楚三件事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43000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463040"/>
            <a:ext cx="73152" cy="1280160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14630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这份 BP 是给谁看的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60120" y="1847088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本轮是混合所有制改革引入战略投资者，同步实施员工持股。方案要报北京市国资委审核，再到北京产权交易所公开挂牌、公告 40 个工作日遴选投资方。所以这份 BP 有两个读者：一是国资监管部门和产权交易所，二是来看项目的战略投资人。写法上要经得起前者审、打动得了后者。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3063240"/>
            <a:ext cx="73152" cy="1280160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30632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和普通融资 BP 有什么不一样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60120" y="3447288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第一，价格不能自己定，以经核准或备案的评估结果为准，BP 里一律写"拟"。第二，不承诺回报、不承诺上市时间。第三，写进去的经营数据将来 IPO 时会被穿透核查，现在写多少，将来就要拿出台账证明多少。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4663440"/>
            <a:ext cx="73152" cy="1280160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46634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五章怎么排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60120" y="5047488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章讲清楚这家公司是谁、凭什么做得成；第二章讲这门生意有多大；第三章讲未来三年怎么长；第四章把账摊开；第五章讲这轮怎么进来、将来怎么退出。顺序不要动，这是投资人的阅读顺序：先看公司，再看行业，最后看价格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全篇 25 页长这样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85800" y="98755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顺序不要动：先看公司，再看行业，最后看价格。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645920"/>
            <a:ext cx="2103120" cy="841248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190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第一章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195681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公司介绍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85800" y="2615184"/>
            <a:ext cx="2103120" cy="365760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" y="267004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97864" y="2660904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公司概况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85800" y="3035808"/>
            <a:ext cx="210312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795528" y="309067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97864" y="3081528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企业图谱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85800" y="3456432"/>
            <a:ext cx="2103120" cy="365760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5" name="Text 13"/>
          <p:cNvSpPr/>
          <p:nvPr/>
        </p:nvSpPr>
        <p:spPr>
          <a:xfrm>
            <a:off x="795528" y="3511296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197864" y="3502152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组织架构与人员情况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85800" y="3877056"/>
            <a:ext cx="210312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795528" y="3931920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97864" y="3922776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管理团队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85800" y="4297680"/>
            <a:ext cx="2103120" cy="365760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21" name="Text 19"/>
          <p:cNvSpPr/>
          <p:nvPr/>
        </p:nvSpPr>
        <p:spPr>
          <a:xfrm>
            <a:off x="795528" y="4352544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197864" y="4343400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公司优势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85800" y="4718304"/>
            <a:ext cx="210312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795528" y="477316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197864" y="4764024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主要产品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85800" y="5138928"/>
            <a:ext cx="2103120" cy="365760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27" name="Text 25"/>
          <p:cNvSpPr/>
          <p:nvPr/>
        </p:nvSpPr>
        <p:spPr>
          <a:xfrm>
            <a:off x="795528" y="519379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97864" y="5184648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核心技术与研发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85800" y="5559552"/>
            <a:ext cx="210312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795528" y="5614416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197864" y="5605272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生产基地与产能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85800" y="5980176"/>
            <a:ext cx="2103120" cy="365760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33" name="Text 31"/>
          <p:cNvSpPr/>
          <p:nvPr/>
        </p:nvSpPr>
        <p:spPr>
          <a:xfrm>
            <a:off x="795528" y="6035040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197864" y="6025896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销售渠道与终端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685800" y="64008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先讲清楚我们是谁、卖什么、凭什么、现在卖得怎么样。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2871216" y="1645920"/>
            <a:ext cx="2103120" cy="841248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37" name="Text 35"/>
          <p:cNvSpPr/>
          <p:nvPr/>
        </p:nvSpPr>
        <p:spPr>
          <a:xfrm>
            <a:off x="3008376" y="17190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第二章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3008376" y="195681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行业分析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2871216" y="2615184"/>
            <a:ext cx="2103120" cy="365760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40" name="Text 38"/>
          <p:cNvSpPr/>
          <p:nvPr/>
        </p:nvSpPr>
        <p:spPr>
          <a:xfrm>
            <a:off x="2980944" y="267004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383280" y="2660904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纳豆行业概况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2871216" y="3035808"/>
            <a:ext cx="210312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41"/>
          <p:cNvSpPr/>
          <p:nvPr/>
        </p:nvSpPr>
        <p:spPr>
          <a:xfrm>
            <a:off x="2980944" y="309067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3383280" y="3081528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日本市场与中国差距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2871216" y="3456432"/>
            <a:ext cx="2103120" cy="365760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46" name="Text 44"/>
          <p:cNvSpPr/>
          <p:nvPr/>
        </p:nvSpPr>
        <p:spPr>
          <a:xfrm>
            <a:off x="2980944" y="3511296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3383280" y="3502152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中国市场规模与增速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2871216" y="3877056"/>
            <a:ext cx="210312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Text 47"/>
          <p:cNvSpPr/>
          <p:nvPr/>
        </p:nvSpPr>
        <p:spPr>
          <a:xfrm>
            <a:off x="2980944" y="3931920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3383280" y="3922776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保健食品行业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2871216" y="4297680"/>
            <a:ext cx="2103120" cy="365760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52" name="Text 50"/>
          <p:cNvSpPr/>
          <p:nvPr/>
        </p:nvSpPr>
        <p:spPr>
          <a:xfrm>
            <a:off x="2980944" y="4352544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3383280" y="4343400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行业地位与可比公司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2871216" y="64008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再讲这个行业有多大、涨得怎么样、我们排在什么位置。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5056632" y="1645920"/>
            <a:ext cx="2103120" cy="841248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56" name="Text 54"/>
          <p:cNvSpPr/>
          <p:nvPr/>
        </p:nvSpPr>
        <p:spPr>
          <a:xfrm>
            <a:off x="5193792" y="17190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第三章</a:t>
            </a:r>
            <a:endParaRPr lang="en-US" sz="1150" dirty="0"/>
          </a:p>
        </p:txBody>
      </p:sp>
      <p:sp>
        <p:nvSpPr>
          <p:cNvPr id="57" name="Text 55"/>
          <p:cNvSpPr/>
          <p:nvPr/>
        </p:nvSpPr>
        <p:spPr>
          <a:xfrm>
            <a:off x="5193792" y="195681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发展规划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5056632" y="2615184"/>
            <a:ext cx="2103120" cy="365760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59" name="Text 57"/>
          <p:cNvSpPr/>
          <p:nvPr/>
        </p:nvSpPr>
        <p:spPr>
          <a:xfrm>
            <a:off x="5166360" y="267004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568696" y="2660904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新品与产品线规划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5056632" y="3035808"/>
            <a:ext cx="210312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2" name="Text 60"/>
          <p:cNvSpPr/>
          <p:nvPr/>
        </p:nvSpPr>
        <p:spPr>
          <a:xfrm>
            <a:off x="5166360" y="309067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5568696" y="3081528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产能与基地建设规划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5056632" y="3456432"/>
            <a:ext cx="2103120" cy="365760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65" name="Text 63"/>
          <p:cNvSpPr/>
          <p:nvPr/>
        </p:nvSpPr>
        <p:spPr>
          <a:xfrm>
            <a:off x="5166360" y="3511296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5568696" y="3502152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渠道与市场拓展规划</a:t>
            </a:r>
            <a:endParaRPr lang="en-US" sz="1150" dirty="0"/>
          </a:p>
        </p:txBody>
      </p:sp>
      <p:sp>
        <p:nvSpPr>
          <p:cNvPr id="67" name="Shape 65"/>
          <p:cNvSpPr/>
          <p:nvPr/>
        </p:nvSpPr>
        <p:spPr>
          <a:xfrm>
            <a:off x="5056632" y="3877056"/>
            <a:ext cx="210312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8" name="Text 66"/>
          <p:cNvSpPr/>
          <p:nvPr/>
        </p:nvSpPr>
        <p:spPr>
          <a:xfrm>
            <a:off x="5166360" y="3931920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5568696" y="3922776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上市规划</a:t>
            </a:r>
            <a:endParaRPr lang="en-US" sz="1150" dirty="0"/>
          </a:p>
        </p:txBody>
      </p:sp>
      <p:sp>
        <p:nvSpPr>
          <p:cNvPr id="70" name="Text 68"/>
          <p:cNvSpPr/>
          <p:nvPr/>
        </p:nvSpPr>
        <p:spPr>
          <a:xfrm>
            <a:off x="5056632" y="64008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讲未来三年准备怎么干。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7242048" y="1645920"/>
            <a:ext cx="2103120" cy="841248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72" name="Text 70"/>
          <p:cNvSpPr/>
          <p:nvPr/>
        </p:nvSpPr>
        <p:spPr>
          <a:xfrm>
            <a:off x="7379208" y="17190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第四章</a:t>
            </a:r>
            <a:endParaRPr lang="en-US" sz="1150" dirty="0"/>
          </a:p>
        </p:txBody>
      </p:sp>
      <p:sp>
        <p:nvSpPr>
          <p:cNvPr id="73" name="Text 71"/>
          <p:cNvSpPr/>
          <p:nvPr/>
        </p:nvSpPr>
        <p:spPr>
          <a:xfrm>
            <a:off x="7379208" y="195681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财务状况</a:t>
            </a:r>
            <a:endParaRPr lang="en-US" sz="1600" dirty="0"/>
          </a:p>
        </p:txBody>
      </p:sp>
      <p:sp>
        <p:nvSpPr>
          <p:cNvPr id="74" name="Shape 72"/>
          <p:cNvSpPr/>
          <p:nvPr/>
        </p:nvSpPr>
        <p:spPr>
          <a:xfrm>
            <a:off x="7242048" y="2615184"/>
            <a:ext cx="2103120" cy="365760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75" name="Text 73"/>
          <p:cNvSpPr/>
          <p:nvPr/>
        </p:nvSpPr>
        <p:spPr>
          <a:xfrm>
            <a:off x="7351776" y="267004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7754112" y="2660904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近三年经营情况</a:t>
            </a:r>
            <a:endParaRPr lang="en-US" sz="1150" dirty="0"/>
          </a:p>
        </p:txBody>
      </p:sp>
      <p:sp>
        <p:nvSpPr>
          <p:cNvPr id="77" name="Shape 75"/>
          <p:cNvSpPr/>
          <p:nvPr/>
        </p:nvSpPr>
        <p:spPr>
          <a:xfrm>
            <a:off x="7242048" y="3035808"/>
            <a:ext cx="210312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8" name="Text 76"/>
          <p:cNvSpPr/>
          <p:nvPr/>
        </p:nvSpPr>
        <p:spPr>
          <a:xfrm>
            <a:off x="7351776" y="309067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7754112" y="3081528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收入构成与盈利情况</a:t>
            </a:r>
            <a:endParaRPr lang="en-US" sz="1150" dirty="0"/>
          </a:p>
        </p:txBody>
      </p:sp>
      <p:sp>
        <p:nvSpPr>
          <p:cNvPr id="80" name="Shape 78"/>
          <p:cNvSpPr/>
          <p:nvPr/>
        </p:nvSpPr>
        <p:spPr>
          <a:xfrm>
            <a:off x="7242048" y="3456432"/>
            <a:ext cx="2103120" cy="365760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81" name="Text 79"/>
          <p:cNvSpPr/>
          <p:nvPr/>
        </p:nvSpPr>
        <p:spPr>
          <a:xfrm>
            <a:off x="7351776" y="3511296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7754112" y="3502152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未来三年经营预测</a:t>
            </a:r>
            <a:endParaRPr lang="en-US" sz="1150" dirty="0"/>
          </a:p>
        </p:txBody>
      </p:sp>
      <p:sp>
        <p:nvSpPr>
          <p:cNvPr id="83" name="Text 81"/>
          <p:cNvSpPr/>
          <p:nvPr/>
        </p:nvSpPr>
        <p:spPr>
          <a:xfrm>
            <a:off x="7242048" y="64008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把账摊开：这几年赚了多少，未来能赚多少。</a:t>
            </a:r>
            <a:endParaRPr lang="en-US" sz="950" dirty="0"/>
          </a:p>
        </p:txBody>
      </p:sp>
      <p:sp>
        <p:nvSpPr>
          <p:cNvPr id="84" name="Shape 82"/>
          <p:cNvSpPr/>
          <p:nvPr/>
        </p:nvSpPr>
        <p:spPr>
          <a:xfrm>
            <a:off x="9427464" y="1645920"/>
            <a:ext cx="2103120" cy="841248"/>
          </a:xfrm>
          <a:prstGeom prst="rect">
            <a:avLst/>
          </a:prstGeom>
          <a:solidFill>
            <a:srgbClr val="123F63"/>
          </a:solidFill>
          <a:ln/>
        </p:spPr>
      </p:sp>
      <p:sp>
        <p:nvSpPr>
          <p:cNvPr id="85" name="Text 83"/>
          <p:cNvSpPr/>
          <p:nvPr/>
        </p:nvSpPr>
        <p:spPr>
          <a:xfrm>
            <a:off x="9564624" y="17190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第五章</a:t>
            </a:r>
            <a:endParaRPr lang="en-US" sz="1150" dirty="0"/>
          </a:p>
        </p:txBody>
      </p:sp>
      <p:sp>
        <p:nvSpPr>
          <p:cNvPr id="86" name="Text 84"/>
          <p:cNvSpPr/>
          <p:nvPr/>
        </p:nvSpPr>
        <p:spPr>
          <a:xfrm>
            <a:off x="9564624" y="195681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融资方案</a:t>
            </a:r>
            <a:endParaRPr lang="en-US" sz="1600" dirty="0"/>
          </a:p>
        </p:txBody>
      </p:sp>
      <p:sp>
        <p:nvSpPr>
          <p:cNvPr id="87" name="Shape 85"/>
          <p:cNvSpPr/>
          <p:nvPr/>
        </p:nvSpPr>
        <p:spPr>
          <a:xfrm>
            <a:off x="9427464" y="2615184"/>
            <a:ext cx="2103120" cy="365760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88" name="Text 86"/>
          <p:cNvSpPr/>
          <p:nvPr/>
        </p:nvSpPr>
        <p:spPr>
          <a:xfrm>
            <a:off x="9537192" y="267004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100" dirty="0"/>
          </a:p>
        </p:txBody>
      </p:sp>
      <p:sp>
        <p:nvSpPr>
          <p:cNvPr id="89" name="Text 87"/>
          <p:cNvSpPr/>
          <p:nvPr/>
        </p:nvSpPr>
        <p:spPr>
          <a:xfrm>
            <a:off x="9939528" y="2660904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本轮引战方案</a:t>
            </a:r>
            <a:endParaRPr lang="en-US" sz="1150" dirty="0"/>
          </a:p>
        </p:txBody>
      </p:sp>
      <p:sp>
        <p:nvSpPr>
          <p:cNvPr id="90" name="Shape 88"/>
          <p:cNvSpPr/>
          <p:nvPr/>
        </p:nvSpPr>
        <p:spPr>
          <a:xfrm>
            <a:off x="9427464" y="3035808"/>
            <a:ext cx="210312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1" name="Text 89"/>
          <p:cNvSpPr/>
          <p:nvPr/>
        </p:nvSpPr>
        <p:spPr>
          <a:xfrm>
            <a:off x="9537192" y="309067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100" dirty="0"/>
          </a:p>
        </p:txBody>
      </p:sp>
      <p:sp>
        <p:nvSpPr>
          <p:cNvPr id="92" name="Text 90"/>
          <p:cNvSpPr/>
          <p:nvPr/>
        </p:nvSpPr>
        <p:spPr>
          <a:xfrm>
            <a:off x="9939528" y="3081528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募集资金用途</a:t>
            </a:r>
            <a:endParaRPr lang="en-US" sz="1150" dirty="0"/>
          </a:p>
        </p:txBody>
      </p:sp>
      <p:sp>
        <p:nvSpPr>
          <p:cNvPr id="93" name="Shape 91"/>
          <p:cNvSpPr/>
          <p:nvPr/>
        </p:nvSpPr>
        <p:spPr>
          <a:xfrm>
            <a:off x="9427464" y="3456432"/>
            <a:ext cx="2103120" cy="365760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94" name="Text 92"/>
          <p:cNvSpPr/>
          <p:nvPr/>
        </p:nvSpPr>
        <p:spPr>
          <a:xfrm>
            <a:off x="9537192" y="3511296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100" dirty="0"/>
          </a:p>
        </p:txBody>
      </p:sp>
      <p:sp>
        <p:nvSpPr>
          <p:cNvPr id="95" name="Text 93"/>
          <p:cNvSpPr/>
          <p:nvPr/>
        </p:nvSpPr>
        <p:spPr>
          <a:xfrm>
            <a:off x="9939528" y="3502152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投资人权利与退出</a:t>
            </a:r>
            <a:endParaRPr lang="en-US" sz="1150" dirty="0"/>
          </a:p>
        </p:txBody>
      </p:sp>
      <p:sp>
        <p:nvSpPr>
          <p:cNvPr id="96" name="Shape 94"/>
          <p:cNvSpPr/>
          <p:nvPr/>
        </p:nvSpPr>
        <p:spPr>
          <a:xfrm>
            <a:off x="9427464" y="3877056"/>
            <a:ext cx="210312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7" name="Text 95"/>
          <p:cNvSpPr/>
          <p:nvPr/>
        </p:nvSpPr>
        <p:spPr>
          <a:xfrm>
            <a:off x="9537192" y="3931920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100" dirty="0"/>
          </a:p>
        </p:txBody>
      </p:sp>
      <p:sp>
        <p:nvSpPr>
          <p:cNvPr id="98" name="Text 96"/>
          <p:cNvSpPr/>
          <p:nvPr/>
        </p:nvSpPr>
        <p:spPr>
          <a:xfrm>
            <a:off x="9939528" y="3922776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联系方式</a:t>
            </a:r>
            <a:endParaRPr lang="en-US" sz="1150" dirty="0"/>
          </a:p>
        </p:txBody>
      </p:sp>
      <p:sp>
        <p:nvSpPr>
          <p:cNvPr id="99" name="Text 97"/>
          <p:cNvSpPr/>
          <p:nvPr/>
        </p:nvSpPr>
        <p:spPr>
          <a:xfrm>
            <a:off x="9427464" y="64008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最后讲这轮融多少、什么条件、将来怎么退。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651760"/>
            <a:ext cx="502920" cy="1463040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26060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88720" y="29718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公司介绍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1188720" y="37947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先讲清楚我们是谁、卖什么、凭什么、现在卖得怎么样。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88720" y="448056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公司概况　｜　02 企业图谱　｜　03 组织架构与人员情况　｜　04 管理团队　｜　05 公司优势　｜　06 主要产品　｜　07 核心技术与研发　｜　08 生产基地与产能　｜　09 销售渠道与终端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10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50876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公司概况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778240" y="457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第一章　公司介绍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0241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这页说清楚：谁控股、做什么、多大规模。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517904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8" name="Text 6"/>
          <p:cNvSpPr/>
          <p:nvPr/>
        </p:nvSpPr>
        <p:spPr>
          <a:xfrm>
            <a:off x="9418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10" name="Text 8"/>
          <p:cNvSpPr/>
          <p:nvPr/>
        </p:nvSpPr>
        <p:spPr>
          <a:xfrm>
            <a:off x="52852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10312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营业执照、公司章程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燕京啤酒的持股比例文件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近三年经审计的收入和净利润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员工人数、顺义基地的基本情况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74920" y="2103120"/>
            <a:ext cx="6400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左边一段简介，200 字以内：哪年成立、燕京啤酒控股、做纳豆生物发酵、主要产品、多少人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右边放 4 个数字方块：去年营收、净利润、终端数量、年产能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配一张顺义生产基地或产品全家福的照片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底部一句话定位，比如"燕京啤酒控股的纳豆生物发酵企业"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5852160"/>
            <a:ext cx="10789920" cy="749808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财务数字一律用经审计口径。混改期间对外说的数，要和评估报告、审计报告一致，不能各说各的。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10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50876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企业图谱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778240" y="457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第一章　公司介绍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0241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这页说清楚：现在谁是股东、混改后变成什么样。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517904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8" name="Text 6"/>
          <p:cNvSpPr/>
          <p:nvPr/>
        </p:nvSpPr>
        <p:spPr>
          <a:xfrm>
            <a:off x="9418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10" name="Text 8"/>
          <p:cNvSpPr/>
          <p:nvPr/>
        </p:nvSpPr>
        <p:spPr>
          <a:xfrm>
            <a:off x="52852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10312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现有股东名册和持股比例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燕京中发在燕京啤酒体系里的位置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混改方案里的引战比例、员工持股比例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74920" y="2103120"/>
            <a:ext cx="6400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并排画两张图：左边"混改前"，右边"混改后（拟）"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每张图从上往下：燕京啤酒 → 燕京中发 → 下属公司，线上标持股比例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混改后那张标出三个数：战投持股不低于 10%、员工持股不超过总股本 30%、单一员工不超过 1%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图下加一行：最终比例以国资监管部门核准为准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5852160"/>
            <a:ext cx="10789920" cy="749808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没批下来的一律写"拟"。把示意图写成已定方案，是国资项目最容易出问题的地方。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10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50876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组织架构与人员情况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778240" y="457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第一章　公司介绍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0241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这页说清楚：公司怎么运转、多少人在干什么。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517904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8" name="Text 6"/>
          <p:cNvSpPr/>
          <p:nvPr/>
        </p:nvSpPr>
        <p:spPr>
          <a:xfrm>
            <a:off x="9418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10" name="Text 8"/>
          <p:cNvSpPr/>
          <p:nvPr/>
        </p:nvSpPr>
        <p:spPr>
          <a:xfrm>
            <a:off x="52852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10312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公司组织架构图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各部门人数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研发人员名单、人数和占比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74920" y="2103120"/>
            <a:ext cx="6400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画组织架构图：总经理下面分几个部门（研发、生产、质量、销售、财务等）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每个部门标人数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单独标出研发人员多少人、占员工总数百分之多少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5852160"/>
            <a:ext cx="10789920" cy="749808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研发人员数量和占比将来 IPO 要核查，这里写的数要和研发台账、工时记录对得上。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10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50876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管理团队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778240" y="457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第一章　公司介绍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0241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这页说清楚：公司是哪几个人在管。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517904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8" name="Text 6"/>
          <p:cNvSpPr/>
          <p:nvPr/>
        </p:nvSpPr>
        <p:spPr>
          <a:xfrm>
            <a:off x="9418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10" name="Text 8"/>
          <p:cNvSpPr/>
          <p:nvPr/>
        </p:nvSpPr>
        <p:spPr>
          <a:xfrm>
            <a:off x="52852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10312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核心高管 4—6 人的简历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每人的学历、以前在哪家单位、什么职位、干了几年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74920" y="2103120"/>
            <a:ext cx="6400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一页放 4—6 个人，每人一小块：照片、姓名、职务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每人写 2—3 条：学历、以前在燕京体系或同行业做什么、在这行干了多少年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有食品发酵、保健品注册、快消渠道背景的重点写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5852160"/>
            <a:ext cx="10789920" cy="749808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只写履历事实，不写"经验丰富""开拓创新"这类评价。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10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50876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公司优势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778240" y="457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第一章　公司介绍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0241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这页说清楚：凭什么别人做不过我们。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517904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8" name="Text 6"/>
          <p:cNvSpPr/>
          <p:nvPr/>
        </p:nvSpPr>
        <p:spPr>
          <a:xfrm>
            <a:off x="9418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10" name="Text 8"/>
          <p:cNvSpPr/>
          <p:nvPr/>
        </p:nvSpPr>
        <p:spPr>
          <a:xfrm>
            <a:off x="52852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10312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蓝帽子（保健食品注册）批文清单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菌种专利、发明专利证书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GMP 车间和生产许可资质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燕京商标的使用授权文件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74920" y="2103120"/>
            <a:ext cx="6400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分四块，每块一句话加一个证据：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品牌背书——燕京啤酒控股、国企信用；菌种与配方——专利多少项、菌种什么来源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生产资质——蓝帽子几个、GMP 产线几条；渠道——终端多少家、下沉到什么层级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每块下面放证书缩略图或一个关键数字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5852160"/>
            <a:ext cx="10789920" cy="749808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燕京品牌是背书，但商标怎么授权、授权到哪年，要写清楚——这是将来 IPO 独立性问询的必问点。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10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50876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主要产品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778240" y="457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第一章　公司介绍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0241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这页说清楚：到底卖什么、各卖多少。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517904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8" name="Text 6"/>
          <p:cNvSpPr/>
          <p:nvPr/>
        </p:nvSpPr>
        <p:spPr>
          <a:xfrm>
            <a:off x="9418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10" name="Text 8"/>
          <p:cNvSpPr/>
          <p:nvPr/>
        </p:nvSpPr>
        <p:spPr>
          <a:xfrm>
            <a:off x="52852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10312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产品目录、规格、终端价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去年各产品线的销售额和占比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每个单品对应的批文或备案情况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74920" y="2103120"/>
            <a:ext cx="6400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按三条线分组：鲜纳豆、纳豆胶囊、多肽及其他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每组挑 2—4 个主要单品，配产品图，图下写：规格、终端价、去年销量或销售额、有没有蓝帽子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右侧放一个饼图：各产品线收入占比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5852160"/>
            <a:ext cx="10789920" cy="749808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一页最多 8 个单品。在售的和在研的分开标，别混在一起。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10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50876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核心技术与研发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778240" y="457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第一章　公司介绍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0241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这页说清楚：技术在哪、有什么证据。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517904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8" name="Text 6"/>
          <p:cNvSpPr/>
          <p:nvPr/>
        </p:nvSpPr>
        <p:spPr>
          <a:xfrm>
            <a:off x="9418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10" name="Text 8"/>
          <p:cNvSpPr/>
          <p:nvPr/>
        </p:nvSpPr>
        <p:spPr>
          <a:xfrm>
            <a:off x="52852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10312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功效试验数据、第三方检测报告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公开发表的研究文献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专利清单、菌种来源证明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74920" y="2103120"/>
            <a:ext cx="6400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左边三栏写三大功效：溶栓、肠道免疫、降压护血管，每栏写清是哪个成分起作用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每条功效后面挂证据：哪个机构做的研究、什么结论、什么时候发表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右边列核心专利：名称、专利号、授权时间；菌种来源单独写一行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5852160"/>
            <a:ext cx="10789920" cy="749808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功效表述受《广告法》和保健食品标签规范约束，只能写批文核准的功能，不能自己扩大。文献结论要注明出处，不要写成公司自己的结论。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10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50876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生产基地与产能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778240" y="457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第一章　公司介绍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0241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这页说清楚：在哪造、能造多少。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517904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8" name="Text 6"/>
          <p:cNvSpPr/>
          <p:nvPr/>
        </p:nvSpPr>
        <p:spPr>
          <a:xfrm>
            <a:off x="9418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10" name="Text 8"/>
          <p:cNvSpPr/>
          <p:nvPr/>
        </p:nvSpPr>
        <p:spPr>
          <a:xfrm>
            <a:off x="52852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10312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厂房产权证或租赁合同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生产许可证、GMP 相关文件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产能与实际产量台账、良品率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主要设备清单、扩产方案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74920" y="2103120"/>
            <a:ext cx="6400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左边：基地位置、占地面积、车间等级、主要设备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中间：设计产能、去年实际产量、产能利用率、良品率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右边：扩产计划（含邢台资产整合），新增多少产能、投多少钱、什么时候投产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配 2—3 张车间实拍照片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5852160"/>
            <a:ext cx="10789920" cy="749808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向燕京啤酒租的土地厂房要单独说明——这是关联交易，IPO 前要清理或论证。写 BP 时就把整改安排一并写上，别回避。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10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50876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销售渠道与终端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778240" y="457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第一章　公司介绍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0241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这页说清楚：货怎么卖出去、铺到了多少家。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517904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8" name="Text 6"/>
          <p:cNvSpPr/>
          <p:nvPr/>
        </p:nvSpPr>
        <p:spPr>
          <a:xfrm>
            <a:off x="9418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10" name="Text 8"/>
          <p:cNvSpPr/>
          <p:nvPr/>
        </p:nvSpPr>
        <p:spPr>
          <a:xfrm>
            <a:off x="52852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10312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经销商名单和数量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终端网点数、覆盖区域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各渠道收入占比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线上平台的店铺和销量数据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74920" y="2103120"/>
            <a:ext cx="6400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左边画渠道结构饼图：经销、直销、电商各占多少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中间写：经销商多少家、覆盖多少个省、下沉到什么层级；终端网点多少家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右边写线上：在哪些平台、去年销量多少、增速多少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可以配一张中国地图，标出覆盖区域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5852160"/>
            <a:ext cx="10789920" cy="749808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经销商和终端数量将来会被穿透核查——写多少就要拿得出台账。返利政策、经销商进销存也要能对上，现在就按可核查的口径写。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651760"/>
            <a:ext cx="502920" cy="1463040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26060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第二章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88720" y="29718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行业分析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1188720" y="37947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再讲这个行业有多大、涨得怎么样、我们排在什么位置。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88720" y="448056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纳豆行业概况　｜　11 日本市场与中国差距　｜　12 中国市场规模与增速　｜　13 保健食品行业　｜　14 行业地位与可比公司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10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50876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纳豆行业概况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778240" y="457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第二章　行业分析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0241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这页说清楚：这是个什么行业、东西有什么用。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517904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8" name="Text 6"/>
          <p:cNvSpPr/>
          <p:nvPr/>
        </p:nvSpPr>
        <p:spPr>
          <a:xfrm>
            <a:off x="9418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10" name="Text 8"/>
          <p:cNvSpPr/>
          <p:nvPr/>
        </p:nvSpPr>
        <p:spPr>
          <a:xfrm>
            <a:off x="52852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10312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功效研究资料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目标人群规模数据（心血管、高血压等患者数）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数据的出处和发布年份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74920" y="2103120"/>
            <a:ext cx="6400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上半页三栏写三大功效：每栏写清什么成分、起什么作用、有哪条研究支持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下半页写对应人群有多少：心血管病患者多少、高血压患者多少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每个数字下面标出处和年份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5852160"/>
            <a:ext cx="10789920" cy="749808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人群规模是"潜在人群"，不是你的客户。别直接拿人数乘单价当成自己的市场。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10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50876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日本市场与中国差距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778240" y="457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第二章　行业分析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0241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这页说清楚：这个品类在成熟市场能做多大。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517904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8" name="Text 6"/>
          <p:cNvSpPr/>
          <p:nvPr/>
        </p:nvSpPr>
        <p:spPr>
          <a:xfrm>
            <a:off x="9418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10" name="Text 8"/>
          <p:cNvSpPr/>
          <p:nvPr/>
        </p:nvSpPr>
        <p:spPr>
          <a:xfrm>
            <a:off x="52852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10312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日本市场规模、人均消费、代表企业数据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中国渗透率、消费者认知度数据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74920" y="2103120"/>
            <a:ext cx="6400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左边日本：市场规模、人均一年吃多少、代表企业营收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右边中国：渗透率多少、了解纳豆功效的消费者比例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中间用一个数字点题，比如中国渗透率大约是日本的几分之一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每个数字标来源和年份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5852160"/>
            <a:ext cx="10789920" cy="749808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两国数据口径常常不同（含不含保健食品、按零售额还是出厂额），要在图下写清楚，不能混着比。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10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50876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中国市场规模与增速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778240" y="457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第二章　行业分析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0241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这页说清楚：国内市场有多大、涨得快不快。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517904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8" name="Text 6"/>
          <p:cNvSpPr/>
          <p:nvPr/>
        </p:nvSpPr>
        <p:spPr>
          <a:xfrm>
            <a:off x="9418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10" name="Text 8"/>
          <p:cNvSpPr/>
          <p:nvPr/>
        </p:nvSpPr>
        <p:spPr>
          <a:xfrm>
            <a:off x="52852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10312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行业报告、协会数据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电商平台的品类数据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公司自己的销售额（用来算份额）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74920" y="2103120"/>
            <a:ext cx="6400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柱状图：近几年中国纳豆市场规模，柱子上标同比增速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旁边写预测：哪一年到多少、复合增速多少，注明预测来自哪家机构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下面一行写公司自己占多少份额，把算法写出来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5852160"/>
            <a:ext cx="10789920" cy="749808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图下必须写"数据来源：某机构某报告，某年发布"。自己测算的份额要能让人复算一遍。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10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50876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保健食品行业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778240" y="457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第二章　行业分析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0241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这页说清楚：纳豆背后的保健食品行业有多大。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517904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8" name="Text 6"/>
          <p:cNvSpPr/>
          <p:nvPr/>
        </p:nvSpPr>
        <p:spPr>
          <a:xfrm>
            <a:off x="9418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10" name="Text 8"/>
          <p:cNvSpPr/>
          <p:nvPr/>
        </p:nvSpPr>
        <p:spPr>
          <a:xfrm>
            <a:off x="52852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10312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保健品（膳食营养补充剂）市场规模和预测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人均消费的国际对比数据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74920" y="2103120"/>
            <a:ext cx="6400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左边：中国保健品市场规模和未来预测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右边：人均消费柱状图，中国和日、韩、美对比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下面两条趋势各一句话：需求从基础营养转向特定功效；兴趣电商成为新的增长渠道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5852160"/>
            <a:ext cx="10789920" cy="749808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这页是背景，控制在一页，别喧宾夺主。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10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50876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行业地位与可比公司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778240" y="457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第二章　行业分析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0241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这页说清楚：我们在行业里排第几、同类公司值多少钱。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517904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8" name="Text 6"/>
          <p:cNvSpPr/>
          <p:nvPr/>
        </p:nvSpPr>
        <p:spPr>
          <a:xfrm>
            <a:off x="9418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10" name="Text 8"/>
          <p:cNvSpPr/>
          <p:nvPr/>
        </p:nvSpPr>
        <p:spPr>
          <a:xfrm>
            <a:off x="52852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10312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主要竞品名单和公开资料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可比上市公司的营收、利润、市值、市盈率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取数日期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74920" y="2103120"/>
            <a:ext cx="6400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上半页竞品对比表：公司名、主要产品、渠道、大致规模、有没有蓝帽子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下半页可比上市公司表：证券代码、主营、去年营收、净利润、总市值、市盈率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最后一行放燕京中发的同口径数据，用另一个颜色标出来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可比公司挑做法接近的健康食品上市公司，别只按行业分类硬凑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5852160"/>
            <a:ext cx="10789920" cy="749808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这张表投资人会直接拿来给你算价格。选谁进表、用哪一天的市值，先想清楚，并在表下注明日期。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651760"/>
            <a:ext cx="502920" cy="1463040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26060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第三章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88720" y="29718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发展规划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1188720" y="37947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讲未来三年准备怎么干。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88720" y="448056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 新品与产品线规划　｜　16 产能与基地建设规划　｜　17 渠道与市场拓展规划　｜　18 上市规划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10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50876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新品与产品线规划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778240" y="457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第三章　发展规划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0241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这页说清楚：未来三年还要上什么产品。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517904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8" name="Text 6"/>
          <p:cNvSpPr/>
          <p:nvPr/>
        </p:nvSpPr>
        <p:spPr>
          <a:xfrm>
            <a:off x="9418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10" name="Text 8"/>
          <p:cNvSpPr/>
          <p:nvPr/>
        </p:nvSpPr>
        <p:spPr>
          <a:xfrm>
            <a:off x="52852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10312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在研产品清单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批文申报进度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新品上市计划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74920" y="2103120"/>
            <a:ext cx="6400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上半页画一条产品线延伸图：现在卖什么 → 明年上什么 → 后年上什么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下半页列在研产品表：产品名、现在到哪一步（配方研发 / 中试 / 批文申报 / 待上市）、预计上市时间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5852160"/>
            <a:ext cx="10789920" cy="749808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批文申报时间要按主管部门实际审批周期估。写一个自己解释不了的时间点，比不写更糟。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10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50876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产能与基地建设规划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778240" y="457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第三章　发展规划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0241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这页说清楚：产能怎么扩、什么时候投产。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517904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8" name="Text 6"/>
          <p:cNvSpPr/>
          <p:nvPr/>
        </p:nvSpPr>
        <p:spPr>
          <a:xfrm>
            <a:off x="9418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10" name="Text 8"/>
          <p:cNvSpPr/>
          <p:nvPr/>
        </p:nvSpPr>
        <p:spPr>
          <a:xfrm>
            <a:off x="52852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10312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扩产方案和投资预算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邢台资产整合方案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建设进度表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74920" y="2103120"/>
            <a:ext cx="6400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左边现有产能，右边规划产能，中间标新增多少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分项列：新建或改造车间、设备投入、预计投资额、建设周期、什么时候达产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邢台资产整合单独一栏，说明整合方式和时间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5852160"/>
            <a:ext cx="10789920" cy="749808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这里的投资额，要和第五章的资金用途、第四章的财务预测三处完全一致。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10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50876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渠道与市场拓展规划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778240" y="457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第三章　发展规划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0241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这页说清楚：未来怎么把销量做上去。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517904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8" name="Text 6"/>
          <p:cNvSpPr/>
          <p:nvPr/>
        </p:nvSpPr>
        <p:spPr>
          <a:xfrm>
            <a:off x="9418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10" name="Text 8"/>
          <p:cNvSpPr/>
          <p:nvPr/>
        </p:nvSpPr>
        <p:spPr>
          <a:xfrm>
            <a:off x="52852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10312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渠道拓展计划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线上投放计划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新市场开拓计划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74920" y="2103120"/>
            <a:ext cx="6400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分三块写：经销网络（新增多少家、进哪些区域）、终端（从多少家到多少家）、线上（哪些平台、目标增速）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每块给出目标数字和时间点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5852160"/>
            <a:ext cx="10789920" cy="749808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目标要能验收。"加大市场投入""持续拓展渠道"这种话别写。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10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50876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上市规划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778240" y="457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第三章　发展规划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0241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这页说清楚：公司的上市安排到哪一步了。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517904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8" name="Text 6"/>
          <p:cNvSpPr/>
          <p:nvPr/>
        </p:nvSpPr>
        <p:spPr>
          <a:xfrm>
            <a:off x="9418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10" name="Text 8"/>
          <p:cNvSpPr/>
          <p:nvPr/>
        </p:nvSpPr>
        <p:spPr>
          <a:xfrm>
            <a:off x="52852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10312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已确定的上市时间表节点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北交所上市条件的对应情况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74920" y="2103120"/>
            <a:ext cx="6400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画一条时间轴：混改引战 → 股份制改造 → 新三板挂牌 → 辅导备案 → 提交 IPO 申请 → 上市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每个节点标计划时间（年月）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下面一句话说明：对应北交所哪一套上市标准、公司预计怎么满足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5852160"/>
            <a:ext cx="10789920" cy="749808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只写计划和条件的对应关系。不承诺一定能上、不承诺时间、不承诺回报，并在页脚注明进度受监管节奏影响。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E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651760"/>
            <a:ext cx="502920" cy="1463040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26060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第四章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88720" y="29718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财务状况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1188720" y="37947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把账摊开：这几年赚了多少，未来能赚多少。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88720" y="448056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 近三年经营情况　｜　20 收入构成与盈利情况　｜　21 未来三年经营预测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10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50876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近三年经营情况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778240" y="457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第四章　财务状况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0241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这页说清楚：这几年营业额和利润是多少。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517904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8" name="Text 6"/>
          <p:cNvSpPr/>
          <p:nvPr/>
        </p:nvSpPr>
        <p:spPr>
          <a:xfrm>
            <a:off x="9418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10" name="Text 8"/>
          <p:cNvSpPr/>
          <p:nvPr/>
        </p:nvSpPr>
        <p:spPr>
          <a:xfrm>
            <a:off x="52852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10312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近三年及最近一期审计报告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收入成本明细表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经营活动现金流数据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74920" y="2103120"/>
            <a:ext cx="6400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柱状图：营业收入和净利润放一起，数字直接标在柱子上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图旁写清楚：数据经没经过审计、哪家事务所审的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下面一行写毛利率、净利率、经营性现金流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5852160"/>
            <a:ext cx="10789920" cy="749808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经审计和未审计要分别标清楚。混改期间这几个数会被反复引用，先内部统一口径。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10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50876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收入构成与盈利情况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778240" y="457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第四章　财务状况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0241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这页说清楚：钱主要从哪个产品、哪个渠道来。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517904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8" name="Text 6"/>
          <p:cNvSpPr/>
          <p:nvPr/>
        </p:nvSpPr>
        <p:spPr>
          <a:xfrm>
            <a:off x="9418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10" name="Text 8"/>
          <p:cNvSpPr/>
          <p:nvPr/>
        </p:nvSpPr>
        <p:spPr>
          <a:xfrm>
            <a:off x="52852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10312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分产品、分渠道、分区域的收入台账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成本构成明细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销售费用明细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74920" y="2103120"/>
            <a:ext cx="6400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三张小饼图：按产品分、按渠道分、按区域分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一张成本结构表：原料、人工、制造费用各占多少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主要单品的毛利率对比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销售费用单列：推广费、渠道费、人员费用各多少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5852160"/>
            <a:ext cx="10789920" cy="749808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销售费用里的推广费、咨询费要能说清商业实质——这是 IPO 重点核查项，现在就按规范口径列，别等到问询时再改。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10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50876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未来三年经营预测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778240" y="457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第四章　财务状况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0241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这页说清楚：未来三年做到多少、凭什么。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517904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8" name="Text 6"/>
          <p:cNvSpPr/>
          <p:nvPr/>
        </p:nvSpPr>
        <p:spPr>
          <a:xfrm>
            <a:off x="9418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10" name="Text 8"/>
          <p:cNvSpPr/>
          <p:nvPr/>
        </p:nvSpPr>
        <p:spPr>
          <a:xfrm>
            <a:off x="52852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10312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预测模型和核心假设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经销商回款和在手订单情况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新增产能的投产时间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74920" y="2103120"/>
            <a:ext cx="6400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柱状图：历史和预测放在一起，用不同颜色区分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下面列核心假设：产能多少、单价多少、经销商多少家、终端多少家、各产品线增速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每条假设后面写清依据：靠新产能、靠新品上市，还是靠渠道下沉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5852160"/>
            <a:ext cx="10789920" cy="749808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预测增速明显高于历史的，在同一页解释清楚。每条假设都要能追到已经发生的事实。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E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651760"/>
            <a:ext cx="502920" cy="1463040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26060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第五章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88720" y="29718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融资方案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1188720" y="37947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最后讲这轮融多少、什么条件、将来怎么退。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88720" y="448056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 本轮引战方案　｜　23 募集资金用途　｜　24 投资人权利与退出　｜　25 联系方式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10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50876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本轮引战方案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778240" y="457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第五章　融资方案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0241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这页说清楚：引进多少钱、出让多少股份、怎么进来。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517904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8" name="Text 6"/>
          <p:cNvSpPr/>
          <p:nvPr/>
        </p:nvSpPr>
        <p:spPr>
          <a:xfrm>
            <a:off x="9418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10" name="Text 8"/>
          <p:cNvSpPr/>
          <p:nvPr/>
        </p:nvSpPr>
        <p:spPr>
          <a:xfrm>
            <a:off x="52852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10312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混改方案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清产核资专项审计报告和评估报告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拟引战比例、员工持股方案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74920" y="2103120"/>
            <a:ext cx="6400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三行写清：拟引入资金规模、拟出让比例、定价依据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定价一律写"以经核准或备案的评估结果为准"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写明交易方式：通过北京产权交易所公开挂牌，公告 40 个工作日，遴选投资方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写明战投持股不低于 10%、可推荐董事；员工持股同步实施、与战投同股同价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5852160"/>
            <a:ext cx="10789920" cy="749808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国资混改的价格不能自己定。BP 里不要出现具体估值承诺，一律写"拟"。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10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50876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募集资金用途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778240" y="457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第五章　融资方案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0241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这页说清楚：钱进来干什么。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517904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8" name="Text 6"/>
          <p:cNvSpPr/>
          <p:nvPr/>
        </p:nvSpPr>
        <p:spPr>
          <a:xfrm>
            <a:off x="9418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10" name="Text 8"/>
          <p:cNvSpPr/>
          <p:nvPr/>
        </p:nvSpPr>
        <p:spPr>
          <a:xfrm>
            <a:off x="52852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10312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各用途的预算明细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产能建设、研发、渠道投入的分项方案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74920" y="2103120"/>
            <a:ext cx="6400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饼图分项：产能建设、新品研发与批文申报、渠道与品牌投入、补充流动资金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每项标金额和比例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每项配一句话：具体干什么、什么时候用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5852160"/>
            <a:ext cx="10789920" cy="749808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用途要和第三章的规划、第四章的预测对得上，三处数字不一样一定会被问。</a:t>
            </a:r>
            <a:endParaRPr lang="en-US" sz="12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10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50876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投资人权利与退出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778240" y="457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第五章　融资方案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0241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这页说清楚：投资人进来有什么、将来怎么退。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517904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8" name="Text 6"/>
          <p:cNvSpPr/>
          <p:nvPr/>
        </p:nvSpPr>
        <p:spPr>
          <a:xfrm>
            <a:off x="9418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10" name="Text 8"/>
          <p:cNvSpPr/>
          <p:nvPr/>
        </p:nvSpPr>
        <p:spPr>
          <a:xfrm>
            <a:off x="52852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10312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混改方案里关于董事席位、知情权的条款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锁定期安排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上市时间表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74920" y="2103120"/>
            <a:ext cx="6400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左边写战投的权利：董事席位、参与治理的方式、知情权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右边写退出路径：以北交所上市后二级市场退出为主，标出各阶段时间节点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下面一行写锁定期安排，员工持股的锁定要求单独说明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5852160"/>
            <a:ext cx="10789920" cy="749808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所有条款以最终经国资审核的方案和产权交易所挂牌公告为准，BP 里全部写"拟"。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10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50876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联系方式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778240" y="457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第五章　融资方案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0241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这页说清楚：找谁谈。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517904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8" name="Text 6"/>
          <p:cNvSpPr/>
          <p:nvPr/>
        </p:nvSpPr>
        <p:spPr>
          <a:xfrm>
            <a:off x="9418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先准备这些材料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1700784"/>
            <a:ext cx="128016" cy="256032"/>
          </a:xfrm>
          <a:prstGeom prst="rect">
            <a:avLst/>
          </a:prstGeom>
          <a:solidFill>
            <a:srgbClr val="2E6C97"/>
          </a:solidFill>
          <a:ln/>
        </p:spPr>
      </p:sp>
      <p:sp>
        <p:nvSpPr>
          <p:cNvPr id="10" name="Text 8"/>
          <p:cNvSpPr/>
          <p:nvPr/>
        </p:nvSpPr>
        <p:spPr>
          <a:xfrm>
            <a:off x="5285232" y="1664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这一页这样写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10312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指定的对外对接人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74920" y="2103120"/>
            <a:ext cx="6400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公司名称、地址、联系人、职务、电话、邮箱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加一句："本材料仅供评估本次混合所有制改革引入战略投资者使用"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5852160"/>
            <a:ext cx="10789920" cy="749808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　</a:t>
            </a:r>
            <a:pPr indent="0" marL="0">
              <a:buNone/>
            </a:pPr>
            <a:r>
              <a:rPr lang="en-US" sz="12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公开挂牌期间对外口径要统一，指定唯一对接人，别多头对外。</a:t>
            </a:r>
            <a:endParaRPr lang="en-US" sz="12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中发这份 BP，特别注意这六件事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85800" y="98755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这几条是这个项目独有的，普通融资 BP 上没有。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691640"/>
            <a:ext cx="10789920" cy="694944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8745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国资定价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606040" y="178308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价格由评估和国资审核决定，BP 里一律写"拟"，不出现估值承诺，不承诺回报。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468880"/>
            <a:ext cx="10789920" cy="6949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6517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同业竞争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606040" y="256032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邢台公司与公司主业重合，构成同业竞争。BP 里不回避，在发展规划里写整合安排。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246120"/>
            <a:ext cx="10789920" cy="694944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429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关联交易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606040" y="333756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向燕京啤酒租土地厂房属关联交易。在生产基地那页说明现状和清理安排。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023360"/>
            <a:ext cx="10789920" cy="6949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42062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数据可核查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606040" y="411480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BP 里写的经销商数、终端数、产能、研发人员，IPO 时都会被穿透核查，写多少要能证明多少。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85800" y="4800600"/>
            <a:ext cx="10789920" cy="694944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4983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功效合规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2606040" y="489204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产品功效只能写批文核准的内容，引用研究要注明出处，不能写成公司结论。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85800" y="5577840"/>
            <a:ext cx="10789920" cy="6949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57607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品牌授权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606040" y="566928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燕京商标怎么授权、授权到哪年要写清楚，这关系到独立性。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动手之前，先把料收齐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85800" y="98755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料不齐就开始做页面，只能写形容词。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5727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类别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651760" y="15727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要收的材料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92640" y="15727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找谁要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85800" y="1965960"/>
            <a:ext cx="10789920" cy="512064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020824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公司与股权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651760" y="2020824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营业执照、公司章程、股东名册、混改方案、组织架构图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9692640" y="2020824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董事会办公室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85800" y="2532888"/>
            <a:ext cx="10789920" cy="5120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58775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资质文件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651760" y="2587752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蓝帽子批文、生产许可证、GMP 文件、高新技术企业证书、商标授权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9692640" y="258775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质量部 / 董办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85800" y="3099816"/>
            <a:ext cx="10789920" cy="512064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315468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技术材料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651760" y="3154680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专利证书、菌种来源证明、检测报告、研究文献、在研产品清单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692640" y="315468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研发部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85800" y="3666744"/>
            <a:ext cx="10789920" cy="5120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372160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生产材料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651760" y="3721608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产能与产量台账、良品率、设备清单、扩产方案、厂房权属或租赁合同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9692640" y="372160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生产部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85800" y="4233672"/>
            <a:ext cx="10789920" cy="512064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25" name="Text 23"/>
          <p:cNvSpPr/>
          <p:nvPr/>
        </p:nvSpPr>
        <p:spPr>
          <a:xfrm>
            <a:off x="868680" y="428853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销售材料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2651760" y="4288536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经销商名单、终端网点数、各渠道收入、线上平台数据、返利政策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9692640" y="428853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市场销售部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85800" y="4800600"/>
            <a:ext cx="10789920" cy="5120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868680" y="4855464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财务材料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651760" y="4855464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近三年及最近一期审计报告、收入成本明细、销售费用明细、预测模型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9692640" y="4855464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财务部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85800" y="5367528"/>
            <a:ext cx="10789920" cy="512064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33" name="Text 31"/>
          <p:cNvSpPr/>
          <p:nvPr/>
        </p:nvSpPr>
        <p:spPr>
          <a:xfrm>
            <a:off x="868680" y="54223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行业材料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2651760" y="5422392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行业报告、协会数据、可比上市公司公开资料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692640" y="542239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BP 牵头人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85800" y="61722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六步做完：收料 → 用文字写全 → 做图做表 → 标题改成结论 → 四处对数 → 内部过合规口径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交之前对一遍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43000"/>
            <a:ext cx="1078992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645920"/>
            <a:ext cx="219456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9848" y="160020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全篇没有出现具体估值承诺，价格都写了"以评估核准结果为准"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2304288"/>
            <a:ext cx="219456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69848" y="225856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混改后的股权结构标了"拟"，注明以国资核准为准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85800" y="2962656"/>
            <a:ext cx="219456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291693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经营数据用的是经审计口径，未审计的标注了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3621024"/>
            <a:ext cx="219456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69848" y="357530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经销商数、终端数、产能、研发人员数都能拿出台账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85800" y="4279392"/>
            <a:ext cx="219456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9848" y="423367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产品功效只写了批文核准的内容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85800" y="4937760"/>
            <a:ext cx="219456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69848" y="489204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引用的行业数据都标了机构、报告名和年份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85800" y="5596128"/>
            <a:ext cx="219456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69848" y="555040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市场份额的算法写出来了，能复算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400800" y="1645920"/>
            <a:ext cx="219456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84848" y="160020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关联租赁、同业竞争在对应页面主动说明了整改安排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400800" y="2304288"/>
            <a:ext cx="219456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84848" y="225856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扩产投资、资金用途、财务预测三处数字一致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400800" y="2962656"/>
            <a:ext cx="219456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84848" y="291693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预测的每条假设都能追到已发生的事实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400800" y="3621024"/>
            <a:ext cx="219456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84848" y="357530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燕京商标的授权情况写清楚了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400800" y="4279392"/>
            <a:ext cx="219456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84848" y="423367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没有承诺上市时间和投资回报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6400800" y="4937760"/>
            <a:ext cx="219456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84848" y="489204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每页标题是一句结论，不是一个名词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6400800" y="5596128"/>
            <a:ext cx="219456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84848" y="555040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33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文件名带公司简称、版本和日期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2026-08-22T14:13:38Z</dcterms:created>
  <dcterms:modified xsi:type="dcterms:W3CDTF">2026-08-22T14:13:38Z</dcterms:modified>
</cp:coreProperties>
</file>