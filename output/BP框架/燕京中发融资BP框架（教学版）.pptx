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财务数字一律用经审计口径。混改期间对外说的数，要和评估报告、审计报告一致，不能各说各的。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没批下来的一律写"拟"。把示意图写成已定方案，是国资项目最容易出问题的地方。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研发人员数量和占比将来 IPO 要核查，这里写的数要和研发台账、工时记录对得上。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只写履历事实，不写"经验丰富""开拓创新"这类评价。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燕京品牌是背书，但商标怎么授权、授权到哪年，要写清楚——这是将来 IPO 独立性问询的必问点。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一页最多 8 个单品。在售的和在研的分开标，别混在一起。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功效表述受《广告法》和保健食品标签规范约束，只能写批文核准的功能，不能自己扩大。文献结论要注明出处，不要写成公司自己的结论。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向燕京啤酒租的土地厂房要单独说明——这是关联交易，IPO 前要清理或论证。写 BP 时就把整改安排一并写上，别回避。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经销商和终端数量将来会被穿透核查——写多少就要拿得出台账。返利政策、经销商进销存也要能对上，现在就按可核查的口径写。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人群规模是"潜在人群"，不是你的客户。别直接拿人数乘单价当成自己的市场。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两国数据口径常常不同（含不含保健食品、按零售额还是出厂额），要在图下写清楚，不能混着比。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图下必须写"数据来源：某机构某报告，某年发布"。自己测算的份额要能让人复算一遍。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这页是背景，控制在一页，别喧宾夺主。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这张表投资人会直接拿来给你算价格。选谁进表、用哪一天的市值，先想清楚，并在表下注明日期。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批文申报时间要按主管部门实际审批周期估。写一个自己解释不了的时间点，比不写更糟。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这里的投资额，要和第五章的资金用途、第四章的财务预测三处完全一致。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目标要能验收。"加大市场投入""持续拓展渠道"这种话别写。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只写计划和条件的对应关系。不承诺一定能上、不承诺时间、不承诺回报，并在页脚注明进度受监管节奏影响。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经审计和未审计要分别标清楚。混改期间这几个数会被反复引用，先内部统一口径。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销售费用里的推广费、咨询费要能说清商业实质——这是 IPO 重点核查项，现在就按规范口径列，别等到问询时再改。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预测增速明显高于历史的，在同一页解释清楚。每条假设都要能追到已经发生的事实。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国资混改的价格不能自己定。BP 里不要出现具体估值承诺，一律写"拟"。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用途要和第三章的规划、第四章的预测对得上，三处数字不一样一定会被问。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所有条款以最终经国资审核的方案和产权交易所挂牌公告为准，BP 里全部写"拟"。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公开挂牌期间对外口径要统一，指定唯一对接人，别多头对外。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69080" cy="6858000"/>
          </a:xfrm>
          <a:prstGeom prst="rect">
            <a:avLst/>
          </a:prstGeom>
          <a:solidFill>
            <a:srgbClr val="0E3454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0"/>
            <a:ext cx="822960" cy="6858000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4" name="Shape 2"/>
          <p:cNvSpPr/>
          <p:nvPr/>
        </p:nvSpPr>
        <p:spPr>
          <a:xfrm>
            <a:off x="9829800" y="0"/>
            <a:ext cx="310896" cy="6858000"/>
          </a:xfrm>
          <a:prstGeom prst="rect">
            <a:avLst/>
          </a:prstGeom>
          <a:solidFill>
            <a:srgbClr val="5B93B8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0"/>
            <a:ext cx="128016" cy="6858000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D6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混合所有制改革引入战略投资者 · 材料编写指引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767328"/>
            <a:ext cx="1371600" cy="54864"/>
          </a:xfrm>
          <a:prstGeom prst="rect">
            <a:avLst/>
          </a:prstGeom>
          <a:solidFill>
            <a:srgbClr val="5B93B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1148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E4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全篇 25 页，分五章：公司介绍 · 行业分析 · 发展规划 · 财务状况 · 融资方案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E4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每一页告诉你：先准备哪些材料、这一页怎么写、要注意什么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5623560"/>
            <a:ext cx="6949440" cy="0"/>
          </a:xfrm>
          <a:prstGeom prst="line">
            <a:avLst/>
          </a:prstGeom>
          <a:noFill/>
          <a:ln w="12700">
            <a:solidFill>
              <a:srgbClr val="2A54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7607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6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国泰海通证券投资银行部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146304" cy="45720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42062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全篇大纲概览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96696" y="9692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先看公司，再看行业，然后看规划，最后看财务和融资。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426464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37360"/>
            <a:ext cx="2046976" cy="8778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" y="1819656"/>
            <a:ext cx="171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6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2075688"/>
            <a:ext cx="171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公司介绍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2743200"/>
            <a:ext cx="2046976" cy="402336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743200"/>
            <a:ext cx="45720" cy="40233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28163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52728" y="27980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公司概况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200400"/>
            <a:ext cx="204697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3200400"/>
            <a:ext cx="45720" cy="402336"/>
          </a:xfrm>
          <a:prstGeom prst="rect">
            <a:avLst/>
          </a:prstGeom>
          <a:solidFill>
            <a:srgbClr val="DCE5EC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" y="32735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52728" y="32552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企业图谱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3657600"/>
            <a:ext cx="2046976" cy="402336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657600"/>
            <a:ext cx="45720" cy="40233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" y="3730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52728" y="37124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组织架构与人员情况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4114800"/>
            <a:ext cx="204697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114800"/>
            <a:ext cx="45720" cy="402336"/>
          </a:xfrm>
          <a:prstGeom prst="rect">
            <a:avLst/>
          </a:prstGeom>
          <a:solidFill>
            <a:srgbClr val="DCE5EC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" y="41879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52728" y="41696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管理团队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4572000"/>
            <a:ext cx="2046976" cy="402336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572000"/>
            <a:ext cx="45720" cy="40233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" y="46451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52728" y="46268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公司优势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" y="5029200"/>
            <a:ext cx="204697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5029200"/>
            <a:ext cx="45720" cy="402336"/>
          </a:xfrm>
          <a:prstGeom prst="rect">
            <a:avLst/>
          </a:prstGeom>
          <a:solidFill>
            <a:srgbClr val="DCE5EC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" y="51023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52728" y="50840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主要产品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5800" y="5486400"/>
            <a:ext cx="2046976" cy="402336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" y="5486400"/>
            <a:ext cx="45720" cy="40233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" y="55595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52728" y="55412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核心技术与研发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85800" y="5943600"/>
            <a:ext cx="204697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" y="5943600"/>
            <a:ext cx="45720" cy="402336"/>
          </a:xfrm>
          <a:prstGeom prst="rect">
            <a:avLst/>
          </a:prstGeom>
          <a:solidFill>
            <a:srgbClr val="DCE5EC"/>
          </a:solidFill>
          <a:ln/>
        </p:spPr>
      </p:sp>
      <p:sp>
        <p:nvSpPr>
          <p:cNvPr id="39" name="Text 37"/>
          <p:cNvSpPr/>
          <p:nvPr/>
        </p:nvSpPr>
        <p:spPr>
          <a:xfrm>
            <a:off x="832104" y="6016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252728" y="59984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生产基地与产能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85800" y="6400800"/>
            <a:ext cx="2046976" cy="402336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85800" y="6400800"/>
            <a:ext cx="45720" cy="40233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43" name="Text 41"/>
          <p:cNvSpPr/>
          <p:nvPr/>
        </p:nvSpPr>
        <p:spPr>
          <a:xfrm>
            <a:off x="832104" y="64739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252728" y="64556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销售渠道与终端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2879080" y="1737360"/>
            <a:ext cx="2046976" cy="8778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46" name="Text 44"/>
          <p:cNvSpPr/>
          <p:nvPr/>
        </p:nvSpPr>
        <p:spPr>
          <a:xfrm>
            <a:off x="3043672" y="1819656"/>
            <a:ext cx="171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6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043672" y="2075688"/>
            <a:ext cx="171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行业分析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2879080" y="2743200"/>
            <a:ext cx="2046976" cy="402336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49" name="Shape 47"/>
          <p:cNvSpPr/>
          <p:nvPr/>
        </p:nvSpPr>
        <p:spPr>
          <a:xfrm>
            <a:off x="2879080" y="2743200"/>
            <a:ext cx="45720" cy="40233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50" name="Text 48"/>
          <p:cNvSpPr/>
          <p:nvPr/>
        </p:nvSpPr>
        <p:spPr>
          <a:xfrm>
            <a:off x="3025384" y="28163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446008" y="27980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纳豆行业概况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2879080" y="3200400"/>
            <a:ext cx="204697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2879080" y="3200400"/>
            <a:ext cx="45720" cy="402336"/>
          </a:xfrm>
          <a:prstGeom prst="rect">
            <a:avLst/>
          </a:prstGeom>
          <a:solidFill>
            <a:srgbClr val="DCE5EC"/>
          </a:solidFill>
          <a:ln/>
        </p:spPr>
      </p:sp>
      <p:sp>
        <p:nvSpPr>
          <p:cNvPr id="54" name="Text 52"/>
          <p:cNvSpPr/>
          <p:nvPr/>
        </p:nvSpPr>
        <p:spPr>
          <a:xfrm>
            <a:off x="3025384" y="32735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446008" y="32552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日本市场与中国差距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879080" y="3657600"/>
            <a:ext cx="2046976" cy="402336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57" name="Shape 55"/>
          <p:cNvSpPr/>
          <p:nvPr/>
        </p:nvSpPr>
        <p:spPr>
          <a:xfrm>
            <a:off x="2879080" y="3657600"/>
            <a:ext cx="45720" cy="40233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58" name="Text 56"/>
          <p:cNvSpPr/>
          <p:nvPr/>
        </p:nvSpPr>
        <p:spPr>
          <a:xfrm>
            <a:off x="3025384" y="3730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446008" y="37124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中国市场规模与增速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2879080" y="4114800"/>
            <a:ext cx="204697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2879080" y="4114800"/>
            <a:ext cx="45720" cy="402336"/>
          </a:xfrm>
          <a:prstGeom prst="rect">
            <a:avLst/>
          </a:prstGeom>
          <a:solidFill>
            <a:srgbClr val="DCE5EC"/>
          </a:solidFill>
          <a:ln/>
        </p:spPr>
      </p:sp>
      <p:sp>
        <p:nvSpPr>
          <p:cNvPr id="62" name="Text 60"/>
          <p:cNvSpPr/>
          <p:nvPr/>
        </p:nvSpPr>
        <p:spPr>
          <a:xfrm>
            <a:off x="3025384" y="41879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446008" y="41696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保健食品行业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2879080" y="4572000"/>
            <a:ext cx="2046976" cy="402336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65" name="Shape 63"/>
          <p:cNvSpPr/>
          <p:nvPr/>
        </p:nvSpPr>
        <p:spPr>
          <a:xfrm>
            <a:off x="2879080" y="4572000"/>
            <a:ext cx="45720" cy="40233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66" name="Text 64"/>
          <p:cNvSpPr/>
          <p:nvPr/>
        </p:nvSpPr>
        <p:spPr>
          <a:xfrm>
            <a:off x="3025384" y="46451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446008" y="46268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行业地位与可比公司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5072360" y="1737360"/>
            <a:ext cx="2046976" cy="8778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69" name="Text 67"/>
          <p:cNvSpPr/>
          <p:nvPr/>
        </p:nvSpPr>
        <p:spPr>
          <a:xfrm>
            <a:off x="5236952" y="1819656"/>
            <a:ext cx="171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6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236952" y="2075688"/>
            <a:ext cx="171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发展规划</a:t>
            </a:r>
            <a:endParaRPr lang="en-US" sz="1700" dirty="0"/>
          </a:p>
        </p:txBody>
      </p:sp>
      <p:sp>
        <p:nvSpPr>
          <p:cNvPr id="71" name="Shape 69"/>
          <p:cNvSpPr/>
          <p:nvPr/>
        </p:nvSpPr>
        <p:spPr>
          <a:xfrm>
            <a:off x="5072360" y="2743200"/>
            <a:ext cx="2046976" cy="402336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72" name="Shape 70"/>
          <p:cNvSpPr/>
          <p:nvPr/>
        </p:nvSpPr>
        <p:spPr>
          <a:xfrm>
            <a:off x="5072360" y="2743200"/>
            <a:ext cx="45720" cy="40233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3" name="Text 71"/>
          <p:cNvSpPr/>
          <p:nvPr/>
        </p:nvSpPr>
        <p:spPr>
          <a:xfrm>
            <a:off x="5218664" y="28163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639288" y="27980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新品与产品线规划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5072360" y="3200400"/>
            <a:ext cx="204697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Shape 74"/>
          <p:cNvSpPr/>
          <p:nvPr/>
        </p:nvSpPr>
        <p:spPr>
          <a:xfrm>
            <a:off x="5072360" y="3200400"/>
            <a:ext cx="45720" cy="402336"/>
          </a:xfrm>
          <a:prstGeom prst="rect">
            <a:avLst/>
          </a:prstGeom>
          <a:solidFill>
            <a:srgbClr val="DCE5EC"/>
          </a:solidFill>
          <a:ln/>
        </p:spPr>
      </p:sp>
      <p:sp>
        <p:nvSpPr>
          <p:cNvPr id="77" name="Text 75"/>
          <p:cNvSpPr/>
          <p:nvPr/>
        </p:nvSpPr>
        <p:spPr>
          <a:xfrm>
            <a:off x="5218664" y="32735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5639288" y="32552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产能与基地建设规划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5072360" y="3657600"/>
            <a:ext cx="2046976" cy="402336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80" name="Shape 78"/>
          <p:cNvSpPr/>
          <p:nvPr/>
        </p:nvSpPr>
        <p:spPr>
          <a:xfrm>
            <a:off x="5072360" y="3657600"/>
            <a:ext cx="45720" cy="40233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81" name="Text 79"/>
          <p:cNvSpPr/>
          <p:nvPr/>
        </p:nvSpPr>
        <p:spPr>
          <a:xfrm>
            <a:off x="5218664" y="3730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5639288" y="37124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渠道与市场拓展规划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5072360" y="4114800"/>
            <a:ext cx="204697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hape 82"/>
          <p:cNvSpPr/>
          <p:nvPr/>
        </p:nvSpPr>
        <p:spPr>
          <a:xfrm>
            <a:off x="5072360" y="4114800"/>
            <a:ext cx="45720" cy="402336"/>
          </a:xfrm>
          <a:prstGeom prst="rect">
            <a:avLst/>
          </a:prstGeom>
          <a:solidFill>
            <a:srgbClr val="DCE5EC"/>
          </a:solidFill>
          <a:ln/>
        </p:spPr>
      </p:sp>
      <p:sp>
        <p:nvSpPr>
          <p:cNvPr id="85" name="Text 83"/>
          <p:cNvSpPr/>
          <p:nvPr/>
        </p:nvSpPr>
        <p:spPr>
          <a:xfrm>
            <a:off x="5218664" y="41879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5639288" y="41696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上市规划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7265640" y="1737360"/>
            <a:ext cx="2046976" cy="8778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88" name="Text 86"/>
          <p:cNvSpPr/>
          <p:nvPr/>
        </p:nvSpPr>
        <p:spPr>
          <a:xfrm>
            <a:off x="7430232" y="1819656"/>
            <a:ext cx="171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6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7430232" y="2075688"/>
            <a:ext cx="171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财务状况</a:t>
            </a:r>
            <a:endParaRPr lang="en-US" sz="1700" dirty="0"/>
          </a:p>
        </p:txBody>
      </p:sp>
      <p:sp>
        <p:nvSpPr>
          <p:cNvPr id="90" name="Shape 88"/>
          <p:cNvSpPr/>
          <p:nvPr/>
        </p:nvSpPr>
        <p:spPr>
          <a:xfrm>
            <a:off x="7265640" y="2743200"/>
            <a:ext cx="2046976" cy="402336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91" name="Shape 89"/>
          <p:cNvSpPr/>
          <p:nvPr/>
        </p:nvSpPr>
        <p:spPr>
          <a:xfrm>
            <a:off x="7265640" y="2743200"/>
            <a:ext cx="45720" cy="40233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92" name="Text 90"/>
          <p:cNvSpPr/>
          <p:nvPr/>
        </p:nvSpPr>
        <p:spPr>
          <a:xfrm>
            <a:off x="7411944" y="28163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7832568" y="27980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近三年经营情况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7265640" y="3200400"/>
            <a:ext cx="204697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Shape 93"/>
          <p:cNvSpPr/>
          <p:nvPr/>
        </p:nvSpPr>
        <p:spPr>
          <a:xfrm>
            <a:off x="7265640" y="3200400"/>
            <a:ext cx="45720" cy="402336"/>
          </a:xfrm>
          <a:prstGeom prst="rect">
            <a:avLst/>
          </a:prstGeom>
          <a:solidFill>
            <a:srgbClr val="DCE5EC"/>
          </a:solidFill>
          <a:ln/>
        </p:spPr>
      </p:sp>
      <p:sp>
        <p:nvSpPr>
          <p:cNvPr id="96" name="Text 94"/>
          <p:cNvSpPr/>
          <p:nvPr/>
        </p:nvSpPr>
        <p:spPr>
          <a:xfrm>
            <a:off x="7411944" y="32735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7832568" y="32552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收入构成与盈利情况</a:t>
            </a:r>
            <a:endParaRPr lang="en-US" sz="1150" dirty="0"/>
          </a:p>
        </p:txBody>
      </p:sp>
      <p:sp>
        <p:nvSpPr>
          <p:cNvPr id="98" name="Shape 96"/>
          <p:cNvSpPr/>
          <p:nvPr/>
        </p:nvSpPr>
        <p:spPr>
          <a:xfrm>
            <a:off x="7265640" y="3657600"/>
            <a:ext cx="2046976" cy="402336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99" name="Shape 97"/>
          <p:cNvSpPr/>
          <p:nvPr/>
        </p:nvSpPr>
        <p:spPr>
          <a:xfrm>
            <a:off x="7265640" y="3657600"/>
            <a:ext cx="45720" cy="40233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00" name="Text 98"/>
          <p:cNvSpPr/>
          <p:nvPr/>
        </p:nvSpPr>
        <p:spPr>
          <a:xfrm>
            <a:off x="7411944" y="3730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7832568" y="37124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未来三年经营预测</a:t>
            </a:r>
            <a:endParaRPr lang="en-US" sz="1150" dirty="0"/>
          </a:p>
        </p:txBody>
      </p:sp>
      <p:sp>
        <p:nvSpPr>
          <p:cNvPr id="102" name="Shape 100"/>
          <p:cNvSpPr/>
          <p:nvPr/>
        </p:nvSpPr>
        <p:spPr>
          <a:xfrm>
            <a:off x="9458919" y="1737360"/>
            <a:ext cx="2046976" cy="8778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03" name="Text 101"/>
          <p:cNvSpPr/>
          <p:nvPr/>
        </p:nvSpPr>
        <p:spPr>
          <a:xfrm>
            <a:off x="9623511" y="1819656"/>
            <a:ext cx="171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6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9623511" y="2075688"/>
            <a:ext cx="171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融资方案</a:t>
            </a:r>
            <a:endParaRPr lang="en-US" sz="1700" dirty="0"/>
          </a:p>
        </p:txBody>
      </p:sp>
      <p:sp>
        <p:nvSpPr>
          <p:cNvPr id="105" name="Shape 103"/>
          <p:cNvSpPr/>
          <p:nvPr/>
        </p:nvSpPr>
        <p:spPr>
          <a:xfrm>
            <a:off x="9458919" y="2743200"/>
            <a:ext cx="2046976" cy="402336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458919" y="2743200"/>
            <a:ext cx="45720" cy="40233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07" name="Text 105"/>
          <p:cNvSpPr/>
          <p:nvPr/>
        </p:nvSpPr>
        <p:spPr>
          <a:xfrm>
            <a:off x="9605223" y="28163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10025847" y="27980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本轮引战方案</a:t>
            </a:r>
            <a:endParaRPr lang="en-US" sz="1150" dirty="0"/>
          </a:p>
        </p:txBody>
      </p:sp>
      <p:sp>
        <p:nvSpPr>
          <p:cNvPr id="109" name="Shape 107"/>
          <p:cNvSpPr/>
          <p:nvPr/>
        </p:nvSpPr>
        <p:spPr>
          <a:xfrm>
            <a:off x="9458919" y="3200400"/>
            <a:ext cx="204697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458919" y="3200400"/>
            <a:ext cx="45720" cy="402336"/>
          </a:xfrm>
          <a:prstGeom prst="rect">
            <a:avLst/>
          </a:prstGeom>
          <a:solidFill>
            <a:srgbClr val="DCE5EC"/>
          </a:solidFill>
          <a:ln/>
        </p:spPr>
      </p:sp>
      <p:sp>
        <p:nvSpPr>
          <p:cNvPr id="111" name="Text 109"/>
          <p:cNvSpPr/>
          <p:nvPr/>
        </p:nvSpPr>
        <p:spPr>
          <a:xfrm>
            <a:off x="9605223" y="32735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10025847" y="32552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募集资金用途</a:t>
            </a:r>
            <a:endParaRPr lang="en-US" sz="1150" dirty="0"/>
          </a:p>
        </p:txBody>
      </p:sp>
      <p:sp>
        <p:nvSpPr>
          <p:cNvPr id="113" name="Shape 111"/>
          <p:cNvSpPr/>
          <p:nvPr/>
        </p:nvSpPr>
        <p:spPr>
          <a:xfrm>
            <a:off x="9458919" y="3657600"/>
            <a:ext cx="2046976" cy="402336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458919" y="3657600"/>
            <a:ext cx="45720" cy="40233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5" name="Text 113"/>
          <p:cNvSpPr/>
          <p:nvPr/>
        </p:nvSpPr>
        <p:spPr>
          <a:xfrm>
            <a:off x="9605223" y="3730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10025847" y="37124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投资人权利与退出</a:t>
            </a:r>
            <a:endParaRPr lang="en-US" sz="1150" dirty="0"/>
          </a:p>
        </p:txBody>
      </p:sp>
      <p:sp>
        <p:nvSpPr>
          <p:cNvPr id="117" name="Shape 115"/>
          <p:cNvSpPr/>
          <p:nvPr/>
        </p:nvSpPr>
        <p:spPr>
          <a:xfrm>
            <a:off x="9458919" y="4114800"/>
            <a:ext cx="204697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8" name="Shape 116"/>
          <p:cNvSpPr/>
          <p:nvPr/>
        </p:nvSpPr>
        <p:spPr>
          <a:xfrm>
            <a:off x="9458919" y="4114800"/>
            <a:ext cx="45720" cy="402336"/>
          </a:xfrm>
          <a:prstGeom prst="rect">
            <a:avLst/>
          </a:prstGeom>
          <a:solidFill>
            <a:srgbClr val="DCE5EC"/>
          </a:solidFill>
          <a:ln/>
        </p:spPr>
      </p:sp>
      <p:sp>
        <p:nvSpPr>
          <p:cNvPr id="119" name="Text 117"/>
          <p:cNvSpPr/>
          <p:nvPr/>
        </p:nvSpPr>
        <p:spPr>
          <a:xfrm>
            <a:off x="9605223" y="41879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1100" dirty="0"/>
          </a:p>
        </p:txBody>
      </p:sp>
      <p:sp>
        <p:nvSpPr>
          <p:cNvPr id="120" name="Text 118"/>
          <p:cNvSpPr/>
          <p:nvPr/>
        </p:nvSpPr>
        <p:spPr>
          <a:xfrm>
            <a:off x="10025847" y="4169664"/>
            <a:ext cx="135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联系方式</a:t>
            </a:r>
            <a:endParaRPr lang="en-US" sz="1150" dirty="0"/>
          </a:p>
        </p:txBody>
      </p:sp>
      <p:sp>
        <p:nvSpPr>
          <p:cNvPr id="121" name="Text 119"/>
          <p:cNvSpPr/>
          <p:nvPr/>
        </p:nvSpPr>
        <p:spPr>
          <a:xfrm>
            <a:off x="685800" y="60350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全篇 25 页 · 五章 · 每页均给出所需材料、写法与注意事项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124" name="Text 1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/ 31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Shape 1"/>
          <p:cNvSpPr/>
          <p:nvPr/>
        </p:nvSpPr>
        <p:spPr>
          <a:xfrm>
            <a:off x="4480560" y="0"/>
            <a:ext cx="109728" cy="6858000"/>
          </a:xfrm>
          <a:prstGeom prst="rect">
            <a:avLst/>
          </a:prstGeom>
          <a:solidFill>
            <a:srgbClr val="5B93B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B50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914400" y="4160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3D6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212080" y="25146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公司介绍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212080" y="3977640"/>
            <a:ext cx="1097280" cy="45720"/>
          </a:xfrm>
          <a:prstGeom prst="rect">
            <a:avLst/>
          </a:prstGeom>
          <a:solidFill>
            <a:srgbClr val="5B93B8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42976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96128" y="4297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公司概况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42976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87968" y="4297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企业图谱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47731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596128" y="47731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组织架构与人员情况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47731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887968" y="47731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管理团队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52486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596128" y="52486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公司优势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03920" y="52486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87968" y="52486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主要产品（每个独立产品开一页）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572414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96128" y="57241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核心技术与研发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572414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887968" y="57241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生产基地与产能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619963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596128" y="61996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销售渠道与终端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公司概况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这页说清楚：公司做什么、多大规模等基本信息。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　公司介绍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10820095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10820095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1027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10161727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左边一段简介，200 字以内：哪年成立、燕京啤酒控股、做纳豆生物发酵、主要产品、多少人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适当配图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6" name="Text 14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财务数字一律用经审计口径。混改期间对外说的数，要和评估报告、审计报告一致，不能各说各的。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　03 / 31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企业图谱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这页说清楚：当前公司谁是股东、混改后变成什么样。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　公司介绍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现有股东名册和持股比例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燕京中发在燕京啤酒体系里的位置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混改方案里的引战比例、员工持股比例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并排画两张图：左边"混改前"，右边"混改后（拟）"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每张图从上往下：燕京啤酒 → 燕京中发 → 下属公司，线上标持股比例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混改后那张标出三个数：战投持股不低于 10%、员工持股不超过总股本 30%、单一员工不超过 1%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图下加一行：最终比例以国资监管部门核准为准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没批下来的一律写"拟"。把示意图写成已定方案，是国资项目最容易出问题的地方。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　04 / 31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组织架构与人员情况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这页说清楚：公司组织架构以及运转经营方式。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　公司介绍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公司组织架构图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画组织架构图：总经理下面分几个部门（研发、生产、质量、销售、财务等）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研发人员数量和占比将来 IPO 要核查，这里写的数要和研发台账、工时记录对得上。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　05 / 31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管理团队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这页说清楚：公司核心管理层情况。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　公司介绍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核心高管 4—6 人的简历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每人的学历、以前在哪家单位、什么职位、干了几年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一页放 4—6 个人，每人一小块：照片、姓名、职务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每人写 2—3 条：学历、以前在燕京体系或同行业做什么、在这行干了多少年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有食品发酵、保健品注册、快消渠道背景的重点写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只写履历事实，不写"经验丰富""开拓创新"这类评价。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　06 / 31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公司优势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这页说清楚：公司核心优势。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　公司介绍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蓝帽子（保健食品注册）批文清单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菌种专利、发明专利证书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GMP 车间和生产许可资质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燕京商标的使用授权文件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分四块，每块一句话加一个证据：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品牌背书——燕京啤酒控股、国企信用；菌种与配方——专利多少项、菌种什么来源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生产资质——蓝帽子几个、GMP 产线几条；渠道——终端多少家、下沉到什么层级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每块下面放证书缩略图或一个关键数字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燕京品牌是背书，但商标怎么授权、授权到哪年，要写清楚——这是将来 IPO 独立性问询的必问点。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　07 / 31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主要产品（每个独立产品开一页）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这页说清楚：公司的核心产品、各产生多少营业额度。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　公司介绍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产品目录、规格、终端价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去年各产品线的销售额和占比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每个单品对应的批文或备案情况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这一部分这样写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按产品线分组：例如纳豆胶囊、多肽及其他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每组挑主要单品，配产品图，图下写：规格、终端价、去年销量或销售额、有没有蓝帽子以及产品的基本信息（如特点，功效和优势）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右侧放一个饼图：各产品线收入占比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一页最多 8 个单品。在售的和在研的分开标，别混在一起。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　08 / 31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核心技术与研发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这页说清楚：核心技术、以及相关的证据（专利）。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　公司介绍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功效试验数据、第三方检测报告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公开发表的研究文献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专利清单、菌种来源证明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左边三栏写三大功效：溶栓、肠道免疫、降压护血管，每栏写清是哪个成分起作用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每条功效后面挂证据：哪个机构做的研究、什么结论、什么时候发表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右边列核心专利：名称、专利号、授权时间；菌种来源单独写一行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功效表述受《广告法》和保健食品标签规范约束，只能写批文核准的功能，不能自己扩大。文献结论要注明出处，不要写成公司自己的结论。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　09 / 31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生产基地与产能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这页说清楚：生产基地位置、产能情况。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　公司介绍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厂房产权证或租赁合同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生产许可证、GMP 相关文件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产能与实际产量台账、良品率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主要设备清单、扩产方案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左边：基地位置、占地面积、车间等级、主要设备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中间：设计产能、去年实际产量、产能利用率、良品率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右边：扩产计划（含邢台资产整合），新增多少产能、投多少钱、什么时候投产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 2—3 张车间实拍照片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向燕京啤酒租的土地厂房要单独说明——这是关联交易，IPO 前要清理或论证。写 BP 时就把整改安排一并写上，别回避。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　10 / 31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销售渠道与终端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这页说清楚：货怎么卖出去、铺到了多少家。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　公司介绍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经销商名单和数量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终端网点数、覆盖区域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各渠道收入占比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线上平台的店铺和销量数据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左边画渠道结构饼图：经销、直销、电商各占多少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中间写：经销商多少家、覆盖多少个省、下沉到什么层级；终端网点多少家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右边写线上：在哪些平台、去年销量多少、增速多少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可以配一张中国地图，标出覆盖区域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经销商和终端数量将来会被穿透核查——写多少就要拿得出台账。返利政策、经销商进销存也要能对上，现在就按可核查的口径写。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　11 / 31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Shape 1"/>
          <p:cNvSpPr/>
          <p:nvPr/>
        </p:nvSpPr>
        <p:spPr>
          <a:xfrm>
            <a:off x="4480560" y="0"/>
            <a:ext cx="109728" cy="6858000"/>
          </a:xfrm>
          <a:prstGeom prst="rect">
            <a:avLst/>
          </a:prstGeom>
          <a:solidFill>
            <a:srgbClr val="5B93B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B50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914400" y="4160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3D6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212080" y="25146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行业分析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21208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行业规模、未来发展、我们公司所处的行业地位。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12080" y="3977640"/>
            <a:ext cx="1097280" cy="45720"/>
          </a:xfrm>
          <a:prstGeom prst="rect">
            <a:avLst/>
          </a:prstGeom>
          <a:solidFill>
            <a:srgbClr val="5B93B8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42976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596128" y="4297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纳豆行业概况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2976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87968" y="4297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日本市场与中国差距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47731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596128" y="47731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中国市场规模与增速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47731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887968" y="47731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保健食品行业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52486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96128" y="52486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行业地位与可比公司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纳豆行业概况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这页说清楚：所处行业概况、核心产品功效和对应消费群体。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　行业分析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功效研究资料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目标人群规模数据（心血管、高血压等患者数）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数据的出处和发布年份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上半页三栏写三大功效：每栏写清什么成分、起什么作用、有哪条研究支持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下半页写对应人群有多少：心血管病患者多少、高血压患者多少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每个数字下面标出处和年份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人群规模是"潜在人群"，不是你的客户。别直接拿人数乘单价当成自己的市场。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　13 / 31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日本市场与中国差距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这页说清楚：该品类在成熟市场能做多大。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　行业分析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日本市场规模、人均消费、代表企业数据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中国渗透率、消费者认知度数据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左边日本：市场规模、人均一年吃多少、代表企业营收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右边中国：渗透率多少、了解纳豆功效的消费者比例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中间用一个数字点题，比如中国渗透率大约是日本的几分之一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每个数字标来源和年份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两国数据口径常常不同（含不含保健食品、按零售额还是出厂额），要在图下写清楚，不能混着比。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　14 / 31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中国市场规模与增速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这页说清楚：国内市场有多大、增长速度快不快。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　行业分析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行业报告、协会数据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电商平台的品类数据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公司自己的销售额（用来算份额）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柱状图：近几年中国纳豆市场规模，柱子上标同比增速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旁边写预测：哪一年到多少、复合增速多少，注明预测来自哪家机构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下面一行写公司自己占多少份额，把算法写出来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图下必须写"数据来源：某机构某报告，某年发布"。自己测算的份额要能让人复算一遍。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　15 / 31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保健食品行业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这页说清楚：纳豆背后的保健食品行业有多大。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　行业分析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保健品（膳食营养补充剂）市场规模和预测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人均消费的国际对比数据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左边：中国保健品市场规模和未来预测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右边：人均消费柱状图，中国和日、韩、美对比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下面两条趋势各一句话：需求从基础营养转向特定功效；兴趣电商成为新的增长渠道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这页是背景，控制在一页，别喧宾夺主。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　16 / 31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行业地位与可比公司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这页说清楚：我们在行业里排第几、同类公司市场价值。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　行业分析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主要竞品名单和公开资料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可比上市公司的营收、利润、市值、市盈率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取数日期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上半页竞品对比表：公司名、主要产品、渠道、大致规模、有没有蓝帽子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下半页可比上市公司表：证券代码、主营、去年营收、净利润、总市值、市盈率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最后一行放燕京中发的同口径数据，用另一个颜色标出来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可比公司挑做法接近的健康食品上市公司，别只按行业分类硬凑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这张表投资人会直接拿来给你算价格。选谁进表、用哪一天的市值，先想清楚，并在表下注明日期。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　17 / 31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Shape 1"/>
          <p:cNvSpPr/>
          <p:nvPr/>
        </p:nvSpPr>
        <p:spPr>
          <a:xfrm>
            <a:off x="4480560" y="0"/>
            <a:ext cx="109728" cy="6858000"/>
          </a:xfrm>
          <a:prstGeom prst="rect">
            <a:avLst/>
          </a:prstGeom>
          <a:solidFill>
            <a:srgbClr val="5B93B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B50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914400" y="4160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3D6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212080" y="25146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发展规划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21208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讲未来发展规划（强调公司潜力）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12080" y="3977640"/>
            <a:ext cx="1097280" cy="45720"/>
          </a:xfrm>
          <a:prstGeom prst="rect">
            <a:avLst/>
          </a:prstGeom>
          <a:solidFill>
            <a:srgbClr val="5B93B8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42976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596128" y="4297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新品与产品线规划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2976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87968" y="4297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产能与基地建设规划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47731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596128" y="47731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渠道与市场拓展规划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47731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887968" y="47731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上市规划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新品与产品线规划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这页说清楚：未来三年还要上什么产品。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　发展规划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在研产品清单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批文申报进度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新品上市计划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上半页画一条产品线延伸图：现在卖什么 → 明年上什么 → 后年上什么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下半页列在研产品表：产品名、现在到哪一步（配方研发 / 中试 / 批文申报 / 待上市）、预计上市时间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批文申报时间要按主管部门实际审批周期估。写一个自己解释不了的时间点，比不写更糟。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　19 / 31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产能与基地建设规划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这页说清楚：产能怎么扩、什么时候投产。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　发展规划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扩产方案和投资预算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邢台资产整合方案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建设进度表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左边现有产能，右边规划产能，中间标新增多少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分项列：新建或改造车间、设备投入、预计投资额、建设周期、什么时候达产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邢台资产整合单独一栏，说明整合方式和时间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这里的投资额，要和第五章的资金用途、第四章的财务预测三处完全一致。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　20 / 31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渠道与市场拓展规划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这页说清楚：未来怎么把销量做上去。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　发展规划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渠道拓展计划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线上投放计划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新市场开拓计划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分三块写：经销网络（新增多少家、进哪些区域）、终端（从多少家到多少家）、线上（哪些平台、目标增速）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每块给出目标数字和时间点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目标要能验收。"加大市场投入""持续拓展渠道"这种话别写。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　21 / 31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上市规划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这页说清楚：公司的上市安排到哪一步了。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　发展规划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已确定的上市时间表节点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北交所上市条件的对应情况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画一条时间轴：混改引战 → 股份制改造 → 新三板挂牌 → 辅导备案 → 提交 IPO 申请 → 上市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每个节点标计划时间（年月）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下面一句话说明：对应北交所哪一套上市标准、公司预计怎么满足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只写计划和条件的对应关系。不承诺一定能上、不承诺时间、不承诺回报，并在页脚注明进度受监管节奏影响。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　22 / 31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Shape 1"/>
          <p:cNvSpPr/>
          <p:nvPr/>
        </p:nvSpPr>
        <p:spPr>
          <a:xfrm>
            <a:off x="4480560" y="0"/>
            <a:ext cx="109728" cy="6858000"/>
          </a:xfrm>
          <a:prstGeom prst="rect">
            <a:avLst/>
          </a:prstGeom>
          <a:solidFill>
            <a:srgbClr val="5B93B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B50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914400" y="4160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3D6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212080" y="25146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财务状况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21208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过往财务关键信息，未来预测财务信息。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12080" y="3977640"/>
            <a:ext cx="1097280" cy="45720"/>
          </a:xfrm>
          <a:prstGeom prst="rect">
            <a:avLst/>
          </a:prstGeom>
          <a:solidFill>
            <a:srgbClr val="5B93B8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42976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596128" y="4297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近三年经营情况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2976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87968" y="4297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收入构成与盈利情况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47731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596128" y="47731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未来三年经营预测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近三年经营情况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这页说清楚：这几年营业额和利润是多少。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　财务状况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近三年及最近一期审计报告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收入成本明细表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经营活动现金流数据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柱状图：营业收入和净利润放一起，数字直接标在柱子上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图旁写清楚：数据经没经过审计、哪家事务所审的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下面一行写毛利率、净利率、经营性现金流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经审计和未审计要分别标清楚。混改期间这几个数会被反复引用，先内部统一口径。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　24 / 31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收入构成与盈利情况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这页说清楚：收入的构成情况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　财务状况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分产品、分渠道、分区域的收入台账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成本构成明细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销售费用明细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三张小饼图：按产品分、按渠道分、按区域分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一张成本结构表：原料、人工、制造费用各占多少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主要单品的毛利率对比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销售费用单列：推广费、渠道费、人员费用各多少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销售费用里的推广费、咨询费要能说清商业实质——这是 IPO 重点核查项，现在就按规范口径列，别等到问询时再改。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　25 / 31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未来三年经营预测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这页说清楚：未来三年的发展预期，以及相关证据。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　财务状况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预测模型和核心假设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经销商回款和在手订单情况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新增产能的投产时间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柱状图：历史和预测放在一起，用不同颜色区分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下面列核心假设：产能多少、单价多少、经销商多少家、终端多少家、各产品线增速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每条假设后面写清依据：靠新产能、靠新品上市，还是靠渠道下沉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预测增速明显高于历史的，在同一页解释清楚。每条假设都要能追到已经发生的事实。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　26 / 31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Shape 1"/>
          <p:cNvSpPr/>
          <p:nvPr/>
        </p:nvSpPr>
        <p:spPr>
          <a:xfrm>
            <a:off x="4480560" y="0"/>
            <a:ext cx="109728" cy="6858000"/>
          </a:xfrm>
          <a:prstGeom prst="rect">
            <a:avLst/>
          </a:prstGeom>
          <a:solidFill>
            <a:srgbClr val="5B93B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B50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914400" y="4160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3D6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212080" y="25146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融资方案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212080" y="3977640"/>
            <a:ext cx="1097280" cy="45720"/>
          </a:xfrm>
          <a:prstGeom prst="rect">
            <a:avLst/>
          </a:prstGeom>
          <a:solidFill>
            <a:srgbClr val="5B93B8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42976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96128" y="4297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本轮引战方案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42976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87968" y="4297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募集资金用途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47731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596128" y="47731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投资人权利与退出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47731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887968" y="47731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联系方式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本轮引战方案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这页说清楚：融资方案。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　融资方案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混改方案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清产核资专项审计报告和评估报告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拟引战比例、员工持股方案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三行写清：拟引入资金规模、拟出让比例、定价依据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定价一律写"以经核准或备案的评估结果为准"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写明交易方式：通过北京产权交易所公开挂牌，公告 40 个工作日，遴选投资方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写明战投持股不低于 10%、可推荐董事；员工持股同步实施、与战投同股同价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国资混改的价格不能自己定。BP 里不要出现具体估值承诺，一律写"拟"。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　28 / 31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募集资金用途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这页说清楚：募资目的。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　融资方案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各用途的预算明细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产能建设、研发、渠道投入的分项方案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饼图分项：产能建设、新品研发与批文申报、渠道与品牌投入、补充流动资金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每项标金额和比例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每项配一句话：具体干什么、什么时候用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用途要和第三章的规划、第四章的预测对得上，三处数字不一样一定会被问。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　29 / 31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投资人权利与退出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这页说清楚：投资人基本权利和义务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　融资方案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混改方案里关于董事席位、知情权的条款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锁定期安排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上市时间表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左边写战投的权利：参与治理的方式、知情权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右边写退出路径：以北交所上市后二级市场退出为主，标出各阶段时间节点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下面一行写锁定期安排，员工持股的锁定要求单独说明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所有条款以最终经国资审核的方案和产权交易所挂牌公告为准，BP 里全部写"拟"。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　30 / 31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76656" cy="676656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84632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4023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联系方式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这页说清楚：对接人信息。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71255" y="457200"/>
            <a:ext cx="2834640" cy="36576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7" name="Text 5"/>
          <p:cNvSpPr/>
          <p:nvPr/>
        </p:nvSpPr>
        <p:spPr>
          <a:xfrm>
            <a:off x="8671255" y="566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　融资方案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5875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27632"/>
            <a:ext cx="4114800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627632"/>
            <a:ext cx="4114800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1673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2194560"/>
            <a:ext cx="345643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指定的对外对接人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627632"/>
            <a:ext cx="6449263" cy="3950208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6632" y="1627632"/>
            <a:ext cx="6449263" cy="420624"/>
          </a:xfrm>
          <a:prstGeom prst="rect">
            <a:avLst/>
          </a:prstGeom>
          <a:solidFill>
            <a:srgbClr val="C3D6E3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627632"/>
            <a:ext cx="146304" cy="420624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816" y="1673352"/>
            <a:ext cx="5900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194560"/>
            <a:ext cx="5790895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公司名称、地址、联系人、职务、电话、邮箱</a:t>
            </a:r>
            <a:endParaRPr lang="en-US" sz="15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5B9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 </a:t>
            </a:r>
            <a:pPr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加一句："本材料仅供评估本次混合所有制改革引入战略投资者使用"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760720"/>
            <a:ext cx="128016" cy="640080"/>
          </a:xfrm>
          <a:prstGeom prst="rect">
            <a:avLst/>
          </a:prstGeom>
          <a:solidFill>
            <a:srgbClr val="123F6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5833872"/>
            <a:ext cx="10271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公开挂牌期间对外口径要统一，指定唯一对接人，别多头对外。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6510528"/>
            <a:ext cx="10820095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燕京中发　融资 BP 框架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4829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370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　31 / 31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2026-08-22T15:00:28Z</dcterms:created>
  <dcterms:modified xsi:type="dcterms:W3CDTF">2026-08-22T15:00:28Z</dcterms:modified>
</cp:coreProperties>
</file>