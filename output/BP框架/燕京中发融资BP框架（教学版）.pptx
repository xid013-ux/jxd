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财务数字对外统一使用概数，口径先在公司内部定死，各页、各版本保持一致。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只写履历事实，不写"经验丰富""开拓创新"这类评价。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燕京品牌是重要背书，正常呈现即可；商标授权期限一类的细节不在 BP 中展开。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一页最多 8 个单品。在售的和在研的分开标，别混在一起。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功效表述受《广告法》和保健食品标签规范约束，只能写批文核准的功能，不能自己扩大。文献结论要注明出处，不要写成公司自己的结论。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产能数据用概数，利用率、良品率一类的明细不在 BP 中提供，留待投资机构尽调。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只呈现体系布局与优势。经销商名单、各渠道收入占比等明细不在 BP 中提供。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人群规模是"潜在人群"，不是你的客户。别直接拿人数乘单价当成自己的市场。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两国数据口径常常不同（含不含保健食品、按零售额还是出厂额），要在图下写清楚，不能混着比。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图下必须写"数据来源：某机构某报告，某年发布"。自己测算的份额要能让人复算一遍。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这页是背景，控制在一页，别喧宾夺主。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这张表投资人会直接拿来给你算价格。选谁进表、用哪一天的市值，先想清楚，并在表下注明日期。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批文申报时间要按主管部门实际审批周期估。写一个自己解释不了的时间点，比不写更糟。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这里的投资额，要和第五章的资金用途、第四章的财务预测三处完全一致。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目标要能验收。"加大市场投入""持续拓展渠道"这种话别写。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只写计划和条件的对应关系。不承诺一定能上、不承诺时间、不承诺回报，并在页脚注明进度受监管节奏影响。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同一个数字在各页、各版本要一致。BP 会在市场上流传，宁可少写，不可写错。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测算底表在公司内部留存备查，BP 上只放测算式与结果。预测增速明显高于历史的，在同一页说明支撑因素。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国资混改的价格不能自己定。BP 里不要出现具体估值承诺，一律写"拟"。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用途要和第三章的规划、第四章的预测对得上，三处数字不一样一定会被问。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公开挂牌期间对外口径要统一，指定唯一对接人，别多头对外。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0"/>
            <a:ext cx="4069080" cy="6858000"/>
          </a:xfrm>
          <a:prstGeom prst="rect">
            <a:avLst/>
          </a:prstGeom>
          <a:solidFill>
            <a:srgbClr val="0E3454"/>
          </a:solidFill>
          <a:ln/>
        </p:spPr>
      </p:sp>
      <p:sp>
        <p:nvSpPr>
          <p:cNvPr id="3" name="Shape 1"/>
          <p:cNvSpPr/>
          <p:nvPr/>
        </p:nvSpPr>
        <p:spPr>
          <a:xfrm>
            <a:off x="8732520" y="0"/>
            <a:ext cx="822960" cy="6858000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4" name="Shape 2"/>
          <p:cNvSpPr/>
          <p:nvPr/>
        </p:nvSpPr>
        <p:spPr>
          <a:xfrm>
            <a:off x="9829800" y="0"/>
            <a:ext cx="310896" cy="6858000"/>
          </a:xfrm>
          <a:prstGeom prst="rect">
            <a:avLst/>
          </a:prstGeom>
          <a:solidFill>
            <a:srgbClr val="5B93B8"/>
          </a:solidFill>
          <a:ln/>
        </p:spPr>
      </p:sp>
      <p:sp>
        <p:nvSpPr>
          <p:cNvPr id="5" name="Shape 3"/>
          <p:cNvSpPr/>
          <p:nvPr/>
        </p:nvSpPr>
        <p:spPr>
          <a:xfrm>
            <a:off x="10424160" y="0"/>
            <a:ext cx="128016" cy="6858000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488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3D6E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混合所有制改革引入战略投资者 · 材料编写指引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914400" y="3767328"/>
            <a:ext cx="1371600" cy="54864"/>
          </a:xfrm>
          <a:prstGeom prst="rect">
            <a:avLst/>
          </a:prstGeom>
          <a:solidFill>
            <a:srgbClr val="5B93B8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1148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8E4E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全篇 21 页，分五章：公司介绍 · 行业分析 · 发展规划 · 财务状况 · 融资方案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45262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8E4E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每一页告诉你：先准备哪些材料、这一页怎么写、要注意什么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14400" y="5623560"/>
            <a:ext cx="6949440" cy="0"/>
          </a:xfrm>
          <a:prstGeom prst="line">
            <a:avLst/>
          </a:prstGeom>
          <a:noFill/>
          <a:ln w="12700">
            <a:solidFill>
              <a:srgbClr val="2A547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57607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D6E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国泰海通证券投资银行部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146304" cy="45720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996696" y="420624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全篇大纲概览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96696" y="96926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先看公司，再看行业，然后看规划，最后看财务和融资。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1426464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737360"/>
            <a:ext cx="2046976" cy="8778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7" name="Text 5"/>
          <p:cNvSpPr/>
          <p:nvPr/>
        </p:nvSpPr>
        <p:spPr>
          <a:xfrm>
            <a:off x="850392" y="1819656"/>
            <a:ext cx="1717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D6E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0392" y="2075688"/>
            <a:ext cx="171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公司介绍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85800" y="2743200"/>
            <a:ext cx="2046976" cy="402336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2743200"/>
            <a:ext cx="45720" cy="40233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Text 9"/>
          <p:cNvSpPr/>
          <p:nvPr/>
        </p:nvSpPr>
        <p:spPr>
          <a:xfrm>
            <a:off x="832104" y="28163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52728" y="27980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公司概况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3200400"/>
            <a:ext cx="2046976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00400"/>
            <a:ext cx="45720" cy="402336"/>
          </a:xfrm>
          <a:prstGeom prst="rect">
            <a:avLst/>
          </a:prstGeom>
          <a:solidFill>
            <a:srgbClr val="DCE5EC"/>
          </a:solidFill>
          <a:ln/>
        </p:spPr>
      </p:sp>
      <p:sp>
        <p:nvSpPr>
          <p:cNvPr id="15" name="Text 13"/>
          <p:cNvSpPr/>
          <p:nvPr/>
        </p:nvSpPr>
        <p:spPr>
          <a:xfrm>
            <a:off x="832104" y="32735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52728" y="32552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管理团队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5800" y="3657600"/>
            <a:ext cx="2046976" cy="402336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" y="3657600"/>
            <a:ext cx="45720" cy="40233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9" name="Text 17"/>
          <p:cNvSpPr/>
          <p:nvPr/>
        </p:nvSpPr>
        <p:spPr>
          <a:xfrm>
            <a:off x="832104" y="37307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52728" y="37124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公司优势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85800" y="4114800"/>
            <a:ext cx="2046976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685800" y="4114800"/>
            <a:ext cx="45720" cy="402336"/>
          </a:xfrm>
          <a:prstGeom prst="rect">
            <a:avLst/>
          </a:prstGeom>
          <a:solidFill>
            <a:srgbClr val="DCE5EC"/>
          </a:solidFill>
          <a:ln/>
        </p:spPr>
      </p:sp>
      <p:sp>
        <p:nvSpPr>
          <p:cNvPr id="23" name="Text 21"/>
          <p:cNvSpPr/>
          <p:nvPr/>
        </p:nvSpPr>
        <p:spPr>
          <a:xfrm>
            <a:off x="832104" y="41879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252728" y="41696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主要产品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85800" y="4572000"/>
            <a:ext cx="2046976" cy="402336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6" name="Shape 24"/>
          <p:cNvSpPr/>
          <p:nvPr/>
        </p:nvSpPr>
        <p:spPr>
          <a:xfrm>
            <a:off x="685800" y="4572000"/>
            <a:ext cx="45720" cy="40233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27" name="Text 25"/>
          <p:cNvSpPr/>
          <p:nvPr/>
        </p:nvSpPr>
        <p:spPr>
          <a:xfrm>
            <a:off x="832104" y="46451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252728" y="46268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核心技术与研发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5800" y="5029200"/>
            <a:ext cx="2046976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685800" y="5029200"/>
            <a:ext cx="45720" cy="402336"/>
          </a:xfrm>
          <a:prstGeom prst="rect">
            <a:avLst/>
          </a:prstGeom>
          <a:solidFill>
            <a:srgbClr val="DCE5EC"/>
          </a:solidFill>
          <a:ln/>
        </p:spPr>
      </p:sp>
      <p:sp>
        <p:nvSpPr>
          <p:cNvPr id="31" name="Text 29"/>
          <p:cNvSpPr/>
          <p:nvPr/>
        </p:nvSpPr>
        <p:spPr>
          <a:xfrm>
            <a:off x="832104" y="51023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252728" y="50840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生产基地与产能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85800" y="5486400"/>
            <a:ext cx="2046976" cy="402336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4" name="Shape 32"/>
          <p:cNvSpPr/>
          <p:nvPr/>
        </p:nvSpPr>
        <p:spPr>
          <a:xfrm>
            <a:off x="685800" y="5486400"/>
            <a:ext cx="45720" cy="40233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35" name="Text 33"/>
          <p:cNvSpPr/>
          <p:nvPr/>
        </p:nvSpPr>
        <p:spPr>
          <a:xfrm>
            <a:off x="832104" y="55595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252728" y="55412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销售渠道与终端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2879080" y="1737360"/>
            <a:ext cx="2046976" cy="8778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8" name="Text 36"/>
          <p:cNvSpPr/>
          <p:nvPr/>
        </p:nvSpPr>
        <p:spPr>
          <a:xfrm>
            <a:off x="3043672" y="1819656"/>
            <a:ext cx="1717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D6E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043672" y="2075688"/>
            <a:ext cx="171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行业分析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2879080" y="2743200"/>
            <a:ext cx="2046976" cy="402336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41" name="Shape 39"/>
          <p:cNvSpPr/>
          <p:nvPr/>
        </p:nvSpPr>
        <p:spPr>
          <a:xfrm>
            <a:off x="2879080" y="2743200"/>
            <a:ext cx="45720" cy="40233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42" name="Text 40"/>
          <p:cNvSpPr/>
          <p:nvPr/>
        </p:nvSpPr>
        <p:spPr>
          <a:xfrm>
            <a:off x="3025384" y="28163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446008" y="27980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纳豆行业概况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2879080" y="3200400"/>
            <a:ext cx="2046976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2879080" y="3200400"/>
            <a:ext cx="45720" cy="402336"/>
          </a:xfrm>
          <a:prstGeom prst="rect">
            <a:avLst/>
          </a:prstGeom>
          <a:solidFill>
            <a:srgbClr val="DCE5EC"/>
          </a:solidFill>
          <a:ln/>
        </p:spPr>
      </p:sp>
      <p:sp>
        <p:nvSpPr>
          <p:cNvPr id="46" name="Text 44"/>
          <p:cNvSpPr/>
          <p:nvPr/>
        </p:nvSpPr>
        <p:spPr>
          <a:xfrm>
            <a:off x="3025384" y="32735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3446008" y="32552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日本市场与中国差距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2879080" y="3657600"/>
            <a:ext cx="2046976" cy="402336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49" name="Shape 47"/>
          <p:cNvSpPr/>
          <p:nvPr/>
        </p:nvSpPr>
        <p:spPr>
          <a:xfrm>
            <a:off x="2879080" y="3657600"/>
            <a:ext cx="45720" cy="40233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50" name="Text 48"/>
          <p:cNvSpPr/>
          <p:nvPr/>
        </p:nvSpPr>
        <p:spPr>
          <a:xfrm>
            <a:off x="3025384" y="37307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446008" y="37124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中国市场规模与增速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2879080" y="4114800"/>
            <a:ext cx="2046976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1"/>
          <p:cNvSpPr/>
          <p:nvPr/>
        </p:nvSpPr>
        <p:spPr>
          <a:xfrm>
            <a:off x="2879080" y="4114800"/>
            <a:ext cx="45720" cy="402336"/>
          </a:xfrm>
          <a:prstGeom prst="rect">
            <a:avLst/>
          </a:prstGeom>
          <a:solidFill>
            <a:srgbClr val="DCE5EC"/>
          </a:solidFill>
          <a:ln/>
        </p:spPr>
      </p:sp>
      <p:sp>
        <p:nvSpPr>
          <p:cNvPr id="54" name="Text 52"/>
          <p:cNvSpPr/>
          <p:nvPr/>
        </p:nvSpPr>
        <p:spPr>
          <a:xfrm>
            <a:off x="3025384" y="41879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446008" y="41696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保健食品行业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2879080" y="4572000"/>
            <a:ext cx="2046976" cy="402336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57" name="Shape 55"/>
          <p:cNvSpPr/>
          <p:nvPr/>
        </p:nvSpPr>
        <p:spPr>
          <a:xfrm>
            <a:off x="2879080" y="4572000"/>
            <a:ext cx="45720" cy="40233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58" name="Text 56"/>
          <p:cNvSpPr/>
          <p:nvPr/>
        </p:nvSpPr>
        <p:spPr>
          <a:xfrm>
            <a:off x="3025384" y="46451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446008" y="46268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行业地位与可比公司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5072360" y="1737360"/>
            <a:ext cx="2046976" cy="8778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61" name="Text 59"/>
          <p:cNvSpPr/>
          <p:nvPr/>
        </p:nvSpPr>
        <p:spPr>
          <a:xfrm>
            <a:off x="5236952" y="1819656"/>
            <a:ext cx="1717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D6E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236952" y="2075688"/>
            <a:ext cx="171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发展规划</a:t>
            </a:r>
            <a:endParaRPr lang="en-US" sz="1700" dirty="0"/>
          </a:p>
        </p:txBody>
      </p:sp>
      <p:sp>
        <p:nvSpPr>
          <p:cNvPr id="63" name="Shape 61"/>
          <p:cNvSpPr/>
          <p:nvPr/>
        </p:nvSpPr>
        <p:spPr>
          <a:xfrm>
            <a:off x="5072360" y="2743200"/>
            <a:ext cx="2046976" cy="402336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64" name="Shape 62"/>
          <p:cNvSpPr/>
          <p:nvPr/>
        </p:nvSpPr>
        <p:spPr>
          <a:xfrm>
            <a:off x="5072360" y="2743200"/>
            <a:ext cx="45720" cy="40233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65" name="Text 63"/>
          <p:cNvSpPr/>
          <p:nvPr/>
        </p:nvSpPr>
        <p:spPr>
          <a:xfrm>
            <a:off x="5218664" y="28163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5639288" y="27980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新品与产品线规划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5072360" y="3200400"/>
            <a:ext cx="2046976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Shape 66"/>
          <p:cNvSpPr/>
          <p:nvPr/>
        </p:nvSpPr>
        <p:spPr>
          <a:xfrm>
            <a:off x="5072360" y="3200400"/>
            <a:ext cx="45720" cy="402336"/>
          </a:xfrm>
          <a:prstGeom prst="rect">
            <a:avLst/>
          </a:prstGeom>
          <a:solidFill>
            <a:srgbClr val="DCE5EC"/>
          </a:solidFill>
          <a:ln/>
        </p:spPr>
      </p:sp>
      <p:sp>
        <p:nvSpPr>
          <p:cNvPr id="69" name="Text 67"/>
          <p:cNvSpPr/>
          <p:nvPr/>
        </p:nvSpPr>
        <p:spPr>
          <a:xfrm>
            <a:off x="5218664" y="32735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5639288" y="32552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产能与基地建设规划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5072360" y="3657600"/>
            <a:ext cx="2046976" cy="402336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72" name="Shape 70"/>
          <p:cNvSpPr/>
          <p:nvPr/>
        </p:nvSpPr>
        <p:spPr>
          <a:xfrm>
            <a:off x="5072360" y="3657600"/>
            <a:ext cx="45720" cy="40233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3" name="Text 71"/>
          <p:cNvSpPr/>
          <p:nvPr/>
        </p:nvSpPr>
        <p:spPr>
          <a:xfrm>
            <a:off x="5218664" y="37307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5639288" y="37124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渠道与市场拓展规划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5072360" y="4114800"/>
            <a:ext cx="2046976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6" name="Shape 74"/>
          <p:cNvSpPr/>
          <p:nvPr/>
        </p:nvSpPr>
        <p:spPr>
          <a:xfrm>
            <a:off x="5072360" y="4114800"/>
            <a:ext cx="45720" cy="402336"/>
          </a:xfrm>
          <a:prstGeom prst="rect">
            <a:avLst/>
          </a:prstGeom>
          <a:solidFill>
            <a:srgbClr val="DCE5EC"/>
          </a:solidFill>
          <a:ln/>
        </p:spPr>
      </p:sp>
      <p:sp>
        <p:nvSpPr>
          <p:cNvPr id="77" name="Text 75"/>
          <p:cNvSpPr/>
          <p:nvPr/>
        </p:nvSpPr>
        <p:spPr>
          <a:xfrm>
            <a:off x="5218664" y="41879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5639288" y="41696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上市规划</a:t>
            </a:r>
            <a:endParaRPr lang="en-US" sz="1150" dirty="0"/>
          </a:p>
        </p:txBody>
      </p:sp>
      <p:sp>
        <p:nvSpPr>
          <p:cNvPr id="79" name="Shape 77"/>
          <p:cNvSpPr/>
          <p:nvPr/>
        </p:nvSpPr>
        <p:spPr>
          <a:xfrm>
            <a:off x="7265640" y="1737360"/>
            <a:ext cx="2046976" cy="8778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80" name="Text 78"/>
          <p:cNvSpPr/>
          <p:nvPr/>
        </p:nvSpPr>
        <p:spPr>
          <a:xfrm>
            <a:off x="7430232" y="1819656"/>
            <a:ext cx="1717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D6E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7430232" y="2075688"/>
            <a:ext cx="171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财务状况</a:t>
            </a:r>
            <a:endParaRPr lang="en-US" sz="1700" dirty="0"/>
          </a:p>
        </p:txBody>
      </p:sp>
      <p:sp>
        <p:nvSpPr>
          <p:cNvPr id="82" name="Shape 80"/>
          <p:cNvSpPr/>
          <p:nvPr/>
        </p:nvSpPr>
        <p:spPr>
          <a:xfrm>
            <a:off x="7265640" y="2743200"/>
            <a:ext cx="2046976" cy="402336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83" name="Shape 81"/>
          <p:cNvSpPr/>
          <p:nvPr/>
        </p:nvSpPr>
        <p:spPr>
          <a:xfrm>
            <a:off x="7265640" y="2743200"/>
            <a:ext cx="45720" cy="40233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84" name="Text 82"/>
          <p:cNvSpPr/>
          <p:nvPr/>
        </p:nvSpPr>
        <p:spPr>
          <a:xfrm>
            <a:off x="7411944" y="28163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7832568" y="27980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近三年经营情况</a:t>
            </a:r>
            <a:endParaRPr lang="en-US" sz="1150" dirty="0"/>
          </a:p>
        </p:txBody>
      </p:sp>
      <p:sp>
        <p:nvSpPr>
          <p:cNvPr id="86" name="Shape 84"/>
          <p:cNvSpPr/>
          <p:nvPr/>
        </p:nvSpPr>
        <p:spPr>
          <a:xfrm>
            <a:off x="7265640" y="3200400"/>
            <a:ext cx="2046976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7265640" y="3200400"/>
            <a:ext cx="45720" cy="402336"/>
          </a:xfrm>
          <a:prstGeom prst="rect">
            <a:avLst/>
          </a:prstGeom>
          <a:solidFill>
            <a:srgbClr val="DCE5EC"/>
          </a:solidFill>
          <a:ln/>
        </p:spPr>
      </p:sp>
      <p:sp>
        <p:nvSpPr>
          <p:cNvPr id="88" name="Text 86"/>
          <p:cNvSpPr/>
          <p:nvPr/>
        </p:nvSpPr>
        <p:spPr>
          <a:xfrm>
            <a:off x="7411944" y="32735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7832568" y="32552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未来三年经营预测</a:t>
            </a:r>
            <a:endParaRPr lang="en-US" sz="1150" dirty="0"/>
          </a:p>
        </p:txBody>
      </p:sp>
      <p:sp>
        <p:nvSpPr>
          <p:cNvPr id="90" name="Shape 88"/>
          <p:cNvSpPr/>
          <p:nvPr/>
        </p:nvSpPr>
        <p:spPr>
          <a:xfrm>
            <a:off x="9458919" y="1737360"/>
            <a:ext cx="2046976" cy="8778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91" name="Text 89"/>
          <p:cNvSpPr/>
          <p:nvPr/>
        </p:nvSpPr>
        <p:spPr>
          <a:xfrm>
            <a:off x="9623511" y="1819656"/>
            <a:ext cx="1717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D6E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9623511" y="2075688"/>
            <a:ext cx="171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融资方案</a:t>
            </a:r>
            <a:endParaRPr lang="en-US" sz="1700" dirty="0"/>
          </a:p>
        </p:txBody>
      </p:sp>
      <p:sp>
        <p:nvSpPr>
          <p:cNvPr id="93" name="Shape 91"/>
          <p:cNvSpPr/>
          <p:nvPr/>
        </p:nvSpPr>
        <p:spPr>
          <a:xfrm>
            <a:off x="9458919" y="2743200"/>
            <a:ext cx="2046976" cy="402336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94" name="Shape 92"/>
          <p:cNvSpPr/>
          <p:nvPr/>
        </p:nvSpPr>
        <p:spPr>
          <a:xfrm>
            <a:off x="9458919" y="2743200"/>
            <a:ext cx="45720" cy="40233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95" name="Text 93"/>
          <p:cNvSpPr/>
          <p:nvPr/>
        </p:nvSpPr>
        <p:spPr>
          <a:xfrm>
            <a:off x="9605223" y="28163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96" name="Text 94"/>
          <p:cNvSpPr/>
          <p:nvPr/>
        </p:nvSpPr>
        <p:spPr>
          <a:xfrm>
            <a:off x="10025847" y="27980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本轮引战方案</a:t>
            </a:r>
            <a:endParaRPr lang="en-US" sz="1150" dirty="0"/>
          </a:p>
        </p:txBody>
      </p:sp>
      <p:sp>
        <p:nvSpPr>
          <p:cNvPr id="97" name="Shape 95"/>
          <p:cNvSpPr/>
          <p:nvPr/>
        </p:nvSpPr>
        <p:spPr>
          <a:xfrm>
            <a:off x="9458919" y="3200400"/>
            <a:ext cx="2046976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Shape 96"/>
          <p:cNvSpPr/>
          <p:nvPr/>
        </p:nvSpPr>
        <p:spPr>
          <a:xfrm>
            <a:off x="9458919" y="3200400"/>
            <a:ext cx="45720" cy="402336"/>
          </a:xfrm>
          <a:prstGeom prst="rect">
            <a:avLst/>
          </a:prstGeom>
          <a:solidFill>
            <a:srgbClr val="DCE5EC"/>
          </a:solidFill>
          <a:ln/>
        </p:spPr>
      </p:sp>
      <p:sp>
        <p:nvSpPr>
          <p:cNvPr id="99" name="Text 97"/>
          <p:cNvSpPr/>
          <p:nvPr/>
        </p:nvSpPr>
        <p:spPr>
          <a:xfrm>
            <a:off x="9605223" y="32735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10025847" y="32552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募集资金用途</a:t>
            </a:r>
            <a:endParaRPr lang="en-US" sz="1150" dirty="0"/>
          </a:p>
        </p:txBody>
      </p:sp>
      <p:sp>
        <p:nvSpPr>
          <p:cNvPr id="101" name="Shape 99"/>
          <p:cNvSpPr/>
          <p:nvPr/>
        </p:nvSpPr>
        <p:spPr>
          <a:xfrm>
            <a:off x="9458919" y="3657600"/>
            <a:ext cx="2046976" cy="402336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458919" y="3657600"/>
            <a:ext cx="45720" cy="40233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03" name="Text 101"/>
          <p:cNvSpPr/>
          <p:nvPr/>
        </p:nvSpPr>
        <p:spPr>
          <a:xfrm>
            <a:off x="9605223" y="37307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104" name="Text 102"/>
          <p:cNvSpPr/>
          <p:nvPr/>
        </p:nvSpPr>
        <p:spPr>
          <a:xfrm>
            <a:off x="10025847" y="3712464"/>
            <a:ext cx="135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联系方式</a:t>
            </a:r>
            <a:endParaRPr lang="en-US" sz="1150" dirty="0"/>
          </a:p>
        </p:txBody>
      </p:sp>
      <p:sp>
        <p:nvSpPr>
          <p:cNvPr id="105" name="Text 103"/>
          <p:cNvSpPr/>
          <p:nvPr/>
        </p:nvSpPr>
        <p:spPr>
          <a:xfrm>
            <a:off x="685800" y="603504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全篇 21 页 · 五章 · 每页均给出所需材料、写法与注意事项</a:t>
            </a:r>
            <a:endParaRPr lang="en-US" sz="1200" dirty="0"/>
          </a:p>
        </p:txBody>
      </p:sp>
      <p:sp>
        <p:nvSpPr>
          <p:cNvPr id="106" name="Shape 104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/ 27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Shape 1"/>
          <p:cNvSpPr/>
          <p:nvPr/>
        </p:nvSpPr>
        <p:spPr>
          <a:xfrm>
            <a:off x="4480560" y="0"/>
            <a:ext cx="109728" cy="6858000"/>
          </a:xfrm>
          <a:prstGeom prst="rect">
            <a:avLst/>
          </a:prstGeom>
          <a:solidFill>
            <a:srgbClr val="5B93B8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28600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B507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914400" y="41605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3D6E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212080" y="251460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公司介绍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212080" y="3977640"/>
            <a:ext cx="1097280" cy="45720"/>
          </a:xfrm>
          <a:prstGeom prst="rect">
            <a:avLst/>
          </a:prstGeom>
          <a:solidFill>
            <a:srgbClr val="5B93B8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0" y="429768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596128" y="4297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公司概况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503920" y="429768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887968" y="4297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管理团队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0" y="477316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596128" y="477316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公司优势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503920" y="477316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887968" y="477316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主要产品（每个独立产品开一页）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212080" y="524865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596128" y="52486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核心技术与研发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03920" y="524865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887968" y="52486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生产基地与产能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57241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596128" y="572414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销售渠道与终端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公司概况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这页说清楚：公司做什么、多大规模等基本信息。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10820095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10820095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1027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10161727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左边一段简介，200 字以内：哪年成立、燕京啤酒控股、做纳豆生物发酵、主要产品、多少人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适当配图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6" name="Text 14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财务数字对外统一使用概数，口径先在公司内部定死，各页、各版本保持一致。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03 / 27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管理团队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这页说清楚：公司核心管理层情况。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4114800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4114800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345643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核心高管 4—6 人的简历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每人的学历、以前在哪家单位、什么职位、干了几年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56632" y="1627632"/>
            <a:ext cx="6449263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6632" y="1627632"/>
            <a:ext cx="6449263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056632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7" name="Text 15"/>
          <p:cNvSpPr/>
          <p:nvPr/>
        </p:nvSpPr>
        <p:spPr>
          <a:xfrm>
            <a:off x="5385816" y="1673352"/>
            <a:ext cx="59006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85816" y="2194560"/>
            <a:ext cx="5790895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一页放 4—6 个人，每人一小块：照片、姓名、职务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每人写 2—3 条：学历、以前在燕京体系或同行业做什么、在这行干了多少年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有食品发酵、保健品注册、快消渠道背景的重点写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只写履历事实，不写"经验丰富""开拓创新"这类评价。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04 / 27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公司优势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这页说清楚：公司核心优势。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4114800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4114800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345643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蓝帽子（保健食品注册）批文清单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菌种专利、发明专利证书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GMP 车间和生产许可资质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燕京商标的使用授权文件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56632" y="1627632"/>
            <a:ext cx="6449263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6632" y="1627632"/>
            <a:ext cx="6449263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056632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7" name="Text 15"/>
          <p:cNvSpPr/>
          <p:nvPr/>
        </p:nvSpPr>
        <p:spPr>
          <a:xfrm>
            <a:off x="5385816" y="1673352"/>
            <a:ext cx="59006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85816" y="2194560"/>
            <a:ext cx="5790895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分四块，每块一句话加一个证据：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品牌背书——燕京啤酒控股、国企信用；菌种与配方——专利多少项、菌种什么来源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生产资质——蓝帽子几个、GMP 产线几条；渠道——经销网络的覆盖范围与下沉能力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每块下面放证书缩略图或一个关键数字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燕京品牌是重要背书，正常呈现即可；商标授权期限一类的细节不在 BP 中展开。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05 / 27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主要产品（每个独立产品开一页）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这页说清楚：公司的核心产品、各产生多少营业额度。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4114800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4114800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345643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产品目录、规格、终端价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去年各产品线的销售额和占比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每个单品对应的批文或备案情况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56632" y="1627632"/>
            <a:ext cx="6449263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6632" y="1627632"/>
            <a:ext cx="6449263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056632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7" name="Text 15"/>
          <p:cNvSpPr/>
          <p:nvPr/>
        </p:nvSpPr>
        <p:spPr>
          <a:xfrm>
            <a:off x="5385816" y="1673352"/>
            <a:ext cx="59006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这一部分这样写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85816" y="2194560"/>
            <a:ext cx="5790895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按产品线分组：例如纳豆胶囊、多肽及其他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每组挑主要单品，配产品图，图下写：规格、终端价、去年销量或销售额、有没有蓝帽子以及产品的基本信息（如特点，功效和优势）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右侧放一个饼图：各产品线收入占比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一页最多 8 个单品。在售的和在研的分开标，别混在一起。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06 / 27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核心技术与研发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这页说清楚：核心技术、以及相关的证据（专利）。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4114800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4114800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345643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功效试验数据、第三方检测报告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公开发表的研究文献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专利清单、菌种来源证明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56632" y="1627632"/>
            <a:ext cx="6449263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6632" y="1627632"/>
            <a:ext cx="6449263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056632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7" name="Text 15"/>
          <p:cNvSpPr/>
          <p:nvPr/>
        </p:nvSpPr>
        <p:spPr>
          <a:xfrm>
            <a:off x="5385816" y="1673352"/>
            <a:ext cx="59006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85816" y="2194560"/>
            <a:ext cx="5790895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左边三栏写三大功效：溶栓、肠道免疫、降压护血管，每栏写清是哪个成分起作用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每条功效后面挂证据：哪个机构做的研究、什么结论、什么时候发表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右边列核心专利：名称、专利号、授权时间；菌种来源单独写一行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功效表述受《广告法》和保健食品标签规范约束，只能写批文核准的功能，不能自己扩大。文献结论要注明出处，不要写成公司自己的结论。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07 / 27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生产基地与产能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这页说清楚：生产基地位置、产能情况。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4114800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4114800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345643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生产许可证、GMP 相关文件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产能规模与产品线布局情况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扩产方案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56632" y="1627632"/>
            <a:ext cx="6449263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6632" y="1627632"/>
            <a:ext cx="6449263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056632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7" name="Text 15"/>
          <p:cNvSpPr/>
          <p:nvPr/>
        </p:nvSpPr>
        <p:spPr>
          <a:xfrm>
            <a:off x="5385816" y="1673352"/>
            <a:ext cx="59006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85816" y="2194560"/>
            <a:ext cx="5790895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左边：基地位置、占地面积、车间等级、主要设备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中间：产能规模与产品线布局，用概数呈现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右边：扩产计划——新增产能规模、预计投产时间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配 2—3 张车间实拍照片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产能数据用概数，利用率、良品率一类的明细不在 BP 中提供，留待投资机构尽调。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08 / 27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销售渠道与终端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这页说清楚：公司经销体系的整体布局和优势。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4114800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4114800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345643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渠道类型构成（经销、直销、电商）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销售网络的覆盖区域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主要销售平台与合作情况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56632" y="1627632"/>
            <a:ext cx="6449263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6632" y="1627632"/>
            <a:ext cx="6449263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056632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7" name="Text 15"/>
          <p:cNvSpPr/>
          <p:nvPr/>
        </p:nvSpPr>
        <p:spPr>
          <a:xfrm>
            <a:off x="5385816" y="1673352"/>
            <a:ext cx="59006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85816" y="2194560"/>
            <a:ext cx="5790895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一句话说清渠道结构：以经销为主，直销与电商为辅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配一张中国地图或示意图，体现销售网络的覆盖范围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突出体系优势：多层级经销网络、下沉能力、与主流电商平台的合作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线上部分只讲平台布局，不列具体销量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只呈现体系布局与优势。经销商名单、各渠道收入占比等明细不在 BP 中提供。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09 / 27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Shape 1"/>
          <p:cNvSpPr/>
          <p:nvPr/>
        </p:nvSpPr>
        <p:spPr>
          <a:xfrm>
            <a:off x="4480560" y="0"/>
            <a:ext cx="109728" cy="6858000"/>
          </a:xfrm>
          <a:prstGeom prst="rect">
            <a:avLst/>
          </a:prstGeom>
          <a:solidFill>
            <a:srgbClr val="5B93B8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28600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B507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914400" y="41605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3D6E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212080" y="251460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行业分析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212080" y="3474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行业规模、未来发展、我们公司所处的行业地位。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212080" y="3977640"/>
            <a:ext cx="1097280" cy="45720"/>
          </a:xfrm>
          <a:prstGeom prst="rect">
            <a:avLst/>
          </a:prstGeom>
          <a:solidFill>
            <a:srgbClr val="5B93B8"/>
          </a:solidFill>
          <a:ln/>
        </p:spPr>
      </p:sp>
      <p:sp>
        <p:nvSpPr>
          <p:cNvPr id="9" name="Text 7"/>
          <p:cNvSpPr/>
          <p:nvPr/>
        </p:nvSpPr>
        <p:spPr>
          <a:xfrm>
            <a:off x="5212080" y="429768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596128" y="4297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纳豆行业概况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503920" y="429768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87968" y="4297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日本市场与中国差距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12080" y="477316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596128" y="477316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中国市场规模与增速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03920" y="477316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887968" y="477316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保健食品行业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0" y="524865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596128" y="52486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行业地位与可比公司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纳豆行业概况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这页说清楚：所处行业概况、核心产品功效和对应消费群体。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　行业分析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4114800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4114800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345643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功效研究资料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目标人群规模数据（心血管、高血压等患者数）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数据的出处和发布年份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56632" y="1627632"/>
            <a:ext cx="6449263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6632" y="1627632"/>
            <a:ext cx="6449263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056632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7" name="Text 15"/>
          <p:cNvSpPr/>
          <p:nvPr/>
        </p:nvSpPr>
        <p:spPr>
          <a:xfrm>
            <a:off x="5385816" y="1673352"/>
            <a:ext cx="59006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85816" y="2194560"/>
            <a:ext cx="5790895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上半页三栏写三大功效：每栏写清什么成分、起什么作用、有哪条研究支持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下半页写对应人群有多少：心血管病患者多少、高血压患者多少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每个数字下面标出处和年份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人群规模是"潜在人群"，不是你的客户。别直接拿人数乘单价当成自己的市场。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　11 / 27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日本市场与中国差距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这页说清楚：该品类在成熟市场能做多大。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　行业分析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4114800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4114800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345643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日本市场规模、人均消费、代表企业数据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中国渗透率、消费者认知度数据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56632" y="1627632"/>
            <a:ext cx="6449263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6632" y="1627632"/>
            <a:ext cx="6449263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056632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7" name="Text 15"/>
          <p:cNvSpPr/>
          <p:nvPr/>
        </p:nvSpPr>
        <p:spPr>
          <a:xfrm>
            <a:off x="5385816" y="1673352"/>
            <a:ext cx="59006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85816" y="2194560"/>
            <a:ext cx="5790895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左边日本：市场规模、人均一年吃多少、代表企业营收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右边中国：渗透率多少、了解纳豆功效的消费者比例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中间用一个数字点题，比如中国渗透率大约是日本的几分之一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每个数字标来源和年份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两国数据口径常常不同（含不含保健食品、按零售额还是出厂额），要在图下写清楚，不能混着比。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　12 / 27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中国市场规模与增速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这页说清楚：国内市场有多大、增长速度快不快。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　行业分析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4114800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4114800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345643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行业报告、协会数据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电商平台的品类数据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公司自己的销售额（用来算份额）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56632" y="1627632"/>
            <a:ext cx="6449263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6632" y="1627632"/>
            <a:ext cx="6449263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056632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7" name="Text 15"/>
          <p:cNvSpPr/>
          <p:nvPr/>
        </p:nvSpPr>
        <p:spPr>
          <a:xfrm>
            <a:off x="5385816" y="1673352"/>
            <a:ext cx="59006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85816" y="2194560"/>
            <a:ext cx="5790895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柱状图：近几年中国纳豆市场规模，柱子上标同比增速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旁边写预测：哪一年到多少、复合增速多少，注明预测来自哪家机构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下面一行写公司自己占多少份额，把算法写出来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图下必须写"数据来源：某机构某报告，某年发布"。自己测算的份额要能让人复算一遍。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　13 / 27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保健食品行业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这页说清楚：纳豆背后的保健食品行业有多大。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　行业分析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4114800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4114800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345643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保健品（膳食营养补充剂）市场规模和预测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人均消费的国际对比数据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56632" y="1627632"/>
            <a:ext cx="6449263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6632" y="1627632"/>
            <a:ext cx="6449263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056632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7" name="Text 15"/>
          <p:cNvSpPr/>
          <p:nvPr/>
        </p:nvSpPr>
        <p:spPr>
          <a:xfrm>
            <a:off x="5385816" y="1673352"/>
            <a:ext cx="59006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85816" y="2194560"/>
            <a:ext cx="5790895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左边：中国保健品市场规模和未来预测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右边：人均消费柱状图，中国和日、韩、美对比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下面两条趋势各一句话：需求从基础营养转向特定功效；兴趣电商成为新的增长渠道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这页是背景，控制在一页，别喧宾夺主。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　14 / 27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行业地位与可比公司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这页说清楚：我们在行业里排第几、同类公司市场价值。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　行业分析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4114800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4114800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345643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主要竞品名单和公开资料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可比上市公司的营收、利润、市值、市盈率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取数日期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56632" y="1627632"/>
            <a:ext cx="6449263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6632" y="1627632"/>
            <a:ext cx="6449263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056632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7" name="Text 15"/>
          <p:cNvSpPr/>
          <p:nvPr/>
        </p:nvSpPr>
        <p:spPr>
          <a:xfrm>
            <a:off x="5385816" y="1673352"/>
            <a:ext cx="59006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85816" y="2194560"/>
            <a:ext cx="5790895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上半页竞品对比表：公司名、主要产品、渠道、大致规模、有没有蓝帽子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下半页可比上市公司表：证券代码、主营、去年营收、净利润、总市值、市盈率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最后一行放燕京中发的同口径数据，用另一个颜色标出来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可比公司挑做法接近的健康食品上市公司，别只按行业分类硬凑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这张表投资人会直接拿来给你算价格。选谁进表、用哪一天的市值，先想清楚，并在表下注明日期。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　15 / 27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Shape 1"/>
          <p:cNvSpPr/>
          <p:nvPr/>
        </p:nvSpPr>
        <p:spPr>
          <a:xfrm>
            <a:off x="4480560" y="0"/>
            <a:ext cx="109728" cy="6858000"/>
          </a:xfrm>
          <a:prstGeom prst="rect">
            <a:avLst/>
          </a:prstGeom>
          <a:solidFill>
            <a:srgbClr val="5B93B8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28600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B507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914400" y="41605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3D6E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212080" y="251460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发展规划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212080" y="3474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讲未来发展规划（强调公司潜力）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212080" y="3977640"/>
            <a:ext cx="1097280" cy="45720"/>
          </a:xfrm>
          <a:prstGeom prst="rect">
            <a:avLst/>
          </a:prstGeom>
          <a:solidFill>
            <a:srgbClr val="5B93B8"/>
          </a:solidFill>
          <a:ln/>
        </p:spPr>
      </p:sp>
      <p:sp>
        <p:nvSpPr>
          <p:cNvPr id="9" name="Text 7"/>
          <p:cNvSpPr/>
          <p:nvPr/>
        </p:nvSpPr>
        <p:spPr>
          <a:xfrm>
            <a:off x="5212080" y="429768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596128" y="4297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新品与产品线规划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503920" y="429768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87968" y="4297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产能与基地建设规划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12080" y="477316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596128" y="477316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渠道与市场拓展规划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03920" y="477316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887968" y="477316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上市规划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新品与产品线规划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这页说清楚：未来三年还要上什么产品。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　发展规划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4114800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4114800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345643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在研产品清单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批文申报进度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新品上市计划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56632" y="1627632"/>
            <a:ext cx="6449263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6632" y="1627632"/>
            <a:ext cx="6449263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056632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7" name="Text 15"/>
          <p:cNvSpPr/>
          <p:nvPr/>
        </p:nvSpPr>
        <p:spPr>
          <a:xfrm>
            <a:off x="5385816" y="1673352"/>
            <a:ext cx="59006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85816" y="2194560"/>
            <a:ext cx="5790895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上半页画一条产品线延伸图：现在卖什么 → 明年上什么 → 后年上什么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下半页列在研产品表：产品名、现在到哪一步（配方研发 / 中试 / 批文申报 / 待上市）、预计上市时间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批文申报时间要按主管部门实际审批周期估。写一个自己解释不了的时间点，比不写更糟。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　17 / 27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产能与基地建设规划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这页说清楚：产能怎么扩、什么时候投产。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　发展规划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4114800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4114800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345643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扩产方案和投资预算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建设进度表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56632" y="1627632"/>
            <a:ext cx="6449263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6632" y="1627632"/>
            <a:ext cx="6449263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056632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7" name="Text 15"/>
          <p:cNvSpPr/>
          <p:nvPr/>
        </p:nvSpPr>
        <p:spPr>
          <a:xfrm>
            <a:off x="5385816" y="1673352"/>
            <a:ext cx="59006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85816" y="2194560"/>
            <a:ext cx="5790895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左边现有产能，右边规划产能，中间标新增多少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分项列：新建或改造车间、设备投入、预计投资额、建设周期、什么时候达产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这里的投资额，要和第五章的资金用途、第四章的财务预测三处完全一致。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　18 / 27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渠道与市场拓展规划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这页说清楚：未来怎么把销量做上去。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　发展规划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4114800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4114800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345643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渠道拓展计划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线上投放计划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新市场开拓计划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56632" y="1627632"/>
            <a:ext cx="6449263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6632" y="1627632"/>
            <a:ext cx="6449263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056632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7" name="Text 15"/>
          <p:cNvSpPr/>
          <p:nvPr/>
        </p:nvSpPr>
        <p:spPr>
          <a:xfrm>
            <a:off x="5385816" y="1673352"/>
            <a:ext cx="59006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85816" y="2194560"/>
            <a:ext cx="5790895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分三块写：经销网络（新增多少家、进哪些区域）、终端（从多少家到多少家）、线上（哪些平台、目标增速）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每块给出目标数字和时间点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目标要能验收。"加大市场投入""持续拓展渠道"这种话别写。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　19 / 27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上市规划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这页说清楚：公司的上市安排到哪一步了。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　发展规划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4114800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4114800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345643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已确定的上市时间表节点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北交所上市条件的对应情况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56632" y="1627632"/>
            <a:ext cx="6449263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6632" y="1627632"/>
            <a:ext cx="6449263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056632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7" name="Text 15"/>
          <p:cNvSpPr/>
          <p:nvPr/>
        </p:nvSpPr>
        <p:spPr>
          <a:xfrm>
            <a:off x="5385816" y="1673352"/>
            <a:ext cx="59006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85816" y="2194560"/>
            <a:ext cx="5790895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画一条时间轴：混改引战 → 股份制改造 → 新三板挂牌 → 辅导备案 → 提交 IPO 申请 → 上市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每个节点标计划时间（年月）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下面一句话说明：对应北交所哪一套上市标准、公司预计怎么满足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只写计划和条件的对应关系。不承诺一定能上、不承诺时间、不承诺回报，并在页脚注明进度受监管节奏影响。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　20 / 27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Shape 1"/>
          <p:cNvSpPr/>
          <p:nvPr/>
        </p:nvSpPr>
        <p:spPr>
          <a:xfrm>
            <a:off x="4480560" y="0"/>
            <a:ext cx="109728" cy="6858000"/>
          </a:xfrm>
          <a:prstGeom prst="rect">
            <a:avLst/>
          </a:prstGeom>
          <a:solidFill>
            <a:srgbClr val="5B93B8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28600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B507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914400" y="41605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3D6E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212080" y="251460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财务状况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212080" y="3474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过往财务关键信息，未来预测财务信息。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212080" y="3977640"/>
            <a:ext cx="1097280" cy="45720"/>
          </a:xfrm>
          <a:prstGeom prst="rect">
            <a:avLst/>
          </a:prstGeom>
          <a:solidFill>
            <a:srgbClr val="5B93B8"/>
          </a:solidFill>
          <a:ln/>
        </p:spPr>
      </p:sp>
      <p:sp>
        <p:nvSpPr>
          <p:cNvPr id="9" name="Text 7"/>
          <p:cNvSpPr/>
          <p:nvPr/>
        </p:nvSpPr>
        <p:spPr>
          <a:xfrm>
            <a:off x="5212080" y="429768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596128" y="4297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近三年经营情况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503920" y="429768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87968" y="4297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未来三年经营预测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近三年经营情况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这页说清楚：这几年营业额和利润是多少。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　财务状况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4114800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4114800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345643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近三年营业收入、净利润数据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经营活动现金流情况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56632" y="1627632"/>
            <a:ext cx="6449263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6632" y="1627632"/>
            <a:ext cx="6449263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056632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7" name="Text 15"/>
          <p:cNvSpPr/>
          <p:nvPr/>
        </p:nvSpPr>
        <p:spPr>
          <a:xfrm>
            <a:off x="5385816" y="1673352"/>
            <a:ext cx="59006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85816" y="2194560"/>
            <a:ext cx="5790895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柱状图：营业收入和净利润放一起，数字直接标在柱子上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金额一律用概数，例如 1.5556 亿元写成 1.5 亿元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下面一行写毛利率、净利率等主要指标，同样用概数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同一个数字在各页、各版本要一致。BP 会在市场上流传，宁可少写，不可写错。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　22 / 27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未来三年经营预测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这页说清楚：未来三年的发展预期，以及相关证据。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　财务状况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4114800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4114800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345643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预测测算底表（内部留存，不放进 BP）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在手订单情况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新增产能的投产时间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56632" y="1627632"/>
            <a:ext cx="6449263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6632" y="1627632"/>
            <a:ext cx="6449263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056632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7" name="Text 15"/>
          <p:cNvSpPr/>
          <p:nvPr/>
        </p:nvSpPr>
        <p:spPr>
          <a:xfrm>
            <a:off x="5385816" y="1673352"/>
            <a:ext cx="59006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85816" y="2194560"/>
            <a:ext cx="5790895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柱状图：历史和预测放在一起，用不同颜色区分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下面列核心假设：产能与达产进度、主要产品单价、各产品线增速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核心假设要写成可复算的测算式，例如：预测收入 = 设计产能 × 达产率 × 单价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每条假设后面写清依据：靠新产能、靠新品上市，还是靠市场拓展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测算底表在公司内部留存备查，BP 上只放测算式与结果。预测增速明显高于历史的，在同一页说明支撑因素。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　23 / 27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Shape 1"/>
          <p:cNvSpPr/>
          <p:nvPr/>
        </p:nvSpPr>
        <p:spPr>
          <a:xfrm>
            <a:off x="4480560" y="0"/>
            <a:ext cx="109728" cy="6858000"/>
          </a:xfrm>
          <a:prstGeom prst="rect">
            <a:avLst/>
          </a:prstGeom>
          <a:solidFill>
            <a:srgbClr val="5B93B8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28600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B507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914400" y="41605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3D6E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212080" y="251460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融资方案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212080" y="3977640"/>
            <a:ext cx="1097280" cy="45720"/>
          </a:xfrm>
          <a:prstGeom prst="rect">
            <a:avLst/>
          </a:prstGeom>
          <a:solidFill>
            <a:srgbClr val="5B93B8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0" y="429768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596128" y="4297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本轮引战方案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503920" y="429768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887968" y="4297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募集资金用途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0" y="477316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596128" y="477316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联系方式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本轮引战方案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这页说清楚：融资方案。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　融资方案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4114800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4114800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345643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混改方案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清产核资专项审计报告和评估报告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拟引战比例、员工持股方案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56632" y="1627632"/>
            <a:ext cx="6449263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6632" y="1627632"/>
            <a:ext cx="6449263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056632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7" name="Text 15"/>
          <p:cNvSpPr/>
          <p:nvPr/>
        </p:nvSpPr>
        <p:spPr>
          <a:xfrm>
            <a:off x="5385816" y="1673352"/>
            <a:ext cx="59006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85816" y="2194560"/>
            <a:ext cx="5790895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三行写清：拟引入资金规模、拟出让比例、定价依据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定价一律写"以经核准或备案的评估结果为准"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写明交易方式：通过北京产权交易所公开挂牌，公告 40 个工作日，遴选投资方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写明战投持股不低于 10%、可推荐董事；员工持股同步实施、与战投同股同价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国资混改的价格不能自己定。BP 里不要出现具体估值承诺，一律写"拟"。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　25 / 27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募集资金用途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这页说清楚：募资目的。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　融资方案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4114800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4114800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345643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各用途的预算明细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产能建设、研发、渠道投入的分项方案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56632" y="1627632"/>
            <a:ext cx="6449263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6632" y="1627632"/>
            <a:ext cx="6449263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056632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7" name="Text 15"/>
          <p:cNvSpPr/>
          <p:nvPr/>
        </p:nvSpPr>
        <p:spPr>
          <a:xfrm>
            <a:off x="5385816" y="1673352"/>
            <a:ext cx="59006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85816" y="2194560"/>
            <a:ext cx="5790895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饼图分项：产能建设、新品研发与批文申报、渠道与品牌投入、补充流动资金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每项标金额和比例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每项配一句话：具体干什么、什么时候用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用途要和第三章的规划、第四章的预测对得上，三处数字不一样一定会被问。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　26 / 27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76656" cy="676656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84632"/>
            <a:ext cx="676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40233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联系方式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554480" y="86868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这页说清楚：对接人信息。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71255" y="457200"/>
            <a:ext cx="2834640" cy="36576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7" name="Text 5"/>
          <p:cNvSpPr/>
          <p:nvPr/>
        </p:nvSpPr>
        <p:spPr>
          <a:xfrm>
            <a:off x="8671255" y="566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　融资方案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5875">
            <a:solidFill>
              <a:srgbClr val="DC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27632"/>
            <a:ext cx="4114800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27632"/>
            <a:ext cx="4114800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14984" y="1673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14984" y="2194560"/>
            <a:ext cx="345643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指定的对外对接人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56632" y="1627632"/>
            <a:ext cx="6449263" cy="395020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6632" y="1627632"/>
            <a:ext cx="6449263" cy="420624"/>
          </a:xfrm>
          <a:prstGeom prst="rect">
            <a:avLst/>
          </a:prstGeom>
          <a:solidFill>
            <a:srgbClr val="C3D6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056632" y="1627632"/>
            <a:ext cx="146304" cy="420624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17" name="Text 15"/>
          <p:cNvSpPr/>
          <p:nvPr/>
        </p:nvSpPr>
        <p:spPr>
          <a:xfrm>
            <a:off x="5385816" y="1673352"/>
            <a:ext cx="59006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85816" y="2194560"/>
            <a:ext cx="5790895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公司名称、地址、联系人、职务、电话、邮箱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B9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</a:t>
            </a:r>
            <a:pPr indent="0" marL="0">
              <a:lnSpc>
                <a:spcPct val="12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加一句："本材料仅供评估本次混合所有制改革引入战略投资者使用"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760720"/>
            <a:ext cx="10820095" cy="6400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760720"/>
            <a:ext cx="128016" cy="640080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984" y="5833872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公开挂牌期间对外口径要统一，指定唯一对接人，别多头对外。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510528"/>
            <a:ext cx="10820095" cy="0"/>
          </a:xfrm>
          <a:prstGeom prst="line">
            <a:avLst/>
          </a:prstGeom>
          <a:noFill/>
          <a:ln w="12700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48295" y="6547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07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　27 / 27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2026-08-23T04:37:37Z</dcterms:created>
  <dcterms:modified xsi:type="dcterms:W3CDTF">2026-08-23T04:37:37Z</dcterms:modified>
</cp:coreProperties>
</file>