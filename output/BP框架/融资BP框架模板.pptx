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封面那句定位是全篇最重要的一句，整篇写完后回头再改一遍。不要用"领先的""创新型"开头。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这页最后写。全篇关键数字在这里出现一次，且与后文完全一致。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时间轴上只放能被文件证明的节点，口头意向不进时间轴。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不要用全球总规模代替可触达市场。给出测算过程（单价×数量×可覆盖比例），要能被复算。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痛点用客户的语言和客户的数字写，不要用行业综述代替。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技术指标注明测试条件与出处，优先用第三方检测报告。不写无法验证的"国内领先"。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单位经济模型每个数字都要能和财务报表的成本科目对上。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未签约客户不写名称，写"国内前三的某类厂商（已完成送样验证）"。夸大客户关系是尽调最常见的翻车点。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不要写"我们没有竞争对手"。对手写得越清楚，越说明对行业理解到位。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扩产计划、资金用途、财务预测三处数字必须一致。软件与服务类企业可并入商业模式，但要补交付与实施能力。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每个预测数字要能追到一条假设，每条假设要能追到已发生的事实。未经审计必须标注。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节点与融资用途、财务预测一一对应。"持续拓展市场"这类没有完成标准的节点等于没写。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团队页写履历事实，不写评价。历史估值会被拿来对照本轮估值，提前想好解释。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估值依据要能被复算。资本路径只写板块与条件的对应关系，不承诺时间，不承诺回报。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正文页面保持干净，证据全部放附录，正文用一句话指向附录页码。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这一页可以打印出来，定稿前逐条对。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01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封面与保密声明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这是谁、要做什么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公司全称、标识、材料日期与版本号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一句话业务定位（≤25字：做什么产品、给谁用）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本轮融资意向：轮次与拟融资金额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联系人、职务与联系方式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保密声明：仅供评估本次投资使用，未经书面同意不得复制转发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注意：封面那句定位是全篇最重要的一句，整篇写完后回头再改一遍。不要用"领先的""创新型"开头。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02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核心摘要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只看一页应该记住什么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公司做什么：产品、客户、应用场景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做到什么程度：3—5 个关键经营数据（收入、客户数、在手订单、产能、资质）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为什么是现在：政策、技术切换、国产替代、客户导入窗口，各给时间点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本轮融资金额与主要用途，一句话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注意：这页最后写。全篇关键数字在这里出现一次，且与后文完全一致。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03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公司概况与发展沿革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这家公司什么来历、走到哪一步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成立时间、注册地、注册资本与实缴、员工人数及研发/生产/销售结构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主营业务与主要产品线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发展历程时间轴：成立、产品定型、首个客户、产线投产、资质取得、历轮融资（标到年月）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主要资质与认证：名称、发证机构、取得时间、有效期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注意：时间轴上只放能被文件证明的节点，口头意向不进时间轴。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04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2—3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行业与市场空间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天花板在哪、由什么驱动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产业链图，标出公司所处环节、上游供应商与下游客户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市场规模与增速：注明统计对象/地域/品类/时间四个口径，写明机构与发布时间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驱动因素：政策文件名与发文时间、下游需求变化、技术路线切换、替代空间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细分赛道选择理由：为什么做这个细分而不是相邻的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注意：不要用全球总规模代替可触达市场。给出测算过程（单价×数量×可覆盖比例），要能被复算。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05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客户痛点与解决方案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谁在为什么问题付钱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客户是谁：哪个行业、哪类企业、哪个部门做采购决策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现在怎么解决、成本与缺陷：良率、能耗、工时、单价、交期、故障率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公司方案改善了哪个指标、改善多少：给前后对比数据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客户为什么愿意换：更换成本、验证周期与收益比较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注意：痛点用客户的语言和客户的数字写，不要用行业综述代替。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06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2—3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产品与技术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做成什么样、凭什么别人做不出来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产品矩阵：型号规格、应用场景、量产状态（在研/送样/小批/量产）、价格区间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核心技术指标对比：自身 / 主要竞品 / 行业标准，同口径同测试条件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知识产权：专利数量；核心专利名称、授权号、授权时间、剩余保护期；申请中单独标注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研发体系：人员数量与背景、研发投入及占收入比、测试设备、院校合作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技术路线判断：主流有哪几条、公司选哪条、理由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注意：技术指标注明测试条件与出处，优先用第三方检测报告。不写无法验证的"国内领先"。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07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商业模式与盈利能力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怎么赚钱、一单赚多少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收入模式：设备销售 / 耗材复购 / 服务费 / 授权费各自占比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定价逻辑与客户端价值：客户用了省多少钱或多赚多少钱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单位经济模型：单台（单吨/单套）售价、直接材料、直接人工、制造费用、毛利率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获客方式与销售周期：直销/代理/招投标，接触到首单的平均周期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客户结构与集中度：前五大客户占比及变化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注意：单位经济模型每个数字都要能和财务报表的成本科目对上。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08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市场验证与在手订单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有没有人真的买单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客户导入进度表：客户（或脱敏代称）、阶段、首次送样时间、验证结果、批量时间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已签合同金额、在手订单金额与交付周期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标杆案例 1—2 个：应用场景、使用规模、效果数据、数据来源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复购情况与替换率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注意：未签约客户不写名称，写"国内前三的某类厂商（已完成送样验证）"。夸大客户关系是尽调最常见的翻车点。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09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竞争格局与自身定位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对手是谁、壁垒能维持多久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主要对手：国内外各 3—5 家，上市的标代码，未上市的标最近一轮融资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同口径对比表：产品指标、价格、交期、产能、主要客户、资质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市场份额与集中度：注明口径与来源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差异化与壁垒：逐条说明能维持多久、靠什么维持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潜在替代方案：包括可能替代整个环节的其他技术路线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注意：不要写"我们没有竞争对手"。对手写得越清楚，越说明对行业理解到位。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10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生产制造与供应链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能不能造得出、造得稳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现有产能、产能利用率、良率及变化曲线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主要生产设备与自动化程度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关键原材料与供应商：是否单一来源、有无替代、价格波动、库存策略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质量体系与不良品处理流程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扩产计划：新增产能、选址、投资额、建设周期、达产节奏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注意：扩产计划、资金用途、财务预测三处数字必须一致。软件与服务类企业可并入商业模式，但要补交付与实施能力。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11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2—3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财务数据与预测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过去的账什么样、未来靠什么长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近三年及最近一期：收入、毛利率、净利润、经营性现金流、应收账款及账龄、存货、资产负债率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标明是否经审计、审计机构名称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收入拆分：按产品、按客户、按区域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未来三年预测：收入、毛利率、净利润，并单列核心假设（产能、单价、客户数、订单转化率）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尚未盈利的：盈亏平衡点的条件与预计时间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注意：每个预测数字要能追到一条假设，每条假设要能追到已发生的事实。未经审计必须标注。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12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发展规划与里程碑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拿到钱以后一步步做什么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未来 12 / 24 / 36 个月的关键节点：产品定型、认证取得、产线投产、客户导入、收入规模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每个节点给出时间和可衡量的完成标准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注意：节点与融资用途、财务预测一一对应。"持续拓展市场"这类没有完成标准的节点等于没写。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13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1—2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团队与股权结构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谁在做、谁说了算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核心团队：姓名、职务、学历、过往任职企业与职位、本领域从业年限、代表性成果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组织架构与人员构成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股权结构：股东、持股比例、实际控制人、一致行动关系、员工持股平台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历史融资：轮次、时间、投资方、金额、投后估值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核心人员绑定：任职期限、竞业限制、股权锁定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注意：团队页写履历事实，不写评价。历史估值会被拿来对照本轮估值，提前想好解释。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14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1 页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本轮融资方案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融多少、什么价、钱怎么花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融资金额、出让比例、投前与投后估值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交易结构：增资扩股 / 老股转让 / 组合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资金用途拆分：研发、产线、市场、铺底流动资金，给金额与比例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估值依据：可比公司或可比交易口径，或按产能、订单、利润的测算过程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投后规划与资本路径：下一轮节奏、拟上市板块及其财务门槛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除资金外的诉求：客户资源、产业协同、地方政策配套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注意：估值依据要能被复算。资本路径只写板块与条件的对应关系，不承诺时间，不承诺回报。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模块 15 / 15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686800" y="3474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B6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建议 不限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64008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附录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731520" y="1170432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（正式稿请把标题改成本页结论）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731520" y="1481328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737360"/>
            <a:ext cx="3200400" cy="1417320"/>
          </a:xfrm>
          <a:prstGeom prst="rect">
            <a:avLst/>
          </a:prstGeom>
          <a:solidFill>
            <a:srgbClr val="E3EBF1"/>
          </a:solidFill>
          <a:ln/>
        </p:spPr>
      </p:sp>
      <p:sp>
        <p:nvSpPr>
          <p:cNvPr id="8" name="Text 6"/>
          <p:cNvSpPr/>
          <p:nvPr/>
        </p:nvSpPr>
        <p:spPr>
          <a:xfrm>
            <a:off x="914400" y="184708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这一页回答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2176272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前面所有说法的证据在哪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297680" y="173736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6C9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本页必须出现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297680" y="2057400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专利与资质清单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第三方检测报告、客户验证报告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主要合同或框架协议（脱敏）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财务报表明细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产品图片、产线与厂房照片</a:t>
            </a:r>
            <a:endParaRPr lang="en-US" sz="11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媒体报道与获奖情况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31520" y="4389120"/>
            <a:ext cx="1069848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B9C4CE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731520" y="507492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B2BC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内容填写区：图 / 表 / 数据放这里，一页一个结论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61722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672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注意：正文页面保持干净，证据全部放附录，正文用一句话指向附录页码。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23F63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定稿前检查清单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0698480" cy="0"/>
          </a:xfrm>
          <a:prstGeom prst="line">
            <a:avLst/>
          </a:prstGeom>
          <a:noFill/>
          <a:ln w="19050">
            <a:solidFill>
              <a:srgbClr val="8FB6C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47218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封面那句定位，外行读完能说清做什么产品、卖给谁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20391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78992" y="1984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摘要页数字与正文、财务表、融资方案完全一致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31520" y="260604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8992" y="25511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每个第三方数据都写明了机构、报告名称与发布时间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31520" y="3172968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78992" y="31181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市场规模的测算过程写出来了，能被复算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31520" y="3739896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78992" y="36850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技术指标注明了测试条件与出处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31520" y="430682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7899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专利区分已授权与申请中，授权的写了授权号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31520" y="48737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78992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未签约客户没有出现具体名称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731520" y="544068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78992" y="538581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财务数据标明了是否经审计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147218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56832" y="14173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财务预测的每条假设都能追到已发生的事实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203911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656832" y="1984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扩产计划、资金用途、财务预测三处数字对得上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309360" y="260604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656832" y="255117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全篇无绝对化用语，无投资回报与上市时间承诺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309360" y="3172968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656832" y="31181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每页标题是结论，不是名词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309360" y="3739896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56832" y="368503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证据材料在附录，正文页面干净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30682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56832" y="425196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保密声明在封面或封二出现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6309360" y="4873752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2E6C9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6832" y="481888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B44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文件名含公司简称、版本与日期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2026-08-22T04:34:06Z</dcterms:created>
  <dcterms:modified xsi:type="dcterms:W3CDTF">2026-08-22T04:34:06Z</dcterms:modified>
</cp:coreProperties>
</file>