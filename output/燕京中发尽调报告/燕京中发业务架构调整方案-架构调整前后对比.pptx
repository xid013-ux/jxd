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51200"/>
            <a:ext cx="8640000" cy="342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800" b="1">
                <a:solidFill>
                  <a:srgbClr val="153E5C"/>
                </a:solidFill>
                <a:latin typeface="微软雅黑"/>
              </a:rPr>
              <a:t>燕京中发业务架构调整方案——架构调整前后对比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432000"/>
            <a:ext cx="8640000" cy="19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微软雅黑"/>
              </a:rPr>
              <a:t>（土地事项按方案一「收购燕京啤酒（邢台）有限公司100%股权」列示）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0000" y="666000"/>
            <a:ext cx="11376000" cy="0"/>
          </a:xfrm>
          <a:prstGeom prst="line">
            <a:avLst/>
          </a:prstGeom>
          <a:ln w="25400">
            <a:solidFill>
              <a:srgbClr val="1F9B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0000" y="712800"/>
            <a:ext cx="5220000" cy="251999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300" b="1">
                <a:solidFill>
                  <a:srgbClr val="153E5C"/>
                </a:solidFill>
                <a:latin typeface="微软雅黑"/>
              </a:rPr>
              <a:t>一、调整前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83999" y="712800"/>
            <a:ext cx="4860000" cy="251999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1300" b="1">
                <a:solidFill>
                  <a:srgbClr val="153E5C"/>
                </a:solidFill>
                <a:latin typeface="微软雅黑"/>
              </a:rPr>
              <a:t>二、调整后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062000"/>
            <a:ext cx="1440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燕京啤酒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（000729）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5999" y="1062000"/>
            <a:ext cx="1260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燕京集团</a:t>
            </a:r>
          </a:p>
        </p:txBody>
      </p:sp>
      <p:sp>
        <p:nvSpPr>
          <p:cNvPr id="9" name="Rectangle 8"/>
          <p:cNvSpPr/>
          <p:nvPr/>
        </p:nvSpPr>
        <p:spPr>
          <a:xfrm>
            <a:off x="3491999" y="1062000"/>
            <a:ext cx="1512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食品发酵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研究院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80000" y="1638000"/>
            <a:ext cx="3168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80000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46000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48000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34000" y="1447199"/>
            <a:ext cx="7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1447199"/>
            <a:ext cx="79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17.5%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2000" y="1447199"/>
            <a:ext cx="7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2.5%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46000" y="1638000"/>
            <a:ext cx="0" cy="180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96000" y="1818000"/>
            <a:ext cx="2700000" cy="413999"/>
          </a:xfrm>
          <a:prstGeom prst="rect">
            <a:avLst/>
          </a:prstGeom>
          <a:solidFill>
            <a:srgbClr val="15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北京燕京中发生物技术有限公司（发行人）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46000" y="2232000"/>
            <a:ext cx="0" cy="486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00000" y="2358000"/>
            <a:ext cx="7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33%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48000" y="2718000"/>
            <a:ext cx="2196000" cy="413999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燕京中发生物技术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（邢台）有限公司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6000" y="1440000"/>
            <a:ext cx="0" cy="14868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6000" y="2926800"/>
            <a:ext cx="972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6000" y="2926800"/>
            <a:ext cx="972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000" y="2743200"/>
            <a:ext cx="7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67%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6000" y="1440000"/>
            <a:ext cx="0" cy="2376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6000" y="3816000"/>
            <a:ext cx="612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6000" y="3816000"/>
            <a:ext cx="612000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90000" y="3628800"/>
            <a:ext cx="79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48000" y="3618000"/>
            <a:ext cx="2196000" cy="413999"/>
          </a:xfrm>
          <a:prstGeom prst="rect">
            <a:avLst/>
          </a:prstGeom>
          <a:solidFill>
            <a:srgbClr val="B7D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153E5C"/>
                </a:solidFill>
                <a:latin typeface="微软雅黑"/>
              </a:rPr>
              <a:t>燕京啤酒（邢台）</a:t>
            </a:r>
          </a:p>
          <a:p>
            <a:pPr algn="ctr"/>
            <a:r>
              <a:rPr sz="1000" b="1">
                <a:solidFill>
                  <a:srgbClr val="153E5C"/>
                </a:solidFill>
                <a:latin typeface="微软雅黑"/>
              </a:rPr>
              <a:t>有限公司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8000" y="4068000"/>
            <a:ext cx="3096000" cy="792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微软雅黑"/>
              </a:rPr>
              <a:t>· 持有四宗宗地，合计 181,900.00 ㎡（272.85 亩）</a:t>
            </a:r>
          </a:p>
          <a:p>
            <a:pPr algn="l"/>
            <a:r>
              <a:rPr sz="850" b="0">
                <a:solidFill>
                  <a:srgbClr val="555555"/>
                </a:solidFill>
                <a:latin typeface="微软雅黑"/>
              </a:rPr>
              <a:t>· 出让 3 宗 215.50 亩；集体建设用地 1 宗 57.35 亩</a:t>
            </a:r>
          </a:p>
          <a:p>
            <a:pPr algn="l"/>
            <a:r>
              <a:rPr sz="850" b="0">
                <a:solidFill>
                  <a:srgbClr val="555555"/>
                </a:solidFill>
                <a:latin typeface="微软雅黑"/>
              </a:rPr>
              <a:t>· 厂房已整体转为纳豆生产，不再从事啤酒业务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000" y="5004000"/>
            <a:ext cx="4788000" cy="93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>
                <a:solidFill>
                  <a:srgbClr val="C03A2B"/>
                </a:solidFill>
                <a:latin typeface="微软雅黑"/>
              </a:rPr>
              <a:t>现状问题：</a:t>
            </a:r>
          </a:p>
          <a:p>
            <a:pPr algn="l"/>
            <a:r>
              <a:rPr sz="900" b="0">
                <a:solidFill>
                  <a:srgbClr val="C03A2B"/>
                </a:solidFill>
                <a:latin typeface="微软雅黑"/>
              </a:rPr>
              <a:t>① 中发邢台与发行人主营同为纳豆，构成同业竞争；</a:t>
            </a:r>
          </a:p>
          <a:p>
            <a:pPr algn="l"/>
            <a:r>
              <a:rPr sz="900" b="0">
                <a:solidFill>
                  <a:srgbClr val="C03A2B"/>
                </a:solidFill>
                <a:latin typeface="微软雅黑"/>
              </a:rPr>
              <a:t>② 生产用地及厂房登记在关联方名下，房、地权属分离，资产完整性存疑。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364000" y="2376000"/>
            <a:ext cx="1404000" cy="540000"/>
          </a:xfrm>
          <a:prstGeom prst="rightArrow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202000" y="3024000"/>
            <a:ext cx="1764000" cy="194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0">
                <a:solidFill>
                  <a:srgbClr val="153E5C"/>
                </a:solidFill>
                <a:latin typeface="微软雅黑"/>
              </a:rPr>
              <a:t>调整步骤</a:t>
            </a:r>
          </a:p>
          <a:p>
            <a:pPr algn="l"/>
            <a:r>
              <a:rPr sz="850" b="0">
                <a:solidFill>
                  <a:srgbClr val="153E5C"/>
                </a:solidFill>
                <a:latin typeface="微软雅黑"/>
              </a:rPr>
              <a:t>1、发行人以自身股权为对价，收购燕京啤酒持有的中发邢台 67% 股权</a:t>
            </a:r>
          </a:p>
          <a:p>
            <a:pPr algn="l"/>
            <a:r>
              <a:rPr sz="850" b="0">
                <a:solidFill>
                  <a:srgbClr val="153E5C"/>
                </a:solidFill>
                <a:latin typeface="微软雅黑"/>
              </a:rPr>
              <a:t>2、发行人以自身股权为对价，收购燕京啤酒持有的燕京啤酒（邢台）100% 股权</a:t>
            </a:r>
          </a:p>
          <a:p>
            <a:pPr algn="l"/>
            <a:r>
              <a:rPr sz="850" b="0">
                <a:solidFill>
                  <a:srgbClr val="153E5C"/>
                </a:solidFill>
                <a:latin typeface="微软雅黑"/>
              </a:rPr>
              <a:t>3、标的公司更名、变更经营范围，注销啤酒生产许可</a:t>
            </a:r>
          </a:p>
          <a:p>
            <a:pPr algn="l"/>
            <a:r>
              <a:rPr sz="850" b="0">
                <a:solidFill>
                  <a:srgbClr val="153E5C"/>
                </a:solidFill>
                <a:latin typeface="微软雅黑"/>
              </a:rPr>
              <a:t>4、两家邢台主体择机吸收合并，实现房、地权属统一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83999" y="1062000"/>
            <a:ext cx="1440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燕京啤酒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（000729）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40000" y="1062000"/>
            <a:ext cx="1260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燕京集团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16000" y="1062000"/>
            <a:ext cx="1512000" cy="378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食品发酵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研究院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03999" y="1638000"/>
            <a:ext cx="3168001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703999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270000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72000" y="1440000"/>
            <a:ext cx="0" cy="198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758000" y="1447199"/>
            <a:ext cx="864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1">
                <a:solidFill>
                  <a:srgbClr val="C03A2B"/>
                </a:solidFill>
                <a:latin typeface="微软雅黑"/>
              </a:rPr>
              <a:t>↑ 上升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4000" y="1447199"/>
            <a:ext cx="864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微软雅黑"/>
              </a:rPr>
              <a:t>↓ 稀释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26000" y="1447199"/>
            <a:ext cx="864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微软雅黑"/>
              </a:rPr>
              <a:t>↓ 稀释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270000" y="1638000"/>
            <a:ext cx="0" cy="180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920000" y="1818000"/>
            <a:ext cx="2700000" cy="413999"/>
          </a:xfrm>
          <a:prstGeom prst="rect">
            <a:avLst/>
          </a:prstGeom>
          <a:solidFill>
            <a:srgbClr val="15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北京燕京中发生物技术有限公司（发行人）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063999" y="2538000"/>
            <a:ext cx="2592001" cy="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270000" y="2232000"/>
            <a:ext cx="0" cy="306000"/>
          </a:xfrm>
          <a:prstGeom prst="line">
            <a:avLst/>
          </a:prstGeom>
          <a:ln w="1587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063999" y="2538000"/>
            <a:ext cx="0" cy="252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656000" y="2538000"/>
            <a:ext cx="0" cy="252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118000" y="2548800"/>
            <a:ext cx="79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90000" y="2548800"/>
            <a:ext cx="792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100%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20000" y="2790000"/>
            <a:ext cx="2088000" cy="486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燕京中发生物技术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（邢台）有限公司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76000" y="2790000"/>
            <a:ext cx="2160000" cy="486000"/>
          </a:xfrm>
          <a:prstGeom prst="rect">
            <a:avLst/>
          </a:prstGeom>
          <a:solidFill>
            <a:srgbClr val="1F9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燕京啤酒（邢台）有限公司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微软雅黑"/>
              </a:rPr>
              <a:t>（更名，去除“燕京啤酒”字样）</a:t>
            </a:r>
          </a:p>
        </p:txBody>
      </p:sp>
      <p:sp>
        <p:nvSpPr>
          <p:cNvPr id="55" name="Left-Right Arrow 54"/>
          <p:cNvSpPr/>
          <p:nvPr/>
        </p:nvSpPr>
        <p:spPr>
          <a:xfrm>
            <a:off x="9162000" y="2934000"/>
            <a:ext cx="378000" cy="216000"/>
          </a:xfrm>
          <a:prstGeom prst="leftRightArrow">
            <a:avLst/>
          </a:prstGeom>
          <a:solidFill>
            <a:srgbClr val="E8A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60000" y="3330000"/>
            <a:ext cx="1620000" cy="180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ctr"/>
            <a:r>
              <a:rPr sz="850" b="1">
                <a:solidFill>
                  <a:srgbClr val="B07618"/>
                </a:solidFill>
                <a:latin typeface="微软雅黑"/>
              </a:rPr>
              <a:t>择机吸收合并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270000" y="3546000"/>
            <a:ext cx="0" cy="2340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560000" y="3780000"/>
            <a:ext cx="3420000" cy="413999"/>
          </a:xfrm>
          <a:prstGeom prst="rect">
            <a:avLst/>
          </a:prstGeom>
          <a:solidFill>
            <a:srgbClr val="15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合并后主体（持有土地、厂房及纳豆业务）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0000" y="4230000"/>
            <a:ext cx="4176000" cy="648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微软雅黑"/>
              </a:rPr>
              <a:t>· 四宗宗地及地上厂房、在建工程全部纳入上市主体</a:t>
            </a:r>
          </a:p>
          <a:p>
            <a:pPr algn="l"/>
            <a:r>
              <a:rPr sz="850" b="0">
                <a:solidFill>
                  <a:srgbClr val="555555"/>
                </a:solidFill>
                <a:latin typeface="微软雅黑"/>
              </a:rPr>
              <a:t>· 房、地权属统一，资产完整性、独立性问题一并解决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3999" y="5004000"/>
            <a:ext cx="4860000" cy="936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900" b="0">
                <a:solidFill>
                  <a:srgbClr val="1B7A3D"/>
                </a:solidFill>
                <a:latin typeface="微软雅黑"/>
              </a:rPr>
              <a:t>调整效果：</a:t>
            </a:r>
          </a:p>
          <a:p>
            <a:pPr algn="l"/>
            <a:r>
              <a:rPr sz="900" b="0">
                <a:solidFill>
                  <a:srgbClr val="1B7A3D"/>
                </a:solidFill>
                <a:latin typeface="微软雅黑"/>
              </a:rPr>
              <a:t>① 中发邢台成为全资子公司并表，同业竞争消除；</a:t>
            </a:r>
          </a:p>
          <a:p>
            <a:pPr algn="l"/>
            <a:r>
              <a:rPr sz="900" b="0">
                <a:solidFill>
                  <a:srgbClr val="1B7A3D"/>
                </a:solidFill>
                <a:latin typeface="微软雅黑"/>
              </a:rPr>
              <a:t>② 土地、厂房随股权进入上市主体，不涉及不动产过户，不产生土地增值税及契税；</a:t>
            </a:r>
          </a:p>
          <a:p>
            <a:pPr algn="l"/>
            <a:r>
              <a:rPr sz="900" b="0">
                <a:solidFill>
                  <a:srgbClr val="1B7A3D"/>
                </a:solidFill>
                <a:latin typeface="微软雅黑"/>
              </a:rPr>
              <a:t>③ 股权支付比例 100%，可争取企业所得税特殊性税务处理，预计仅产生印花税。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60000" y="6300000"/>
            <a:ext cx="11376000" cy="0"/>
          </a:xfrm>
          <a:prstGeom prst="line">
            <a:avLst/>
          </a:prstGeom>
          <a:ln w="9525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60000" y="6353999"/>
            <a:ext cx="8820000" cy="32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注：本图列示方案一（股权收购）。若采用方案二（收购土地使用权及地上建筑物），燕京啤酒（邢台）有限公司仍由燕京啤酒持有，仅土地、厂房过户至上市主体，宗地四需另行以协议方式安排使用。</a:t>
            </a:r>
          </a:p>
          <a:p>
            <a:pPr algn="l"/>
            <a:r>
              <a:rPr sz="800" b="0">
                <a:solidFill>
                  <a:srgbClr val="888888"/>
                </a:solidFill>
                <a:latin typeface="微软雅黑"/>
              </a:rPr>
              <a:t>调整后持股比例以经国资监管部门备案的评估结果为准，本图为方案示意。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60000" y="6353999"/>
            <a:ext cx="2376000" cy="324000"/>
          </a:xfrm>
          <a:prstGeom prst="rect">
            <a:avLst/>
          </a:prstGeom>
          <a:noFill/>
        </p:spPr>
        <p:txBody>
          <a:bodyPr wrap="square" lIns="18000" rIns="18000" tIns="0" bIns="0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微软雅黑"/>
              </a:rPr>
              <a:t>国泰海通证券  燕京中发IPO项目组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