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5" r:id="rId2"/>
  </p:sldMasterIdLst>
  <p:notesMasterIdLst>
    <p:notesMasterId r:id="rId7"/>
  </p:notesMasterIdLst>
  <p:handoutMasterIdLst>
    <p:handoutMasterId r:id="rId8"/>
  </p:handoutMasterIdLst>
  <p:sldIdLst>
    <p:sldId id="14273090" r:id="rId3"/>
    <p:sldId id="14272344" r:id="rId4"/>
    <p:sldId id="14273091" r:id="rId15"/>
    <p:sldId id="14273092" r:id="rId16"/>
    <p:sldId id="14273093" r:id="rId17"/>
    <p:sldId id="14273094" r:id="rId18"/>
    <p:sldId id="14273095" r:id="rId19"/>
    <p:sldId id="14273096" r:id="rId20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04" userDrawn="1">
          <p15:clr>
            <a:srgbClr val="A4A3A4"/>
          </p15:clr>
        </p15:guide>
        <p15:guide id="2" pos="3935" userDrawn="1">
          <p15:clr>
            <a:srgbClr val="A4A3A4"/>
          </p15:clr>
        </p15:guide>
        <p15:guide id="4" orient="horz" pos="3220" userDrawn="1">
          <p15:clr>
            <a:srgbClr val="A4A3A4"/>
          </p15:clr>
        </p15:guide>
        <p15:guide id="5" orient="horz" pos="2307" userDrawn="1">
          <p15:clr>
            <a:srgbClr val="A4A3A4"/>
          </p15:clr>
        </p15:guide>
        <p15:guide id="6" pos="534" userDrawn="1">
          <p15:clr>
            <a:srgbClr val="A4A3A4"/>
          </p15:clr>
        </p15:guide>
        <p15:guide id="7" pos="7212" userDrawn="1">
          <p15:clr>
            <a:srgbClr val="A4A3A4"/>
          </p15:clr>
        </p15:guide>
        <p15:guide id="8" orient="horz" pos="9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iwei Chen (CM)" initials="BC(" lastIdx="3" clrIdx="0"/>
  <p:cmAuthor id="43" name="Wei Xu" initials="WX" lastIdx="4" clrIdx="42"/>
  <p:cmAuthor id="1" name="聂 绪雯" initials="聂" lastIdx="44" clrIdx="0"/>
  <p:cmAuthor id="44" name="Nuo Xu" initials="NX" lastIdx="31" clrIdx="43"/>
  <p:cmAuthor id="2" name="曾蕴也" initials="曾蕴也" lastIdx="16" clrIdx="1"/>
  <p:cmAuthor id="45" name="tao lingzhi" initials="tl" lastIdx="7" clrIdx="44"/>
  <p:cmAuthor id="3" name="Yang Zikai" initials="YZ" lastIdx="3" clrIdx="2"/>
  <p:cmAuthor id="46" name="GTJA" initials="G" lastIdx="25" clrIdx="45"/>
  <p:cmAuthor id="4" name="沈 一冲" initials="沈" lastIdx="37" clrIdx="4"/>
  <p:cmAuthor id="47" name="吴云龙" initials="云吴" lastIdx="4" clrIdx="46"/>
  <p:cmAuthor id="5" name="QINGSONG MENG" initials="QM" lastIdx="32" clrIdx="5"/>
  <p:cmAuthor id="6" name="张 希朦" initials="张" lastIdx="201" clrIdx="5"/>
  <p:cmAuthor id="7" name="Zhang Shuai" initials="ZS" lastIdx="87" clrIdx="6"/>
  <p:cmAuthor id="8" name="吴 云龙" initials="吴" lastIdx="21" clrIdx="7"/>
  <p:cmAuthor id="9" name="ZHANG Xiangyang" initials="ZX" lastIdx="18" clrIdx="8"/>
  <p:cmAuthor id="10" name="CJY" initials="CJY" lastIdx="87" clrIdx="9"/>
  <p:cmAuthor id="11" name="Yang Fancy" initials="YF" lastIdx="3" clrIdx="10"/>
  <p:cmAuthor id="12" name="舒 迪" initials="舒" lastIdx="10" clrIdx="11"/>
  <p:cmAuthor id="13" name="Jiang Hualin" initials="JH" lastIdx="1" clrIdx="12"/>
  <p:cmAuthor id="14" name="毛 宁" initials="毛" lastIdx="54" clrIdx="13"/>
  <p:cmAuthor id="771252100" name="。。。" initials="。" lastIdx="1" clrIdx="28"/>
  <p:cmAuthor id="15" name="Microsoft 帐户" initials="M帐" lastIdx="10" clrIdx="14"/>
  <p:cmAuthor id="16" name="ZHANG Ximeng" initials="ZX" lastIdx="27" clrIdx="15"/>
  <p:cmAuthor id="17" name="weipeng" initials="WP" lastIdx="51" clrIdx="16"/>
  <p:cmAuthor id="18" name="李 佳宸" initials="李" lastIdx="5" clrIdx="17"/>
  <p:cmAuthor id="19" name="Yang Frank" initials="YF" lastIdx="25" clrIdx="18"/>
  <p:cmAuthor id="20" name="Yang Will" initials="YW" lastIdx="40" clrIdx="19"/>
  <p:cmAuthor id="21" name="HUAWEI" initials="H" lastIdx="282" clrIdx="20"/>
  <p:cmAuthor id="22" name="花 浩翔" initials="花" lastIdx="16" clrIdx="21"/>
  <p:cmAuthor id="23" name="1" initials="1" lastIdx="5" clrIdx="0"/>
  <p:cmAuthor id="24" name="Administrator" initials="A" lastIdx="19" clrIdx="23"/>
  <p:cmAuthor id="25" name="bai yifan" initials="by" lastIdx="6" clrIdx="24"/>
  <p:cmAuthor id="26" name="白逸凡" initials="白" lastIdx="5" clrIdx="25"/>
  <p:cmAuthor id="283655073" name="wangfang" initials="w" lastIdx="15" clrIdx="2"/>
  <p:cmAuthor id="28" name="江志强" initials="志江" lastIdx="44" clrIdx="27"/>
  <p:cmAuthor id="29" name="孙逸然" initials="孙逸然" lastIdx="1" clrIdx="28"/>
  <p:cmAuthor id="30" name="Y58346" initials="Y" lastIdx="58" clrIdx="29"/>
  <p:cmAuthor id="31" name="baiyifan" initials="b" lastIdx="44" clrIdx="30"/>
  <p:cmAuthor id="32" name="张 晓博" initials="张" lastIdx="3" clrIdx="31"/>
  <p:cmAuthor id="33" name="li qin" initials="lq" lastIdx="6" clrIdx="32"/>
  <p:cmAuthor id="34" name="qin li" initials="ql" lastIdx="10" clrIdx="33"/>
  <p:cmAuthor id="991881679" name="Jacey刘嘉" initials="J" lastIdx="9" clrIdx="1"/>
  <p:cmAuthor id="35" name="昕滈 季" initials="昕季" lastIdx="7" clrIdx="34"/>
  <p:cmAuthor id="991881680" name="熊 鹤辉" initials="熊鹤" lastIdx="1" clrIdx="45"/>
  <p:cmAuthor id="36" name="JXH" initials="J" lastIdx="1" clrIdx="35"/>
  <p:cmAuthor id="37" name="kunpengwang" initials="wk" lastIdx="19" clrIdx="36"/>
  <p:cmAuthor id="38" name="Frank Yang" initials="FY" lastIdx="53" clrIdx="37"/>
  <p:cmAuthor id="39" name="lingzhi tao" initials="lt" lastIdx="39" clrIdx="38"/>
  <p:cmAuthor id="40" name="作者" initials="作者" lastIdx="9" clrIdx="39"/>
  <p:cmAuthor id="41" name="Yangrun Hu" initials="YH" lastIdx="1" clrIdx="40"/>
  <p:cmAuthor id="42" name="Zhangyx" initials="Zhangyx" lastIdx="3" clrIdx="4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B7FF"/>
    <a:srgbClr val="B2C5E6"/>
    <a:srgbClr val="4472C4"/>
    <a:srgbClr val="CBD2E3"/>
    <a:srgbClr val="E7EAF1"/>
    <a:srgbClr val="C5E0B4"/>
    <a:srgbClr val="FFFFFF"/>
    <a:srgbClr val="004E98"/>
    <a:srgbClr val="C6D4ED"/>
    <a:srgbClr val="FBD6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76" autoAdjust="0"/>
    <p:restoredTop sz="94986" autoAdjust="0"/>
  </p:normalViewPr>
  <p:slideViewPr>
    <p:cSldViewPr snapToGrid="0" showGuides="1">
      <p:cViewPr varScale="1">
        <p:scale>
          <a:sx n="111" d="100"/>
          <a:sy n="111" d="100"/>
        </p:scale>
        <p:origin x="216" y="280"/>
      </p:cViewPr>
      <p:guideLst>
        <p:guide orient="horz" pos="4104"/>
        <p:guide pos="3935"/>
        <p:guide orient="horz" pos="3220"/>
        <p:guide orient="horz" pos="2307"/>
        <p:guide pos="534"/>
        <p:guide pos="7212"/>
        <p:guide orient="horz" pos="910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50" d="100"/>
          <a:sy n="50" d="100"/>
        </p:scale>
        <p:origin x="5320" y="1496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0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tags" Target="tags/tag1.xml"/><Relationship Id="rId14" Type="http://schemas.openxmlformats.org/officeDocument/2006/relationships/tableStyles" Target="tableStyles.xml"/>  <Relationship Id="rId15" Type="http://schemas.openxmlformats.org/officeDocument/2006/relationships/slide" Target="slides/slide5.xml"/>
  <Relationship Id="rId16" Type="http://schemas.openxmlformats.org/officeDocument/2006/relationships/slide" Target="slides/slide6.xml"/>
  <Relationship Id="rId17" Type="http://schemas.openxmlformats.org/officeDocument/2006/relationships/slide" Target="slides/slide7.xml"/>
  <Relationship Id="rId18" Type="http://schemas.openxmlformats.org/officeDocument/2006/relationships/slide" Target="slides/slide8.xml"/>
  <Relationship Id="rId19" Type="http://schemas.openxmlformats.org/officeDocument/2006/relationships/slide" Target="slides/slide9.xml"/>
  <Relationship Id="rId20" Type="http://schemas.openxmlformats.org/officeDocument/2006/relationships/slide" Target="slides/slide10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E74D37-739B-4B0F-B410-A6C1E86F2E66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37C943-43AD-45D5-9527-D307204B78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126617-3357-4720-B756-1FCD7BFA9E3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DB3471-8649-456E-9FA4-AA8FA9AAF0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1063" cy="335438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1405F3E-6C76-4A64-BA24-39CAB9C784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0E91903-E4A1-4DCB-85D8-AC72B96C290B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2026/9/1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页眉占位符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38AC-3B45-46E9-A9F0-51073788D2D6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397D5-46AE-4D6F-BE0B-02C8EE398CF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38AC-3B45-46E9-A9F0-51073788D2D6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397D5-46AE-4D6F-BE0B-02C8EE398CF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38AC-3B45-46E9-A9F0-51073788D2D6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397D5-46AE-4D6F-BE0B-02C8EE398CF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38AC-3B45-46E9-A9F0-51073788D2D6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397D5-46AE-4D6F-BE0B-02C8EE398CF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38AC-3B45-46E9-A9F0-51073788D2D6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397D5-46AE-4D6F-BE0B-02C8EE398CF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38AC-3B45-46E9-A9F0-51073788D2D6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397D5-46AE-4D6F-BE0B-02C8EE398CF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38AC-3B45-46E9-A9F0-51073788D2D6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397D5-46AE-4D6F-BE0B-02C8EE398CF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38AC-3B45-46E9-A9F0-51073788D2D6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397D5-46AE-4D6F-BE0B-02C8EE398CF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38AC-3B45-46E9-A9F0-51073788D2D6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397D5-46AE-4D6F-BE0B-02C8EE398CF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38AC-3B45-46E9-A9F0-51073788D2D6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397D5-46AE-4D6F-BE0B-02C8EE398CF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38AC-3B45-46E9-A9F0-51073788D2D6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397D5-46AE-4D6F-BE0B-02C8EE398CF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rgbClr val="0061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788" y="5519738"/>
            <a:ext cx="720725" cy="72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856581"/>
            <a:ext cx="12192000" cy="45719"/>
          </a:xfrm>
          <a:prstGeom prst="rect">
            <a:avLst/>
          </a:prstGeom>
          <a:gradFill>
            <a:gsLst>
              <a:gs pos="0">
                <a:srgbClr val="5E9EFF"/>
              </a:gs>
              <a:gs pos="53000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65"/>
          </a:p>
        </p:txBody>
      </p:sp>
      <p:sp>
        <p:nvSpPr>
          <p:cNvPr id="10" name="标题 6"/>
          <p:cNvSpPr>
            <a:spLocks noGrp="1"/>
          </p:cNvSpPr>
          <p:nvPr>
            <p:ph type="title" hasCustomPrompt="1"/>
          </p:nvPr>
        </p:nvSpPr>
        <p:spPr>
          <a:xfrm>
            <a:off x="2023200" y="216000"/>
            <a:ext cx="7869920" cy="581236"/>
          </a:xfrm>
        </p:spPr>
        <p:txBody>
          <a:bodyPr>
            <a:normAutofit/>
          </a:bodyPr>
          <a:lstStyle>
            <a:lvl1pPr>
              <a:defRPr sz="1800" b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【】</a:t>
            </a:r>
            <a:endParaRPr lang="zh-CN" altLang="en-US" dirty="0"/>
          </a:p>
        </p:txBody>
      </p:sp>
      <p:grpSp>
        <p:nvGrpSpPr>
          <p:cNvPr id="11" name="组合 2"/>
          <p:cNvGrpSpPr/>
          <p:nvPr userDrawn="1"/>
        </p:nvGrpSpPr>
        <p:grpSpPr bwMode="auto">
          <a:xfrm>
            <a:off x="10410096" y="323849"/>
            <a:ext cx="1969848" cy="352319"/>
            <a:chOff x="16449" y="509"/>
            <a:chExt cx="2731" cy="426"/>
          </a:xfrm>
        </p:grpSpPr>
        <p:sp>
          <p:nvSpPr>
            <p:cNvPr id="12" name="任意多边形 3"/>
            <p:cNvSpPr/>
            <p:nvPr/>
          </p:nvSpPr>
          <p:spPr>
            <a:xfrm>
              <a:off x="17522" y="529"/>
              <a:ext cx="1560" cy="406"/>
            </a:xfrm>
            <a:custGeom>
              <a:avLst/>
              <a:gdLst>
                <a:gd name="connsiteX0" fmla="*/ 0 w 1890"/>
                <a:gd name="connsiteY0" fmla="*/ 406 h 406"/>
                <a:gd name="connsiteX1" fmla="*/ 179 w 1890"/>
                <a:gd name="connsiteY1" fmla="*/ 3 h 406"/>
                <a:gd name="connsiteX2" fmla="*/ 1890 w 1890"/>
                <a:gd name="connsiteY2" fmla="*/ 0 h 406"/>
                <a:gd name="connsiteX3" fmla="*/ 1789 w 1890"/>
                <a:gd name="connsiteY3" fmla="*/ 406 h 406"/>
                <a:gd name="connsiteX4" fmla="*/ 0 w 1890"/>
                <a:gd name="connsiteY4" fmla="*/ 406 h 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" h="406">
                  <a:moveTo>
                    <a:pt x="0" y="406"/>
                  </a:moveTo>
                  <a:lnTo>
                    <a:pt x="179" y="3"/>
                  </a:lnTo>
                  <a:lnTo>
                    <a:pt x="1890" y="0"/>
                  </a:lnTo>
                  <a:lnTo>
                    <a:pt x="1789" y="406"/>
                  </a:lnTo>
                  <a:lnTo>
                    <a:pt x="0" y="406"/>
                  </a:lnTo>
                  <a:close/>
                </a:path>
              </a:pathLst>
            </a:custGeom>
            <a:solidFill>
              <a:srgbClr val="004E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16449" y="509"/>
              <a:ext cx="2731" cy="3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zh-CN" sz="1400" dirty="0">
                  <a:solidFill>
                    <a:srgbClr val="BFBFBF"/>
                  </a:solidFill>
                  <a:sym typeface="+mn-lt"/>
                </a:rPr>
                <a:t>国泰海通</a:t>
              </a:r>
              <a:r>
                <a:rPr lang="en-US" altLang="zh-CN" sz="1400">
                  <a:solidFill>
                    <a:srgbClr val="BFBFBF"/>
                  </a:solidFill>
                  <a:sym typeface="+mn-lt"/>
                </a:rPr>
                <a:t>  </a:t>
              </a:r>
              <a:r>
                <a:rPr lang="zh-CN" altLang="zh-CN" sz="1400">
                  <a:solidFill>
                    <a:schemeClr val="bg1"/>
                  </a:solidFill>
                  <a:sym typeface="+mn-lt"/>
                </a:rPr>
                <a:t>投资银行</a:t>
              </a:r>
              <a:endParaRPr lang="en-US" altLang="zh-CN" sz="1400" dirty="0">
                <a:solidFill>
                  <a:schemeClr val="bg1"/>
                </a:solidFill>
                <a:sym typeface="+mn-lt"/>
              </a:endParaRPr>
            </a:p>
          </p:txBody>
        </p:sp>
      </p:grpSp>
      <p:sp>
        <p:nvSpPr>
          <p:cNvPr id="19" name="灯片编号占位符 5"/>
          <p:cNvSpPr txBox="1">
            <a:spLocks noChangeArrowheads="1"/>
          </p:cNvSpPr>
          <p:nvPr userDrawn="1"/>
        </p:nvSpPr>
        <p:spPr bwMode="auto">
          <a:xfrm>
            <a:off x="9101013" y="65087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lIns="91416" tIns="45708" rIns="91416" bIns="45708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r" eaLnBrk="1" hangingPunct="1"/>
            <a:r>
              <a:rPr lang="en-US" altLang="zh-CN" sz="1200">
                <a:solidFill>
                  <a:srgbClr val="898989"/>
                </a:solidFill>
              </a:rPr>
              <a:t>PAGE </a:t>
            </a:r>
            <a:fld id="{33D8948B-CCD5-4BE7-B8D8-AB11D6CCE9DD}" type="slidenum">
              <a:rPr lang="zh-CN" altLang="en-US" sz="1200" smtClean="0">
                <a:solidFill>
                  <a:srgbClr val="898989"/>
                </a:solidFill>
              </a:rPr>
              <a:t>‹#›</a:t>
            </a:fld>
            <a:endParaRPr lang="zh-CN" altLang="en-US" sz="1200" dirty="0">
              <a:solidFill>
                <a:srgbClr val="898989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350" y="404842"/>
            <a:ext cx="1450000" cy="2006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/>
          <p:cNvSpPr txBox="1"/>
          <p:nvPr userDrawn="1"/>
        </p:nvSpPr>
        <p:spPr>
          <a:xfrm>
            <a:off x="4424123" y="6433461"/>
            <a:ext cx="1875905" cy="2647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D311FB5-00E2-4E01-BDD6-A37CD7ED1D78}" type="slidenum">
              <a:rPr lang="zh-CN" altLang="en-US" sz="1200" smtClean="0"/>
              <a:t>‹#›</a:t>
            </a:fld>
            <a:endParaRPr lang="zh-CN" altLang="en-US" sz="1200"/>
          </a:p>
        </p:txBody>
      </p:sp>
      <p:sp>
        <p:nvSpPr>
          <p:cNvPr id="9" name="矩形 8"/>
          <p:cNvSpPr/>
          <p:nvPr userDrawn="1"/>
        </p:nvSpPr>
        <p:spPr>
          <a:xfrm>
            <a:off x="13087" y="856578"/>
            <a:ext cx="12192000" cy="45719"/>
          </a:xfrm>
          <a:prstGeom prst="rect">
            <a:avLst/>
          </a:prstGeom>
          <a:gradFill>
            <a:gsLst>
              <a:gs pos="0">
                <a:srgbClr val="5E9EFF"/>
              </a:gs>
              <a:gs pos="53000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65"/>
          </a:p>
        </p:txBody>
      </p:sp>
      <p:sp>
        <p:nvSpPr>
          <p:cNvPr id="10" name="标题 6"/>
          <p:cNvSpPr>
            <a:spLocks noGrp="1"/>
          </p:cNvSpPr>
          <p:nvPr>
            <p:ph type="title" hasCustomPrompt="1"/>
          </p:nvPr>
        </p:nvSpPr>
        <p:spPr>
          <a:xfrm>
            <a:off x="2023200" y="304923"/>
            <a:ext cx="10515600" cy="581236"/>
          </a:xfrm>
        </p:spPr>
        <p:txBody>
          <a:bodyPr>
            <a:normAutofit/>
          </a:bodyPr>
          <a:lstStyle>
            <a:lvl1pPr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【】</a:t>
            </a:r>
            <a:endParaRPr lang="zh-CN" altLang="en-US" dirty="0"/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1" y="6356355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/>
          <a:lstStyle/>
          <a:p>
            <a:fld id="{445A4395-4E7C-46A3-A110-6D32B14695D0}" type="datetime1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/>
          <a:lstStyle/>
          <a:p>
            <a:fld id="{0C65B470-78FF-44D9-BECF-303F6D3490C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4" descr="底图-白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76765" cy="6858000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596706" y="714357"/>
            <a:ext cx="214258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539860" y="719999"/>
            <a:ext cx="214258" cy="54000"/>
          </a:xfrm>
          <a:prstGeom prst="rect">
            <a:avLst/>
          </a:prstGeom>
          <a:solidFill>
            <a:srgbClr val="004B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4B8F"/>
              </a:solidFill>
            </a:endParaRPr>
          </a:p>
        </p:txBody>
      </p:sp>
      <p:sp>
        <p:nvSpPr>
          <p:cNvPr id="62" name="任意多边形 127"/>
          <p:cNvSpPr/>
          <p:nvPr userDrawn="1"/>
        </p:nvSpPr>
        <p:spPr>
          <a:xfrm>
            <a:off x="10981349" y="335915"/>
            <a:ext cx="1199838" cy="257810"/>
          </a:xfrm>
          <a:custGeom>
            <a:avLst/>
            <a:gdLst>
              <a:gd name="connsiteX0" fmla="*/ 0 w 1890"/>
              <a:gd name="connsiteY0" fmla="*/ 406 h 406"/>
              <a:gd name="connsiteX1" fmla="*/ 179 w 1890"/>
              <a:gd name="connsiteY1" fmla="*/ 3 h 406"/>
              <a:gd name="connsiteX2" fmla="*/ 1890 w 1890"/>
              <a:gd name="connsiteY2" fmla="*/ 0 h 406"/>
              <a:gd name="connsiteX3" fmla="*/ 1789 w 1890"/>
              <a:gd name="connsiteY3" fmla="*/ 406 h 406"/>
              <a:gd name="connsiteX4" fmla="*/ 0 w 1890"/>
              <a:gd name="connsiteY4" fmla="*/ 406 h 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90" h="406">
                <a:moveTo>
                  <a:pt x="0" y="406"/>
                </a:moveTo>
                <a:lnTo>
                  <a:pt x="179" y="3"/>
                </a:lnTo>
                <a:lnTo>
                  <a:pt x="1890" y="0"/>
                </a:lnTo>
                <a:lnTo>
                  <a:pt x="1789" y="406"/>
                </a:lnTo>
                <a:lnTo>
                  <a:pt x="0" y="406"/>
                </a:lnTo>
                <a:close/>
              </a:path>
            </a:pathLst>
          </a:custGeom>
          <a:solidFill>
            <a:srgbClr val="004B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63" name="文本框 62"/>
          <p:cNvSpPr txBox="1"/>
          <p:nvPr userDrawn="1"/>
        </p:nvSpPr>
        <p:spPr>
          <a:xfrm>
            <a:off x="10299537" y="323215"/>
            <a:ext cx="1734368" cy="27559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>
              <a:buNone/>
            </a:pPr>
            <a:r>
              <a:rPr sz="12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国泰海通  </a:t>
            </a:r>
            <a:r>
              <a: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投资银行</a:t>
            </a:r>
            <a:endParaRPr 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文本框 63"/>
          <p:cNvSpPr txBox="1"/>
          <p:nvPr userDrawn="1"/>
        </p:nvSpPr>
        <p:spPr>
          <a:xfrm>
            <a:off x="11157094" y="6480000"/>
            <a:ext cx="741467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PAGE </a:t>
            </a:r>
            <a:fld id="{D8BDD2DE-73F7-4010-A387-DAB116C85DC8}" type="slidenum">
              <a:rPr lang="en-US" altLang="zh-CN" sz="1000" b="1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‹#›</a:t>
            </a:fld>
            <a:endParaRPr lang="en-US" altLang="zh-CN" sz="100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6" name="文本占位符 65"/>
          <p:cNvSpPr>
            <a:spLocks noGrp="1"/>
          </p:cNvSpPr>
          <p:nvPr>
            <p:ph type="body" sz="quarter" idx="13"/>
          </p:nvPr>
        </p:nvSpPr>
        <p:spPr>
          <a:xfrm>
            <a:off x="539860" y="900001"/>
            <a:ext cx="2769268" cy="2769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>
              <a:buNone/>
              <a:defRPr lang="zh-CN" altLang="en-US" sz="1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171450" indent="0">
              <a:buNone/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z="1800" smtClean="0"/>
            </a:lvl4pPr>
            <a:lvl5pPr>
              <a:defRPr lang="en-US" sz="1800"/>
            </a:lvl5pPr>
          </a:lstStyle>
          <a:p>
            <a:pPr marL="0" lvl="0">
              <a:lnSpc>
                <a:spcPct val="100000"/>
              </a:lnSpc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12" name="日期占位符 1"/>
          <p:cNvSpPr txBox="1"/>
          <p:nvPr userDrawn="1"/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45A4395-4E7C-46A3-A110-6D32B14695D0}" type="datetime1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13" name="灯片编号占位符 3"/>
          <p:cNvSpPr txBox="1"/>
          <p:nvPr userDrawn="1"/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65B470-78FF-44D9-BECF-303F6D3490C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4" name="图片 13" descr="底图-白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7940"/>
            <a:ext cx="12176765" cy="6858000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596706" y="714357"/>
            <a:ext cx="214258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文本占位符 65"/>
          <p:cNvSpPr>
            <a:spLocks noGrp="1"/>
          </p:cNvSpPr>
          <p:nvPr>
            <p:ph type="body" sz="quarter" idx="14"/>
          </p:nvPr>
        </p:nvSpPr>
        <p:spPr>
          <a:xfrm>
            <a:off x="539860" y="900001"/>
            <a:ext cx="2769268" cy="2769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>
              <a:buNone/>
              <a:defRPr lang="zh-CN" altLang="en-US" sz="1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171450" indent="0">
              <a:buNone/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z="1800" smtClean="0"/>
            </a:lvl4pPr>
            <a:lvl5pPr>
              <a:defRPr lang="en-US" sz="1800"/>
            </a:lvl5pPr>
          </a:lstStyle>
          <a:p>
            <a:pPr marL="0" lvl="0">
              <a:lnSpc>
                <a:spcPct val="100000"/>
              </a:lnSpc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1825127" y="226676"/>
            <a:ext cx="8604562" cy="533400"/>
          </a:xfrm>
          <a:prstGeom prst="rect">
            <a:avLst/>
          </a:prstGeom>
        </p:spPr>
        <p:txBody>
          <a:bodyPr anchor="ctr" anchorCtr="0"/>
          <a:lstStyle>
            <a:lvl1pPr algn="l">
              <a:defRPr sz="1800" b="1" baseline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</a:lstStyle>
          <a:p>
            <a:r>
              <a:rPr lang="en-US" altLang="zh-CN" dirty="0"/>
              <a:t>5.1 </a:t>
            </a:r>
            <a:endParaRPr lang="zh-CN" altLang="en-US" dirty="0"/>
          </a:p>
        </p:txBody>
      </p:sp>
      <p:sp>
        <p:nvSpPr>
          <p:cNvPr id="18" name="矩形 17"/>
          <p:cNvSpPr/>
          <p:nvPr userDrawn="1"/>
        </p:nvSpPr>
        <p:spPr>
          <a:xfrm>
            <a:off x="0" y="856581"/>
            <a:ext cx="12192000" cy="45719"/>
          </a:xfrm>
          <a:prstGeom prst="rect">
            <a:avLst/>
          </a:prstGeom>
          <a:gradFill>
            <a:gsLst>
              <a:gs pos="0">
                <a:srgbClr val="5E9EFF"/>
              </a:gs>
              <a:gs pos="53000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65"/>
          </a:p>
        </p:txBody>
      </p:sp>
      <p:grpSp>
        <p:nvGrpSpPr>
          <p:cNvPr id="20" name="组合 2"/>
          <p:cNvGrpSpPr/>
          <p:nvPr userDrawn="1"/>
        </p:nvGrpSpPr>
        <p:grpSpPr bwMode="auto">
          <a:xfrm>
            <a:off x="10410096" y="323849"/>
            <a:ext cx="1969848" cy="352319"/>
            <a:chOff x="16449" y="509"/>
            <a:chExt cx="2731" cy="426"/>
          </a:xfrm>
        </p:grpSpPr>
        <p:sp>
          <p:nvSpPr>
            <p:cNvPr id="21" name="任意多边形 3"/>
            <p:cNvSpPr/>
            <p:nvPr/>
          </p:nvSpPr>
          <p:spPr>
            <a:xfrm>
              <a:off x="17522" y="529"/>
              <a:ext cx="1560" cy="406"/>
            </a:xfrm>
            <a:custGeom>
              <a:avLst/>
              <a:gdLst>
                <a:gd name="connsiteX0" fmla="*/ 0 w 1890"/>
                <a:gd name="connsiteY0" fmla="*/ 406 h 406"/>
                <a:gd name="connsiteX1" fmla="*/ 179 w 1890"/>
                <a:gd name="connsiteY1" fmla="*/ 3 h 406"/>
                <a:gd name="connsiteX2" fmla="*/ 1890 w 1890"/>
                <a:gd name="connsiteY2" fmla="*/ 0 h 406"/>
                <a:gd name="connsiteX3" fmla="*/ 1789 w 1890"/>
                <a:gd name="connsiteY3" fmla="*/ 406 h 406"/>
                <a:gd name="connsiteX4" fmla="*/ 0 w 1890"/>
                <a:gd name="connsiteY4" fmla="*/ 406 h 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" h="406">
                  <a:moveTo>
                    <a:pt x="0" y="406"/>
                  </a:moveTo>
                  <a:lnTo>
                    <a:pt x="179" y="3"/>
                  </a:lnTo>
                  <a:lnTo>
                    <a:pt x="1890" y="0"/>
                  </a:lnTo>
                  <a:lnTo>
                    <a:pt x="1789" y="406"/>
                  </a:lnTo>
                  <a:lnTo>
                    <a:pt x="0" y="406"/>
                  </a:lnTo>
                  <a:close/>
                </a:path>
              </a:pathLst>
            </a:custGeom>
            <a:solidFill>
              <a:srgbClr val="004B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" name="文本框 21"/>
            <p:cNvSpPr txBox="1">
              <a:spLocks noChangeArrowheads="1"/>
            </p:cNvSpPr>
            <p:nvPr/>
          </p:nvSpPr>
          <p:spPr bwMode="auto">
            <a:xfrm>
              <a:off x="16449" y="509"/>
              <a:ext cx="2731" cy="3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zh-CN" sz="1400" dirty="0">
                  <a:solidFill>
                    <a:srgbClr val="BFBFBF"/>
                  </a:solidFill>
                  <a:sym typeface="+mn-lt"/>
                </a:rPr>
                <a:t>国泰海通</a:t>
              </a:r>
              <a:r>
                <a:rPr lang="en-US" altLang="zh-CN" sz="1400">
                  <a:solidFill>
                    <a:srgbClr val="BFBFBF"/>
                  </a:solidFill>
                  <a:sym typeface="+mn-lt"/>
                </a:rPr>
                <a:t>  </a:t>
              </a:r>
              <a:r>
                <a:rPr lang="zh-CN" altLang="zh-CN" sz="1400">
                  <a:solidFill>
                    <a:schemeClr val="bg1"/>
                  </a:solidFill>
                  <a:sym typeface="+mn-lt"/>
                </a:rPr>
                <a:t>投资银行</a:t>
              </a:r>
              <a:endParaRPr lang="en-US" altLang="zh-CN" sz="1400" dirty="0">
                <a:solidFill>
                  <a:schemeClr val="bg1"/>
                </a:solidFill>
                <a:sym typeface="+mn-lt"/>
              </a:endParaRPr>
            </a:p>
          </p:txBody>
        </p:sp>
      </p:grpSp>
      <p:sp>
        <p:nvSpPr>
          <p:cNvPr id="23" name="灯片编号占位符 5"/>
          <p:cNvSpPr txBox="1">
            <a:spLocks noChangeArrowheads="1"/>
          </p:cNvSpPr>
          <p:nvPr userDrawn="1"/>
        </p:nvSpPr>
        <p:spPr bwMode="auto">
          <a:xfrm>
            <a:off x="9101013" y="65087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lIns="91416" tIns="45708" rIns="91416" bIns="45708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r" eaLnBrk="1" hangingPunct="1"/>
            <a:r>
              <a:rPr lang="en-US" altLang="zh-CN" sz="1200">
                <a:solidFill>
                  <a:srgbClr val="898989"/>
                </a:solidFill>
              </a:rPr>
              <a:t>PAGE </a:t>
            </a:r>
            <a:fld id="{33D8948B-CCD5-4BE7-B8D8-AB11D6CCE9DD}" type="slidenum">
              <a:rPr lang="zh-CN" altLang="en-US" sz="1200" smtClean="0">
                <a:solidFill>
                  <a:srgbClr val="898989"/>
                </a:solidFill>
              </a:rPr>
              <a:t>‹#›</a:t>
            </a:fld>
            <a:endParaRPr lang="zh-CN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75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EE1F8E8-8CB3-4EF8-B62A-AB05B3AD45A3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75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EE1F8E8-8CB3-4EF8-B62A-AB05B3AD45A3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5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EE1F8E8-8CB3-4EF8-B62A-AB05B3AD45A3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2338AC-3B45-46E9-A9F0-51073788D2D6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D397D5-46AE-4D6F-BE0B-02C8EE398CF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100800" y="658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E1F8E8-8CB3-4EF8-B62A-AB05B3AD45A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856581"/>
            <a:ext cx="12192000" cy="45719"/>
          </a:xfrm>
          <a:prstGeom prst="rect">
            <a:avLst/>
          </a:prstGeom>
          <a:gradFill>
            <a:gsLst>
              <a:gs pos="0">
                <a:srgbClr val="5E9EFF"/>
              </a:gs>
              <a:gs pos="53000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65"/>
          </a:p>
        </p:txBody>
      </p:sp>
      <p:sp>
        <p:nvSpPr>
          <p:cNvPr id="7" name="标题 6"/>
          <p:cNvSpPr txBox="1"/>
          <p:nvPr userDrawn="1"/>
        </p:nvSpPr>
        <p:spPr>
          <a:xfrm>
            <a:off x="2023200" y="216000"/>
            <a:ext cx="7869920" cy="58123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7119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kern="120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【】</a:t>
            </a:r>
            <a:endParaRPr lang="zh-CN" altLang="en-US" dirty="0"/>
          </a:p>
        </p:txBody>
      </p:sp>
      <p:grpSp>
        <p:nvGrpSpPr>
          <p:cNvPr id="9" name="组合 2"/>
          <p:cNvGrpSpPr/>
          <p:nvPr userDrawn="1"/>
        </p:nvGrpSpPr>
        <p:grpSpPr bwMode="auto">
          <a:xfrm>
            <a:off x="10410096" y="323849"/>
            <a:ext cx="1969848" cy="352319"/>
            <a:chOff x="16449" y="509"/>
            <a:chExt cx="2731" cy="426"/>
          </a:xfrm>
        </p:grpSpPr>
        <p:sp>
          <p:nvSpPr>
            <p:cNvPr id="11" name="任意多边形 3"/>
            <p:cNvSpPr/>
            <p:nvPr/>
          </p:nvSpPr>
          <p:spPr>
            <a:xfrm>
              <a:off x="17522" y="529"/>
              <a:ext cx="1560" cy="406"/>
            </a:xfrm>
            <a:custGeom>
              <a:avLst/>
              <a:gdLst>
                <a:gd name="connsiteX0" fmla="*/ 0 w 1890"/>
                <a:gd name="connsiteY0" fmla="*/ 406 h 406"/>
                <a:gd name="connsiteX1" fmla="*/ 179 w 1890"/>
                <a:gd name="connsiteY1" fmla="*/ 3 h 406"/>
                <a:gd name="connsiteX2" fmla="*/ 1890 w 1890"/>
                <a:gd name="connsiteY2" fmla="*/ 0 h 406"/>
                <a:gd name="connsiteX3" fmla="*/ 1789 w 1890"/>
                <a:gd name="connsiteY3" fmla="*/ 406 h 406"/>
                <a:gd name="connsiteX4" fmla="*/ 0 w 1890"/>
                <a:gd name="connsiteY4" fmla="*/ 406 h 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" h="406">
                  <a:moveTo>
                    <a:pt x="0" y="406"/>
                  </a:moveTo>
                  <a:lnTo>
                    <a:pt x="179" y="3"/>
                  </a:lnTo>
                  <a:lnTo>
                    <a:pt x="1890" y="0"/>
                  </a:lnTo>
                  <a:lnTo>
                    <a:pt x="1789" y="406"/>
                  </a:lnTo>
                  <a:lnTo>
                    <a:pt x="0" y="406"/>
                  </a:lnTo>
                  <a:close/>
                </a:path>
              </a:pathLst>
            </a:custGeom>
            <a:solidFill>
              <a:srgbClr val="004B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16449" y="509"/>
              <a:ext cx="2731" cy="3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zh-CN" sz="1400" dirty="0">
                  <a:solidFill>
                    <a:srgbClr val="BFBFBF"/>
                  </a:solidFill>
                  <a:sym typeface="+mn-lt"/>
                </a:rPr>
                <a:t>国泰海通</a:t>
              </a:r>
              <a:r>
                <a:rPr lang="en-US" altLang="zh-CN" sz="1400">
                  <a:solidFill>
                    <a:srgbClr val="BFBFBF"/>
                  </a:solidFill>
                  <a:sym typeface="+mn-lt"/>
                </a:rPr>
                <a:t> </a:t>
              </a:r>
              <a:r>
                <a:rPr lang="zh-CN" altLang="zh-CN" sz="1400">
                  <a:solidFill>
                    <a:schemeClr val="bg1"/>
                  </a:solidFill>
                  <a:sym typeface="+mn-lt"/>
                </a:rPr>
                <a:t>投资银行</a:t>
              </a:r>
              <a:endParaRPr lang="en-US" altLang="zh-CN" sz="1400" dirty="0">
                <a:solidFill>
                  <a:schemeClr val="bg1"/>
                </a:solidFill>
                <a:sym typeface="+mn-lt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</p:sldLayoutIdLst>
  <p:hf hdr="0" ftr="0" dt="0"/>
  <p:txStyles>
    <p:titleStyle>
      <a:lvl1pPr algn="l" defTabSz="671195" rtl="0" eaLnBrk="1" latinLnBrk="0" hangingPunct="1">
        <a:lnSpc>
          <a:spcPct val="90000"/>
        </a:lnSpc>
        <a:spcBef>
          <a:spcPct val="0"/>
        </a:spcBef>
        <a:buNone/>
        <a:defRPr sz="1765" b="1" kern="1200">
          <a:solidFill>
            <a:schemeClr val="tx1"/>
          </a:solidFill>
          <a:effectLst/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67640" indent="-167640" algn="l" defTabSz="671195" rtl="0" eaLnBrk="1" latinLnBrk="0" hangingPunct="1">
        <a:lnSpc>
          <a:spcPct val="90000"/>
        </a:lnSpc>
        <a:spcBef>
          <a:spcPts val="735"/>
        </a:spcBef>
        <a:buFont typeface="Arial" panose="020B0604020202020204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1pPr>
      <a:lvl2pPr marL="503555" indent="-167640" algn="l" defTabSz="67119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839470" indent="-167640" algn="l" defTabSz="67119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3pPr>
      <a:lvl4pPr marL="1175385" indent="-167640" algn="l" defTabSz="67119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510665" indent="-167640" algn="l" defTabSz="67119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846580" indent="-167640" algn="l" defTabSz="67119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182495" indent="-167640" algn="l" defTabSz="67119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518410" indent="-167640" algn="l" defTabSz="67119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853690" indent="-167640" algn="l" defTabSz="67119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71195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1pPr>
      <a:lvl2pPr marL="335915" algn="l" defTabSz="671195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2pPr>
      <a:lvl3pPr marL="671195" algn="l" defTabSz="671195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3pPr>
      <a:lvl4pPr marL="1007110" algn="l" defTabSz="671195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343025" algn="l" defTabSz="671195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678940" algn="l" defTabSz="671195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014220" algn="l" defTabSz="671195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350135" algn="l" defTabSz="671195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686050" algn="l" defTabSz="671195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-1" y="5048742"/>
            <a:ext cx="12192000" cy="945668"/>
          </a:xfrm>
          <a:prstGeom prst="rect">
            <a:avLst/>
          </a:prstGeom>
          <a:solidFill>
            <a:srgbClr val="006199"/>
          </a:solidFill>
          <a:ln w="1905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52705" y="2771903"/>
            <a:ext cx="12192000" cy="1041580"/>
          </a:xfrm>
          <a:prstGeom prst="rect">
            <a:avLst/>
          </a:prstGeom>
        </p:spPr>
        <p:txBody>
          <a:bodyPr/>
          <a:lstStyle>
            <a:lvl1pPr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上市公司董事会秘书选聘指引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CE9F7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——《上市公司董事会秘书监管规则》要点解读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507772" y="5198930"/>
            <a:ext cx="2723063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Arial" panose="020B0604020202020204" pitchFamily="34" charset="0"/>
              </a:rPr>
              <a:t>国泰海通证券股份有限公司  二○二六年九月</a:t>
            </a:r>
          </a:p>
        </p:txBody>
      </p:sp>
      <p:pic>
        <p:nvPicPr>
          <p:cNvPr id="2" name="图片 1" descr="国泰海通证券-蓝-左右组合【常用】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990" y="367665"/>
            <a:ext cx="2026920" cy="2806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-3104707" y="48909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标题"/>
          <p:cNvSpPr txBox="1"/>
          <p:nvPr/>
        </p:nvSpPr>
        <p:spPr>
          <a:xfrm>
            <a:off x="2023200" y="215053"/>
            <a:ext cx="8000000" cy="58123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1" kern="1200" dirty="0">
                <a:solidFill>
                  <a:srgbClr val="59595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一、法律地位与职责边界</a:t>
            </a:r>
          </a:p>
        </p:txBody>
      </p:sp>
      <p:sp>
        <p:nvSpPr>
          <p:cNvPr id="112" name="Lead"/>
          <p:cNvSpPr txBox="1"/>
          <p:nvPr/>
        </p:nvSpPr>
        <p:spPr>
          <a:xfrm>
            <a:off x="773430" y="1045415"/>
            <a:ext cx="1064514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kern="1200" dirty="0">
                <a:solidFill>
                  <a:srgbClr val="7F7F7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《上市公司董事会秘书监管规则》（证监会公告〔2026〕8号）自2026年5月24日起施行，过渡期至2027年12月31日。</a:t>
            </a:r>
          </a:p>
        </p:txBody>
      </p:sp>
      <p:sp>
        <p:nvSpPr>
          <p:cNvPr id="113" name="SectionBar"/>
          <p:cNvSpPr/>
          <p:nvPr/>
        </p:nvSpPr>
        <p:spPr>
          <a:xfrm>
            <a:off x="773430" y="1375415"/>
            <a:ext cx="10645140" cy="337185"/>
          </a:xfrm>
          <a:prstGeom prst="rect">
            <a:avLst/>
          </a:prstGeom>
          <a:solidFill>
            <a:srgbClr val="004E9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3716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kern="1200" dirty="0">
                <a:solidFill>
                  <a:srgbClr val="FFFF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法律地位</a:t>
            </a:r>
          </a:p>
        </p:txBody>
      </p:sp>
      <p:sp>
        <p:nvSpPr>
          <p:cNvPr id="114" name="Items"/>
          <p:cNvSpPr txBox="1"/>
          <p:nvPr/>
        </p:nvSpPr>
        <p:spPr>
          <a:xfrm>
            <a:off x="773430" y="1892600"/>
            <a:ext cx="10645140" cy="7211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214313" indent="-21431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E98"/>
              </a:buClr>
              <a:buFont typeface="Wingdings" panose="05000000000000000000" pitchFamily="2" charset="2"/>
              <a:buChar char="n"/>
            </a:pPr>
            <a:r>
              <a:rPr lang="zh-CN" altLang="en-US" sz="12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董事会秘书是《公司法》规定的</a:t>
            </a:r>
            <a:r>
              <a:rPr lang="zh-CN" altLang="en-US" sz="1200" b="1" kern="1200" dirty="0">
                <a:solidFill>
                  <a:srgbClr val="004E98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高级管理人员</a:t>
            </a:r>
            <a:r>
              <a:rPr lang="zh-CN" altLang="en-US" sz="12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，由</a:t>
            </a:r>
            <a:r>
              <a:rPr lang="zh-CN" altLang="en-US" sz="1200" b="1" kern="1200" dirty="0">
                <a:solidFill>
                  <a:srgbClr val="004E98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董事会聘任</a:t>
            </a:r>
            <a:r>
              <a:rPr lang="zh-CN" altLang="en-US" sz="12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，向董事会报告工作。</a:t>
            </a:r>
          </a:p>
          <a:p>
            <a:pPr marL="214313" indent="-214313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4E98"/>
              </a:buClr>
              <a:buFont typeface="Wingdings" panose="05000000000000000000" pitchFamily="2" charset="2"/>
              <a:buChar char="n"/>
            </a:pPr>
            <a:r>
              <a:rPr lang="zh-CN" altLang="en-US" sz="12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上市公司应当设董事会秘书。空缺期间由</a:t>
            </a:r>
            <a:r>
              <a:rPr lang="zh-CN" altLang="en-US" sz="1200" b="1" kern="1200" dirty="0">
                <a:solidFill>
                  <a:srgbClr val="004E98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董事长代行</a:t>
            </a:r>
            <a:r>
              <a:rPr lang="zh-CN" altLang="en-US" sz="12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职责，并在</a:t>
            </a:r>
            <a:r>
              <a:rPr lang="zh-CN" altLang="en-US" sz="1200" b="1" kern="1200" dirty="0">
                <a:solidFill>
                  <a:srgbClr val="004E98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六个月内</a:t>
            </a:r>
            <a:r>
              <a:rPr lang="zh-CN" altLang="en-US" sz="12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完成聘任。</a:t>
            </a:r>
          </a:p>
        </p:txBody>
      </p:sp>
      <p:sp>
        <p:nvSpPr>
          <p:cNvPr id="115" name="SectionBar"/>
          <p:cNvSpPr/>
          <p:nvPr/>
        </p:nvSpPr>
        <p:spPr>
          <a:xfrm>
            <a:off x="773430" y="2703731"/>
            <a:ext cx="10645140" cy="337185"/>
          </a:xfrm>
          <a:prstGeom prst="rect">
            <a:avLst/>
          </a:prstGeom>
          <a:solidFill>
            <a:srgbClr val="004E9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3716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kern="1200" dirty="0">
                <a:solidFill>
                  <a:srgbClr val="FFFF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职责边界</a:t>
            </a:r>
          </a:p>
        </p:txBody>
      </p:sp>
      <p:sp>
        <p:nvSpPr>
          <p:cNvPr id="116" name="Col"/>
          <p:cNvSpPr/>
          <p:nvPr/>
        </p:nvSpPr>
        <p:spPr>
          <a:xfrm>
            <a:off x="773430" y="3220916"/>
            <a:ext cx="5202570" cy="1769097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txBody>
          <a:bodyPr wrap="square" lIns="182880" tIns="137160" rIns="137160" bIns="91440" rtlCol="0" anchor="ctr"/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kern="1200" dirty="0">
                <a:solidFill>
                  <a:srgbClr val="004E98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负责的事项</a:t>
            </a:r>
          </a:p>
          <a:p>
            <a:pPr marL="0" indent="0" algn="l">
              <a:lnSpc>
                <a:spcPct val="140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zh-CN" altLang="en-US" sz="12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信息披露事务：定期报告、临时报告的组织编制与披露</a:t>
            </a:r>
          </a:p>
          <a:p>
            <a:pPr marL="0" indent="0" algn="l">
              <a:lnSpc>
                <a:spcPct val="140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zh-CN" altLang="en-US" sz="12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公司治理运作：股东会、董事会的召集、召开与会议记录</a:t>
            </a:r>
          </a:p>
          <a:p>
            <a:pPr marL="0" indent="0" algn="l">
              <a:lnSpc>
                <a:spcPct val="140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zh-CN" altLang="en-US" sz="12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内外沟通：股东、投资者、董事与证监会、证券交易所</a:t>
            </a:r>
          </a:p>
        </p:txBody>
      </p:sp>
      <p:sp>
        <p:nvSpPr>
          <p:cNvPr id="117" name="Col"/>
          <p:cNvSpPr/>
          <p:nvPr/>
        </p:nvSpPr>
        <p:spPr>
          <a:xfrm>
            <a:off x="6216000" y="3220916"/>
            <a:ext cx="5202570" cy="1769097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txBody>
          <a:bodyPr wrap="square" lIns="182880" tIns="137160" rIns="137160" bIns="91440" rtlCol="0" anchor="ctr"/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kern="1200" dirty="0">
                <a:solidFill>
                  <a:srgbClr val="004E98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应当与之分开的事项</a:t>
            </a:r>
          </a:p>
          <a:p>
            <a:pPr marL="0" indent="0" algn="l">
              <a:lnSpc>
                <a:spcPct val="140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zh-CN" altLang="en-US" sz="12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经营决策与业务执行——属经理层职责</a:t>
            </a:r>
          </a:p>
          <a:p>
            <a:pPr marL="0" indent="0" algn="l">
              <a:lnSpc>
                <a:spcPct val="140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zh-CN" altLang="en-US" sz="12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财务核算与资金管理——属财务负责人职责</a:t>
            </a:r>
          </a:p>
          <a:p>
            <a:pPr marL="0" indent="0" algn="l">
              <a:lnSpc>
                <a:spcPct val="140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zh-CN" altLang="en-US" sz="1200" b="1" kern="1200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故不得兼任经理、分管经营业务的副经理、财务负责人</a:t>
            </a:r>
          </a:p>
        </p:txBody>
      </p:sp>
      <p:sp>
        <p:nvSpPr>
          <p:cNvPr id="118" name="SectionBar"/>
          <p:cNvSpPr/>
          <p:nvPr/>
        </p:nvSpPr>
        <p:spPr>
          <a:xfrm>
            <a:off x="773430" y="5140013"/>
            <a:ext cx="10645140" cy="337185"/>
          </a:xfrm>
          <a:prstGeom prst="rect">
            <a:avLst/>
          </a:prstGeom>
          <a:solidFill>
            <a:srgbClr val="004E9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3716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kern="1200" dirty="0">
                <a:solidFill>
                  <a:srgbClr val="FFFF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履职责任</a:t>
            </a:r>
          </a:p>
        </p:txBody>
      </p:sp>
      <p:sp>
        <p:nvSpPr>
          <p:cNvPr id="119" name="Items"/>
          <p:cNvSpPr txBox="1"/>
          <p:nvPr/>
        </p:nvSpPr>
        <p:spPr>
          <a:xfrm>
            <a:off x="773430" y="5657198"/>
            <a:ext cx="10645140" cy="3621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214313" indent="-21431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E98"/>
              </a:buClr>
              <a:buFont typeface="Wingdings" panose="05000000000000000000" pitchFamily="2" charset="2"/>
              <a:buChar char="n"/>
            </a:pPr>
            <a:r>
              <a:rPr lang="zh-CN" altLang="en-US" sz="12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对</a:t>
            </a:r>
            <a:r>
              <a:rPr lang="zh-CN" altLang="en-US" sz="1200" b="1" kern="1200" dirty="0">
                <a:solidFill>
                  <a:srgbClr val="004E98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临时报告</a:t>
            </a:r>
            <a:r>
              <a:rPr lang="zh-CN" altLang="en-US" sz="12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信息披露的真实、准确、完整承担</a:t>
            </a:r>
            <a:r>
              <a:rPr lang="zh-CN" altLang="en-US" sz="1200" b="1" kern="1200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主要责任</a:t>
            </a:r>
            <a:r>
              <a:rPr lang="zh-CN" altLang="en-US" sz="12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；未勤勉尽责的，依法追责。</a:t>
            </a:r>
          </a:p>
        </p:txBody>
      </p:sp>
      <p:sp>
        <p:nvSpPr>
          <p:cNvPr id="120" name="Source"/>
          <p:cNvSpPr txBox="1"/>
          <p:nvPr/>
        </p:nvSpPr>
        <p:spPr>
          <a:xfrm>
            <a:off x="773430" y="6180000"/>
            <a:ext cx="1064514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kern="1200" dirty="0">
                <a:solidFill>
                  <a:srgbClr val="7F7F7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依据：《上市公司董事会秘书监管规则》第二条、第七条、第二十五条、第二十六条、第三十六条。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标题"/>
          <p:cNvSpPr txBox="1"/>
          <p:nvPr/>
        </p:nvSpPr>
        <p:spPr>
          <a:xfrm>
            <a:off x="2023200" y="215053"/>
            <a:ext cx="8000000" cy="58123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1" kern="1200" dirty="0">
                <a:solidFill>
                  <a:srgbClr val="59595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二、任职资格（一）：专业背景与从业年限</a:t>
            </a:r>
          </a:p>
        </p:txBody>
      </p:sp>
      <p:sp>
        <p:nvSpPr>
          <p:cNvPr id="105" name="SectionBar"/>
          <p:cNvSpPr/>
          <p:nvPr/>
        </p:nvSpPr>
        <p:spPr>
          <a:xfrm>
            <a:off x="773430" y="1070365"/>
            <a:ext cx="10645140" cy="337185"/>
          </a:xfrm>
          <a:prstGeom prst="rect">
            <a:avLst/>
          </a:prstGeom>
          <a:solidFill>
            <a:srgbClr val="004E9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3716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kern="1200" dirty="0">
                <a:solidFill>
                  <a:srgbClr val="FFFF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专业背景与年限（规则第二十二条第一项）：下列三类情形符合其一即可</a:t>
            </a:r>
          </a:p>
        </p:txBody>
      </p:sp>
      <p:sp>
        <p:nvSpPr>
          <p:cNvPr id="106" name="Col"/>
          <p:cNvSpPr/>
          <p:nvPr/>
        </p:nvSpPr>
        <p:spPr>
          <a:xfrm>
            <a:off x="773430" y="1587550"/>
            <a:ext cx="3388380" cy="1816012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txBody>
          <a:bodyPr wrap="square" lIns="182880" tIns="137160" rIns="137160" bIns="91440" rtlCol="0" anchor="ctr"/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kern="1200" dirty="0">
                <a:solidFill>
                  <a:srgbClr val="004E98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路径一 ｜ 相关工作经验</a:t>
            </a:r>
          </a:p>
          <a:p>
            <a:pPr marL="0" indent="0" algn="l">
              <a:lnSpc>
                <a:spcPct val="140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zh-CN" altLang="en-US" sz="12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财务、会计、审计、法律合规、金融从业，或其他与履行董事会秘书职责相关的经验</a:t>
            </a:r>
          </a:p>
          <a:p>
            <a:pPr marL="0" indent="0" algn="l">
              <a:lnSpc>
                <a:spcPct val="140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zh-CN" altLang="en-US" sz="1200" b="1" kern="1200" dirty="0">
                <a:solidFill>
                  <a:srgbClr val="004E98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＋ 五年以上工作经验</a:t>
            </a:r>
          </a:p>
        </p:txBody>
      </p:sp>
      <p:sp>
        <p:nvSpPr>
          <p:cNvPr id="107" name="Col"/>
          <p:cNvSpPr/>
          <p:nvPr/>
        </p:nvSpPr>
        <p:spPr>
          <a:xfrm>
            <a:off x="4401810" y="1587550"/>
            <a:ext cx="3388380" cy="1816012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txBody>
          <a:bodyPr wrap="square" lIns="182880" tIns="137160" rIns="137160" bIns="91440" rtlCol="0" anchor="ctr"/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kern="1200" dirty="0">
                <a:solidFill>
                  <a:srgbClr val="004E98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路径二 ｜ 法律职业资格</a:t>
            </a:r>
          </a:p>
          <a:p>
            <a:pPr marL="0" indent="0" algn="l">
              <a:lnSpc>
                <a:spcPct val="140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zh-CN" altLang="en-US" sz="12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取得法律职业资格证书</a:t>
            </a:r>
          </a:p>
          <a:p>
            <a:pPr marL="0" indent="0" algn="l">
              <a:lnSpc>
                <a:spcPct val="140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zh-CN" altLang="en-US" sz="1200" b="1" kern="1200" dirty="0">
                <a:solidFill>
                  <a:srgbClr val="004E98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＋ 五年以上工作经验</a:t>
            </a:r>
          </a:p>
        </p:txBody>
      </p:sp>
      <p:sp>
        <p:nvSpPr>
          <p:cNvPr id="108" name="Col"/>
          <p:cNvSpPr/>
          <p:nvPr/>
        </p:nvSpPr>
        <p:spPr>
          <a:xfrm>
            <a:off x="8030190" y="1587550"/>
            <a:ext cx="3388380" cy="1816012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txBody>
          <a:bodyPr wrap="square" lIns="182880" tIns="137160" rIns="137160" bIns="91440" rtlCol="0" anchor="ctr"/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kern="1200" dirty="0">
                <a:solidFill>
                  <a:srgbClr val="004E98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路径三 ｜ 注册会计师</a:t>
            </a:r>
          </a:p>
          <a:p>
            <a:pPr marL="0" indent="0" algn="l">
              <a:lnSpc>
                <a:spcPct val="140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zh-CN" altLang="en-US" sz="12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取得注册会计师证书</a:t>
            </a:r>
          </a:p>
          <a:p>
            <a:pPr marL="0" indent="0" algn="l">
              <a:lnSpc>
                <a:spcPct val="140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zh-CN" altLang="en-US" sz="1200" b="1" kern="1200" dirty="0">
                <a:solidFill>
                  <a:srgbClr val="004E98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＋ 五年以上工作经验</a:t>
            </a:r>
          </a:p>
        </p:txBody>
      </p:sp>
      <p:sp>
        <p:nvSpPr>
          <p:cNvPr id="109" name="SectionBar"/>
          <p:cNvSpPr/>
          <p:nvPr/>
        </p:nvSpPr>
        <p:spPr>
          <a:xfrm>
            <a:off x="773430" y="3745632"/>
            <a:ext cx="10645140" cy="337185"/>
          </a:xfrm>
          <a:prstGeom prst="rect">
            <a:avLst/>
          </a:prstGeom>
          <a:solidFill>
            <a:srgbClr val="004E9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3716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kern="1200" dirty="0">
                <a:solidFill>
                  <a:srgbClr val="FFFF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其他要求</a:t>
            </a:r>
          </a:p>
        </p:txBody>
      </p:sp>
      <p:sp>
        <p:nvSpPr>
          <p:cNvPr id="110" name="Items"/>
          <p:cNvSpPr txBox="1"/>
          <p:nvPr/>
        </p:nvSpPr>
        <p:spPr>
          <a:xfrm>
            <a:off x="773430" y="4262817"/>
            <a:ext cx="10645140" cy="16571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214313" indent="-214313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4E98"/>
              </a:buClr>
              <a:buFont typeface="Wingdings" panose="05000000000000000000" pitchFamily="2" charset="2"/>
              <a:buChar char="n"/>
            </a:pPr>
            <a:r>
              <a:rPr lang="zh-CN" altLang="en-US" sz="16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具有良好的职业道德和个人品德，熟悉证券法律法规和证券交易所业务规则。</a:t>
            </a:r>
          </a:p>
          <a:p>
            <a:pPr marL="214313" indent="-214313" algn="l">
              <a:lnSpc>
                <a:spcPct val="170000"/>
              </a:lnSpc>
              <a:spcBef>
                <a:spcPts val="800"/>
              </a:spcBef>
              <a:spcAft>
                <a:spcPts val="0"/>
              </a:spcAft>
              <a:buClr>
                <a:srgbClr val="004E98"/>
              </a:buClr>
              <a:buFont typeface="Wingdings" panose="05000000000000000000" pitchFamily="2" charset="2"/>
              <a:buChar char="n"/>
            </a:pPr>
            <a:r>
              <a:rPr lang="zh-CN" altLang="en-US" sz="16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聘任时应当就候选人符合上述各项情形</a:t>
            </a:r>
            <a:r>
              <a:rPr lang="zh-CN" altLang="en-US" sz="1600" b="1" kern="1200" dirty="0">
                <a:solidFill>
                  <a:srgbClr val="004E98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作出说明并予以披露</a:t>
            </a:r>
            <a:r>
              <a:rPr lang="zh-CN" altLang="en-US" sz="16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214313" indent="-214313" algn="l">
              <a:lnSpc>
                <a:spcPct val="170000"/>
              </a:lnSpc>
              <a:spcBef>
                <a:spcPts val="800"/>
              </a:spcBef>
              <a:spcAft>
                <a:spcPts val="0"/>
              </a:spcAft>
              <a:buClr>
                <a:srgbClr val="004E98"/>
              </a:buClr>
              <a:buFont typeface="Wingdings" panose="05000000000000000000" pitchFamily="2" charset="2"/>
              <a:buChar char="n"/>
            </a:pPr>
            <a:r>
              <a:rPr lang="zh-CN" altLang="en-US" sz="16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长期担任上市公司董事会秘书或证券事务代表的，可认定为相关工作经验。</a:t>
            </a:r>
          </a:p>
        </p:txBody>
      </p:sp>
      <p:sp>
        <p:nvSpPr>
          <p:cNvPr id="111" name="Source"/>
          <p:cNvSpPr txBox="1"/>
          <p:nvPr/>
        </p:nvSpPr>
        <p:spPr>
          <a:xfrm>
            <a:off x="773430" y="6180000"/>
            <a:ext cx="1064514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kern="1200" dirty="0">
                <a:solidFill>
                  <a:srgbClr val="7F7F7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依据：《上市公司董事会秘书监管规则》第二十二条第一款、第一项；《〈上市公司董事会秘书监管规则〉起草说明》。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标题"/>
          <p:cNvSpPr txBox="1"/>
          <p:nvPr/>
        </p:nvSpPr>
        <p:spPr>
          <a:xfrm>
            <a:off x="2023200" y="215053"/>
            <a:ext cx="8000000" cy="58123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1" kern="1200" dirty="0">
                <a:solidFill>
                  <a:srgbClr val="59595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三、任职资格（二）：不得担任的情形</a:t>
            </a:r>
          </a:p>
        </p:txBody>
      </p:sp>
      <p:sp>
        <p:nvSpPr>
          <p:cNvPr id="102" name="SectionBar"/>
          <p:cNvSpPr/>
          <p:nvPr/>
        </p:nvSpPr>
        <p:spPr>
          <a:xfrm>
            <a:off x="773430" y="1054373"/>
            <a:ext cx="10645140" cy="337185"/>
          </a:xfrm>
          <a:prstGeom prst="rect">
            <a:avLst/>
          </a:prstGeom>
          <a:solidFill>
            <a:srgbClr val="004E9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3716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kern="1200" dirty="0">
                <a:solidFill>
                  <a:srgbClr val="FFFF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《公司法》第一百七十八条规定的情形</a:t>
            </a:r>
          </a:p>
        </p:txBody>
      </p:sp>
      <p:sp>
        <p:nvSpPr>
          <p:cNvPr id="103" name="Items"/>
          <p:cNvSpPr txBox="1"/>
          <p:nvPr/>
        </p:nvSpPr>
        <p:spPr>
          <a:xfrm>
            <a:off x="773430" y="1571558"/>
            <a:ext cx="10645140" cy="18199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214313" indent="-214313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4E98"/>
              </a:buClr>
              <a:buFont typeface="Wingdings" panose="05000000000000000000" pitchFamily="2" charset="2"/>
              <a:buChar char="n"/>
            </a:pPr>
            <a:r>
              <a:rPr lang="zh-CN" altLang="en-US" sz="14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无民事行为能力或者限制民事行为能力。</a:t>
            </a:r>
          </a:p>
          <a:p>
            <a:pPr marL="214313" indent="-214313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Clr>
                <a:srgbClr val="004E98"/>
              </a:buClr>
              <a:buFont typeface="Wingdings" panose="05000000000000000000" pitchFamily="2" charset="2"/>
              <a:buChar char="n"/>
            </a:pPr>
            <a:r>
              <a:rPr lang="zh-CN" altLang="en-US" sz="14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因贪污、贿赂、侵占财产、挪用财产或破坏社会主义市场经济秩序被判处刑罚，执行期满</a:t>
            </a:r>
            <a:r>
              <a:rPr lang="zh-CN" altLang="en-US" sz="1400" b="1" kern="1200" dirty="0">
                <a:solidFill>
                  <a:srgbClr val="004E98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未逾五年</a:t>
            </a:r>
            <a:r>
              <a:rPr lang="zh-CN" altLang="en-US" sz="14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（缓刑的，考验期满未逾二年）。</a:t>
            </a:r>
          </a:p>
          <a:p>
            <a:pPr marL="214313" indent="-214313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Clr>
                <a:srgbClr val="004E98"/>
              </a:buClr>
              <a:buFont typeface="Wingdings" panose="05000000000000000000" pitchFamily="2" charset="2"/>
              <a:buChar char="n"/>
            </a:pPr>
            <a:r>
              <a:rPr lang="zh-CN" altLang="en-US" sz="14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对所任职公司破产负有个人责任，清算完结</a:t>
            </a:r>
            <a:r>
              <a:rPr lang="zh-CN" altLang="en-US" sz="1400" b="1" kern="1200" dirty="0">
                <a:solidFill>
                  <a:srgbClr val="004E98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未逾三年</a:t>
            </a:r>
            <a:r>
              <a:rPr lang="zh-CN" altLang="en-US" sz="14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；因违法被吊销执照、责令关闭负有个人责任，</a:t>
            </a:r>
            <a:r>
              <a:rPr lang="zh-CN" altLang="en-US" sz="1400" b="1" kern="1200" dirty="0">
                <a:solidFill>
                  <a:srgbClr val="004E98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未逾三年</a:t>
            </a:r>
            <a:r>
              <a:rPr lang="zh-CN" altLang="en-US" sz="14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214313" indent="-214313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Clr>
                <a:srgbClr val="004E98"/>
              </a:buClr>
              <a:buFont typeface="Wingdings" panose="05000000000000000000" pitchFamily="2" charset="2"/>
              <a:buChar char="n"/>
            </a:pPr>
            <a:r>
              <a:rPr lang="zh-CN" altLang="en-US" sz="14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因数额较大债务到期未清偿，被列为</a:t>
            </a:r>
            <a:r>
              <a:rPr lang="zh-CN" altLang="en-US" sz="1400" b="1" kern="1200" dirty="0">
                <a:solidFill>
                  <a:srgbClr val="004E98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失信被执行人</a:t>
            </a:r>
            <a:r>
              <a:rPr lang="zh-CN" altLang="en-US" sz="14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04" name="SectionBar"/>
          <p:cNvSpPr/>
          <p:nvPr/>
        </p:nvSpPr>
        <p:spPr>
          <a:xfrm>
            <a:off x="773430" y="3582910"/>
            <a:ext cx="10645140" cy="337185"/>
          </a:xfrm>
          <a:prstGeom prst="rect">
            <a:avLst/>
          </a:prstGeom>
          <a:solidFill>
            <a:srgbClr val="004E9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3716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kern="1200" dirty="0">
                <a:solidFill>
                  <a:srgbClr val="FFFF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规则第二十二条规定的处分记录</a:t>
            </a:r>
          </a:p>
        </p:txBody>
      </p:sp>
      <p:sp>
        <p:nvSpPr>
          <p:cNvPr id="105" name="Items"/>
          <p:cNvSpPr txBox="1"/>
          <p:nvPr/>
        </p:nvSpPr>
        <p:spPr>
          <a:xfrm>
            <a:off x="773430" y="4100095"/>
            <a:ext cx="10645140" cy="18199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214313" indent="-214313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4E98"/>
              </a:buClr>
              <a:buFont typeface="Wingdings" panose="05000000000000000000" pitchFamily="2" charset="2"/>
              <a:buChar char="n"/>
            </a:pPr>
            <a:r>
              <a:rPr lang="zh-CN" altLang="en-US" sz="14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最近</a:t>
            </a:r>
            <a:r>
              <a:rPr lang="zh-CN" altLang="en-US" sz="1400" b="1" kern="1200" dirty="0">
                <a:solidFill>
                  <a:srgbClr val="004E98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三十六个月</a:t>
            </a:r>
            <a:r>
              <a:rPr lang="zh-CN" altLang="en-US" sz="14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被中国证监会行政处罚，或被采取三次以上行政监督管理措施。</a:t>
            </a:r>
          </a:p>
          <a:p>
            <a:pPr marL="214313" indent="-214313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Clr>
                <a:srgbClr val="004E98"/>
              </a:buClr>
              <a:buFont typeface="Wingdings" panose="05000000000000000000" pitchFamily="2" charset="2"/>
              <a:buChar char="n"/>
            </a:pPr>
            <a:r>
              <a:rPr lang="zh-CN" altLang="en-US" sz="14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最近</a:t>
            </a:r>
            <a:r>
              <a:rPr lang="zh-CN" altLang="en-US" sz="1400" b="1" kern="1200" dirty="0">
                <a:solidFill>
                  <a:srgbClr val="004E98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三十六个月</a:t>
            </a:r>
            <a:r>
              <a:rPr lang="zh-CN" altLang="en-US" sz="14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被证券交易所公开谴责，或三次以上通报批评。</a:t>
            </a:r>
          </a:p>
          <a:p>
            <a:pPr marL="214313" indent="-214313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Clr>
                <a:srgbClr val="004E98"/>
              </a:buClr>
              <a:buFont typeface="Wingdings" panose="05000000000000000000" pitchFamily="2" charset="2"/>
              <a:buChar char="n"/>
            </a:pPr>
            <a:r>
              <a:rPr lang="zh-CN" altLang="en-US" sz="14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被证监会采取证券市场禁入，或被交易所公开认定不适合担任董监高，期限未届满。</a:t>
            </a:r>
          </a:p>
          <a:p>
            <a:pPr marL="214313" indent="-214313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Clr>
                <a:srgbClr val="004E98"/>
              </a:buClr>
              <a:buFont typeface="Wingdings" panose="05000000000000000000" pitchFamily="2" charset="2"/>
              <a:buChar char="n"/>
            </a:pPr>
            <a:r>
              <a:rPr lang="zh-CN" altLang="en-US" sz="1400" b="1" kern="1200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违反上述规定聘任的，聘任无效；任职期间出现的，公司应当解除其职务。</a:t>
            </a:r>
          </a:p>
        </p:txBody>
      </p:sp>
      <p:sp>
        <p:nvSpPr>
          <p:cNvPr id="106" name="Source"/>
          <p:cNvSpPr txBox="1"/>
          <p:nvPr/>
        </p:nvSpPr>
        <p:spPr>
          <a:xfrm>
            <a:off x="773430" y="6180000"/>
            <a:ext cx="1064514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kern="1200" dirty="0">
                <a:solidFill>
                  <a:srgbClr val="7F7F7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依据：《公司法》第一百七十八条；《上市公司董事会秘书监管规则》第二十二条第二项至第六项。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标题"/>
          <p:cNvSpPr txBox="1"/>
          <p:nvPr/>
        </p:nvSpPr>
        <p:spPr>
          <a:xfrm>
            <a:off x="2023200" y="215053"/>
            <a:ext cx="8000000" cy="58123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1" kern="1200" dirty="0">
                <a:solidFill>
                  <a:srgbClr val="59595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四、兼任限制与利益冲突防范</a:t>
            </a:r>
          </a:p>
        </p:txBody>
      </p:sp>
      <p:sp>
        <p:nvSpPr>
          <p:cNvPr id="105" name="SectionBar"/>
          <p:cNvSpPr/>
          <p:nvPr/>
        </p:nvSpPr>
        <p:spPr>
          <a:xfrm>
            <a:off x="773430" y="1135169"/>
            <a:ext cx="10645140" cy="337185"/>
          </a:xfrm>
          <a:prstGeom prst="rect">
            <a:avLst/>
          </a:prstGeom>
          <a:solidFill>
            <a:srgbClr val="004E9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3716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kern="1200" dirty="0">
                <a:solidFill>
                  <a:srgbClr val="FFFF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不得兼任的职务（规则第二十六条）</a:t>
            </a:r>
          </a:p>
        </p:txBody>
      </p:sp>
      <p:sp>
        <p:nvSpPr>
          <p:cNvPr id="106" name="Col"/>
          <p:cNvSpPr/>
          <p:nvPr/>
        </p:nvSpPr>
        <p:spPr>
          <a:xfrm>
            <a:off x="773430" y="1652354"/>
            <a:ext cx="3388380" cy="1383985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txBody>
          <a:bodyPr wrap="square" lIns="182880" tIns="137160" rIns="137160" bIns="91440" rtlCol="0" anchor="ctr"/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kern="1200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✕　经理（总经理）</a:t>
            </a:r>
          </a:p>
          <a:p>
            <a:pPr marL="0" indent="0" algn="l">
              <a:lnSpc>
                <a:spcPct val="140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zh-CN" altLang="en-US" sz="12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全面负责公司经营管理</a:t>
            </a:r>
          </a:p>
        </p:txBody>
      </p:sp>
      <p:sp>
        <p:nvSpPr>
          <p:cNvPr id="107" name="Col"/>
          <p:cNvSpPr/>
          <p:nvPr/>
        </p:nvSpPr>
        <p:spPr>
          <a:xfrm>
            <a:off x="4401810" y="1652354"/>
            <a:ext cx="3388380" cy="1383985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txBody>
          <a:bodyPr wrap="square" lIns="182880" tIns="137160" rIns="137160" bIns="91440" rtlCol="0" anchor="ctr"/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kern="1200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✕　分管经营业务的副经理</a:t>
            </a:r>
          </a:p>
          <a:p>
            <a:pPr marL="0" indent="0" algn="l">
              <a:lnSpc>
                <a:spcPct val="140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zh-CN" altLang="en-US" sz="12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直接主管具体经营业务</a:t>
            </a:r>
          </a:p>
        </p:txBody>
      </p:sp>
      <p:sp>
        <p:nvSpPr>
          <p:cNvPr id="108" name="Col"/>
          <p:cNvSpPr/>
          <p:nvPr/>
        </p:nvSpPr>
        <p:spPr>
          <a:xfrm>
            <a:off x="8030190" y="1652354"/>
            <a:ext cx="3388380" cy="1383985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txBody>
          <a:bodyPr wrap="square" lIns="182880" tIns="137160" rIns="137160" bIns="91440" rtlCol="0" anchor="ctr"/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kern="1200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✕　财务负责人</a:t>
            </a:r>
          </a:p>
          <a:p>
            <a:pPr marL="0" indent="0" algn="l">
              <a:lnSpc>
                <a:spcPct val="140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zh-CN" altLang="en-US" sz="12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主管财务核算与资金</a:t>
            </a:r>
          </a:p>
        </p:txBody>
      </p:sp>
      <p:sp>
        <p:nvSpPr>
          <p:cNvPr id="109" name="SectionBar"/>
          <p:cNvSpPr/>
          <p:nvPr/>
        </p:nvSpPr>
        <p:spPr>
          <a:xfrm>
            <a:off x="773430" y="3745632"/>
            <a:ext cx="10645140" cy="337185"/>
          </a:xfrm>
          <a:prstGeom prst="rect">
            <a:avLst/>
          </a:prstGeom>
          <a:solidFill>
            <a:srgbClr val="004E9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3716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kern="1200" dirty="0">
                <a:solidFill>
                  <a:srgbClr val="FFFF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兼任公司其他职务的，应当同时满足</a:t>
            </a:r>
          </a:p>
        </p:txBody>
      </p:sp>
      <p:sp>
        <p:nvSpPr>
          <p:cNvPr id="110" name="Items"/>
          <p:cNvSpPr txBox="1"/>
          <p:nvPr/>
        </p:nvSpPr>
        <p:spPr>
          <a:xfrm>
            <a:off x="773430" y="4262817"/>
            <a:ext cx="10645140" cy="16571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214313" indent="-214313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4E98"/>
              </a:buClr>
              <a:buFont typeface="Wingdings" panose="05000000000000000000" pitchFamily="2" charset="2"/>
              <a:buChar char="n"/>
            </a:pPr>
            <a:r>
              <a:rPr lang="zh-CN" altLang="en-US" sz="16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明确区分董事会秘书与其他职务的职责。</a:t>
            </a:r>
          </a:p>
          <a:p>
            <a:pPr marL="214313" indent="-214313" algn="l">
              <a:lnSpc>
                <a:spcPct val="170000"/>
              </a:lnSpc>
              <a:spcBef>
                <a:spcPts val="800"/>
              </a:spcBef>
              <a:spcAft>
                <a:spcPts val="0"/>
              </a:spcAft>
              <a:buClr>
                <a:srgbClr val="004E98"/>
              </a:buClr>
              <a:buFont typeface="Wingdings" panose="05000000000000000000" pitchFamily="2" charset="2"/>
              <a:buChar char="n"/>
            </a:pPr>
            <a:r>
              <a:rPr lang="zh-CN" altLang="en-US" sz="16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保证有</a:t>
            </a:r>
            <a:r>
              <a:rPr lang="zh-CN" altLang="en-US" sz="1600" b="1" kern="1200" dirty="0">
                <a:solidFill>
                  <a:srgbClr val="004E98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足够的时间和精力</a:t>
            </a:r>
            <a:r>
              <a:rPr lang="zh-CN" altLang="en-US" sz="16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独立履行董事会秘书职责。</a:t>
            </a:r>
          </a:p>
          <a:p>
            <a:pPr marL="214313" indent="-214313" algn="l">
              <a:lnSpc>
                <a:spcPct val="170000"/>
              </a:lnSpc>
              <a:spcBef>
                <a:spcPts val="800"/>
              </a:spcBef>
              <a:spcAft>
                <a:spcPts val="0"/>
              </a:spcAft>
              <a:buClr>
                <a:srgbClr val="004E98"/>
              </a:buClr>
              <a:buFont typeface="Wingdings" panose="05000000000000000000" pitchFamily="2" charset="2"/>
              <a:buChar char="n"/>
            </a:pPr>
            <a:r>
              <a:rPr lang="zh-CN" altLang="en-US" sz="16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现任安排不符合规定的，应当在</a:t>
            </a:r>
            <a:r>
              <a:rPr lang="zh-CN" altLang="en-US" sz="1600" b="1" kern="1200" dirty="0">
                <a:solidFill>
                  <a:srgbClr val="004E98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2027年12月31日</a:t>
            </a:r>
            <a:r>
              <a:rPr lang="zh-CN" altLang="en-US" sz="16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前调整到位。</a:t>
            </a:r>
          </a:p>
        </p:txBody>
      </p:sp>
      <p:sp>
        <p:nvSpPr>
          <p:cNvPr id="111" name="Source"/>
          <p:cNvSpPr txBox="1"/>
          <p:nvPr/>
        </p:nvSpPr>
        <p:spPr>
          <a:xfrm>
            <a:off x="773430" y="6180000"/>
            <a:ext cx="1064514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kern="1200" dirty="0">
                <a:solidFill>
                  <a:srgbClr val="7F7F7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依据：《上市公司董事会秘书监管规则》第二十六条、第三十八条。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标题"/>
          <p:cNvSpPr txBox="1"/>
          <p:nvPr/>
        </p:nvSpPr>
        <p:spPr>
          <a:xfrm>
            <a:off x="2023200" y="215053"/>
            <a:ext cx="8000000" cy="58123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1" kern="1200" dirty="0">
                <a:solidFill>
                  <a:srgbClr val="59595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五、董事会秘书的法定职责</a:t>
            </a:r>
          </a:p>
        </p:txBody>
      </p:sp>
      <p:sp>
        <p:nvSpPr>
          <p:cNvPr id="102" name="SectionBar"/>
          <p:cNvSpPr/>
          <p:nvPr/>
        </p:nvSpPr>
        <p:spPr>
          <a:xfrm>
            <a:off x="773430" y="1103189"/>
            <a:ext cx="10645140" cy="337185"/>
          </a:xfrm>
          <a:prstGeom prst="rect">
            <a:avLst/>
          </a:prstGeom>
          <a:solidFill>
            <a:srgbClr val="004E9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3716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kern="1200" dirty="0">
                <a:solidFill>
                  <a:srgbClr val="FFFF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四项主要职责</a:t>
            </a:r>
          </a:p>
        </p:txBody>
      </p:sp>
      <p:sp>
        <p:nvSpPr>
          <p:cNvPr id="103" name="Items"/>
          <p:cNvSpPr txBox="1"/>
          <p:nvPr/>
        </p:nvSpPr>
        <p:spPr>
          <a:xfrm>
            <a:off x="773430" y="1620374"/>
            <a:ext cx="10645140" cy="22275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214313" indent="-214313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4E98"/>
              </a:buClr>
              <a:buFont typeface="Wingdings" panose="05000000000000000000" pitchFamily="2" charset="2"/>
              <a:buChar char="n"/>
            </a:pPr>
            <a:r>
              <a:rPr lang="zh-CN" altLang="en-US" sz="1600" b="1" kern="1200" dirty="0">
                <a:solidFill>
                  <a:srgbClr val="004E98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信息披露：</a:t>
            </a:r>
            <a:r>
              <a:rPr lang="zh-CN" altLang="en-US" sz="16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组织编制和披露定期报告、临时报告，办理暂缓与豁免，管理内幕信息知情人档案。</a:t>
            </a:r>
          </a:p>
          <a:p>
            <a:pPr marL="214313" indent="-214313" algn="l">
              <a:lnSpc>
                <a:spcPct val="170000"/>
              </a:lnSpc>
              <a:spcBef>
                <a:spcPts val="800"/>
              </a:spcBef>
              <a:spcAft>
                <a:spcPts val="0"/>
              </a:spcAft>
              <a:buClr>
                <a:srgbClr val="004E98"/>
              </a:buClr>
              <a:buFont typeface="Wingdings" panose="05000000000000000000" pitchFamily="2" charset="2"/>
              <a:buChar char="n"/>
            </a:pPr>
            <a:r>
              <a:rPr lang="zh-CN" altLang="en-US" sz="1600" b="1" kern="1200" dirty="0">
                <a:solidFill>
                  <a:srgbClr val="004E98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公司治理：</a:t>
            </a:r>
            <a:r>
              <a:rPr lang="zh-CN" altLang="en-US" sz="16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筹备董事会、股东会，保证召集、召开和表决程序合规，负责会议记录。</a:t>
            </a:r>
          </a:p>
          <a:p>
            <a:pPr marL="214313" indent="-214313" algn="l">
              <a:lnSpc>
                <a:spcPct val="170000"/>
              </a:lnSpc>
              <a:spcBef>
                <a:spcPts val="800"/>
              </a:spcBef>
              <a:spcAft>
                <a:spcPts val="0"/>
              </a:spcAft>
              <a:buClr>
                <a:srgbClr val="004E98"/>
              </a:buClr>
              <a:buFont typeface="Wingdings" panose="05000000000000000000" pitchFamily="2" charset="2"/>
              <a:buChar char="n"/>
            </a:pPr>
            <a:r>
              <a:rPr lang="zh-CN" altLang="en-US" sz="1600" b="1" kern="1200" dirty="0">
                <a:solidFill>
                  <a:srgbClr val="004E98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内外沟通：</a:t>
            </a:r>
            <a:r>
              <a:rPr lang="zh-CN" altLang="en-US" sz="16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对接股东、投资者、董事与证监会、证券交易所，组织投资者关系管理。</a:t>
            </a:r>
          </a:p>
          <a:p>
            <a:pPr marL="214313" indent="-214313" algn="l">
              <a:lnSpc>
                <a:spcPct val="170000"/>
              </a:lnSpc>
              <a:spcBef>
                <a:spcPts val="800"/>
              </a:spcBef>
              <a:spcAft>
                <a:spcPts val="0"/>
              </a:spcAft>
              <a:buClr>
                <a:srgbClr val="004E98"/>
              </a:buClr>
              <a:buFont typeface="Wingdings" panose="05000000000000000000" pitchFamily="2" charset="2"/>
              <a:buChar char="n"/>
            </a:pPr>
            <a:r>
              <a:rPr lang="zh-CN" altLang="en-US" sz="1600" b="1" kern="1200" dirty="0">
                <a:solidFill>
                  <a:srgbClr val="004E98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风险报告：</a:t>
            </a:r>
            <a:r>
              <a:rPr lang="zh-CN" altLang="en-US" sz="16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向审计委员会报告财务与内控问题；披露违规或履职受阻的，向证监会、证券交易所报告。</a:t>
            </a:r>
          </a:p>
        </p:txBody>
      </p:sp>
      <p:sp>
        <p:nvSpPr>
          <p:cNvPr id="104" name="SectionBar"/>
          <p:cNvSpPr/>
          <p:nvPr/>
        </p:nvSpPr>
        <p:spPr>
          <a:xfrm>
            <a:off x="773430" y="4315957"/>
            <a:ext cx="10645140" cy="337185"/>
          </a:xfrm>
          <a:prstGeom prst="rect">
            <a:avLst/>
          </a:prstGeom>
          <a:solidFill>
            <a:srgbClr val="004E9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3716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kern="1200" dirty="0">
                <a:solidFill>
                  <a:srgbClr val="FFFF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履职要求</a:t>
            </a:r>
          </a:p>
        </p:txBody>
      </p:sp>
      <p:sp>
        <p:nvSpPr>
          <p:cNvPr id="105" name="Items"/>
          <p:cNvSpPr txBox="1"/>
          <p:nvPr/>
        </p:nvSpPr>
        <p:spPr>
          <a:xfrm>
            <a:off x="773430" y="4833142"/>
            <a:ext cx="10645140" cy="10868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214313" indent="-214313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4E98"/>
              </a:buClr>
              <a:buFont typeface="Wingdings" panose="05000000000000000000" pitchFamily="2" charset="2"/>
              <a:buChar char="n"/>
            </a:pPr>
            <a:r>
              <a:rPr lang="zh-CN" altLang="en-US" sz="16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应当列席股东会、董事会会议，有权查阅资料、要求相关部门说明，任何人不得阻碍。</a:t>
            </a:r>
          </a:p>
          <a:p>
            <a:pPr marL="214313" indent="-214313" algn="l">
              <a:lnSpc>
                <a:spcPct val="170000"/>
              </a:lnSpc>
              <a:spcBef>
                <a:spcPts val="800"/>
              </a:spcBef>
              <a:spcAft>
                <a:spcPts val="0"/>
              </a:spcAft>
              <a:buClr>
                <a:srgbClr val="004E98"/>
              </a:buClr>
              <a:buFont typeface="Wingdings" panose="05000000000000000000" pitchFamily="2" charset="2"/>
              <a:buChar char="n"/>
            </a:pPr>
            <a:r>
              <a:rPr lang="zh-CN" altLang="en-US" sz="16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公司应当将其履职嵌入日常经营管理流程，保证信息获取及时、准确、全面。</a:t>
            </a:r>
          </a:p>
        </p:txBody>
      </p:sp>
      <p:sp>
        <p:nvSpPr>
          <p:cNvPr id="106" name="Source"/>
          <p:cNvSpPr txBox="1"/>
          <p:nvPr/>
        </p:nvSpPr>
        <p:spPr>
          <a:xfrm>
            <a:off x="773430" y="6180000"/>
            <a:ext cx="1064514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kern="1200" dirty="0">
                <a:solidFill>
                  <a:srgbClr val="7F7F7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依据：《上市公司董事会秘书监管规则》第四条至第二十一条、第二十八条至第三十二条。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标题"/>
          <p:cNvSpPr txBox="1"/>
          <p:nvPr/>
        </p:nvSpPr>
        <p:spPr>
          <a:xfrm>
            <a:off x="2023200" y="215053"/>
            <a:ext cx="8000000" cy="58123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1" kern="1200" dirty="0">
                <a:solidFill>
                  <a:srgbClr val="59595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六、选聘程序与解聘安排</a:t>
            </a:r>
          </a:p>
        </p:txBody>
      </p:sp>
      <p:sp>
        <p:nvSpPr>
          <p:cNvPr id="102" name="SectionBar"/>
          <p:cNvSpPr/>
          <p:nvPr/>
        </p:nvSpPr>
        <p:spPr>
          <a:xfrm>
            <a:off x="773430" y="1127990"/>
            <a:ext cx="10645140" cy="337185"/>
          </a:xfrm>
          <a:prstGeom prst="rect">
            <a:avLst/>
          </a:prstGeom>
          <a:solidFill>
            <a:srgbClr val="004E9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3716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kern="1200" dirty="0">
                <a:solidFill>
                  <a:srgbClr val="FFFF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聘任程序</a:t>
            </a:r>
          </a:p>
        </p:txBody>
      </p:sp>
      <p:sp>
        <p:nvSpPr>
          <p:cNvPr id="103" name="Items"/>
          <p:cNvSpPr txBox="1"/>
          <p:nvPr/>
        </p:nvSpPr>
        <p:spPr>
          <a:xfrm>
            <a:off x="773430" y="1645175"/>
            <a:ext cx="10645140" cy="8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214313" indent="-214313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4E98"/>
              </a:buClr>
              <a:buFont typeface="Wingdings" panose="05000000000000000000" pitchFamily="2" charset="2"/>
              <a:buChar char="n"/>
            </a:pPr>
            <a:r>
              <a:rPr lang="zh-CN" altLang="en-US" sz="1400" b="1" kern="1200" dirty="0">
                <a:solidFill>
                  <a:srgbClr val="004E98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提名委员会</a:t>
            </a:r>
            <a:r>
              <a:rPr lang="zh-CN" altLang="en-US" sz="14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（未设置的，由</a:t>
            </a:r>
            <a:r>
              <a:rPr lang="zh-CN" altLang="en-US" sz="1400" b="1" kern="1200" dirty="0">
                <a:solidFill>
                  <a:srgbClr val="004E98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独立董事专门会议</a:t>
            </a:r>
            <a:r>
              <a:rPr lang="zh-CN" altLang="en-US" sz="14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）对人选及任职资格进行遴选、审核，并向董事会提出建议。</a:t>
            </a:r>
          </a:p>
          <a:p>
            <a:pPr marL="214313" indent="-214313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Clr>
                <a:srgbClr val="004E98"/>
              </a:buClr>
              <a:buFont typeface="Wingdings" panose="05000000000000000000" pitchFamily="2" charset="2"/>
              <a:buChar char="n"/>
            </a:pPr>
            <a:r>
              <a:rPr lang="zh-CN" altLang="en-US" sz="14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董事会作出聘任决议，并就候选人符合任职条件的情况</a:t>
            </a:r>
            <a:r>
              <a:rPr lang="zh-CN" altLang="en-US" sz="1400" b="1" kern="1200" dirty="0">
                <a:solidFill>
                  <a:srgbClr val="004E98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公告披露</a:t>
            </a:r>
            <a:r>
              <a:rPr lang="zh-CN" altLang="en-US" sz="14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04" name="SectionBar"/>
          <p:cNvSpPr/>
          <p:nvPr/>
        </p:nvSpPr>
        <p:spPr>
          <a:xfrm>
            <a:off x="773430" y="2816762"/>
            <a:ext cx="10645140" cy="337185"/>
          </a:xfrm>
          <a:prstGeom prst="rect">
            <a:avLst/>
          </a:prstGeom>
          <a:solidFill>
            <a:srgbClr val="004E9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3716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kern="1200" dirty="0">
                <a:solidFill>
                  <a:srgbClr val="FFFF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公司应当同步落实的履职保障</a:t>
            </a:r>
          </a:p>
        </p:txBody>
      </p:sp>
      <p:sp>
        <p:nvSpPr>
          <p:cNvPr id="105" name="Items"/>
          <p:cNvSpPr txBox="1"/>
          <p:nvPr/>
        </p:nvSpPr>
        <p:spPr>
          <a:xfrm>
            <a:off x="773430" y="3333947"/>
            <a:ext cx="10645140" cy="8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214313" indent="-214313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4E98"/>
              </a:buClr>
              <a:buFont typeface="Wingdings" panose="05000000000000000000" pitchFamily="2" charset="2"/>
              <a:buChar char="n"/>
            </a:pPr>
            <a:r>
              <a:rPr lang="zh-CN" altLang="en-US" sz="14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聘请证券事务代表，设立由董事会秘书分管的工作部门。</a:t>
            </a:r>
          </a:p>
          <a:p>
            <a:pPr marL="214313" indent="-214313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Clr>
                <a:srgbClr val="004E98"/>
              </a:buClr>
              <a:buFont typeface="Wingdings" panose="05000000000000000000" pitchFamily="2" charset="2"/>
              <a:buChar char="n"/>
            </a:pPr>
            <a:r>
              <a:rPr lang="zh-CN" altLang="en-US" sz="14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建立董事会秘书履职定期评价与责任追究机制。</a:t>
            </a:r>
          </a:p>
        </p:txBody>
      </p:sp>
      <p:sp>
        <p:nvSpPr>
          <p:cNvPr id="106" name="SectionBar"/>
          <p:cNvSpPr/>
          <p:nvPr/>
        </p:nvSpPr>
        <p:spPr>
          <a:xfrm>
            <a:off x="773430" y="4505534"/>
            <a:ext cx="10645140" cy="337185"/>
          </a:xfrm>
          <a:prstGeom prst="rect">
            <a:avLst/>
          </a:prstGeom>
          <a:solidFill>
            <a:srgbClr val="004E9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3716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kern="1200" dirty="0">
                <a:solidFill>
                  <a:srgbClr val="FFFF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解聘与空缺</a:t>
            </a:r>
          </a:p>
        </p:txBody>
      </p:sp>
      <p:sp>
        <p:nvSpPr>
          <p:cNvPr id="107" name="Items"/>
          <p:cNvSpPr txBox="1"/>
          <p:nvPr/>
        </p:nvSpPr>
        <p:spPr>
          <a:xfrm>
            <a:off x="773430" y="5022719"/>
            <a:ext cx="10645140" cy="8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214313" indent="-214313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4E98"/>
              </a:buClr>
              <a:buFont typeface="Wingdings" panose="05000000000000000000" pitchFamily="2" charset="2"/>
              <a:buChar char="n"/>
            </a:pPr>
            <a:r>
              <a:rPr lang="zh-CN" altLang="en-US" sz="14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不再符合任职条件、连续三个月以上不能履职、履职存在重大错误或疏漏造成重大损失的，董事会应当立即开会决定是否解聘。</a:t>
            </a:r>
          </a:p>
          <a:p>
            <a:pPr marL="214313" indent="-214313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Clr>
                <a:srgbClr val="004E98"/>
              </a:buClr>
              <a:buFont typeface="Wingdings" panose="05000000000000000000" pitchFamily="2" charset="2"/>
              <a:buChar char="n"/>
            </a:pPr>
            <a:r>
              <a:rPr lang="zh-CN" altLang="en-US" sz="14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解聘或辞职的，应及时报告证券交易所并公告，并在</a:t>
            </a:r>
            <a:r>
              <a:rPr lang="zh-CN" altLang="en-US" sz="1400" b="1" kern="1200" dirty="0">
                <a:solidFill>
                  <a:srgbClr val="004E98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六个月内</a:t>
            </a:r>
            <a:r>
              <a:rPr lang="zh-CN" altLang="en-US" sz="14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完成新的聘任；空缺期间由董事长代行职责。</a:t>
            </a:r>
          </a:p>
        </p:txBody>
      </p:sp>
      <p:sp>
        <p:nvSpPr>
          <p:cNvPr id="108" name="Source"/>
          <p:cNvSpPr txBox="1"/>
          <p:nvPr/>
        </p:nvSpPr>
        <p:spPr>
          <a:xfrm>
            <a:off x="773430" y="6180000"/>
            <a:ext cx="1064514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kern="1200" dirty="0">
                <a:solidFill>
                  <a:srgbClr val="7F7F7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依据：《上市公司董事会秘书监管规则》第二十三条至第二十五条、第二十七条、第三十三条。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标题"/>
          <p:cNvSpPr txBox="1"/>
          <p:nvPr/>
        </p:nvSpPr>
        <p:spPr>
          <a:xfrm>
            <a:off x="2023200" y="215053"/>
            <a:ext cx="8000000" cy="58123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1" kern="1200" dirty="0">
                <a:solidFill>
                  <a:srgbClr val="59595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七、候选人遴选与核查要点</a:t>
            </a:r>
          </a:p>
        </p:txBody>
      </p:sp>
      <p:sp>
        <p:nvSpPr>
          <p:cNvPr id="102" name="SectionBar"/>
          <p:cNvSpPr/>
          <p:nvPr/>
        </p:nvSpPr>
        <p:spPr>
          <a:xfrm>
            <a:off x="773430" y="1127990"/>
            <a:ext cx="10645140" cy="337185"/>
          </a:xfrm>
          <a:prstGeom prst="rect">
            <a:avLst/>
          </a:prstGeom>
          <a:solidFill>
            <a:srgbClr val="004E9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3716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kern="1200" dirty="0">
                <a:solidFill>
                  <a:srgbClr val="FFFF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任职资格核查</a:t>
            </a:r>
          </a:p>
        </p:txBody>
      </p:sp>
      <p:sp>
        <p:nvSpPr>
          <p:cNvPr id="103" name="Items"/>
          <p:cNvSpPr txBox="1"/>
          <p:nvPr/>
        </p:nvSpPr>
        <p:spPr>
          <a:xfrm>
            <a:off x="773430" y="1645175"/>
            <a:ext cx="10645140" cy="1358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214313" indent="-214313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4E98"/>
              </a:buClr>
              <a:buFont typeface="Wingdings" panose="05000000000000000000" pitchFamily="2" charset="2"/>
              <a:buChar char="n"/>
            </a:pPr>
            <a:r>
              <a:rPr lang="zh-CN" altLang="en-US" sz="14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经验年限与资格证书是否满足要求。</a:t>
            </a:r>
          </a:p>
          <a:p>
            <a:pPr marL="214313" indent="-214313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Clr>
                <a:srgbClr val="004E98"/>
              </a:buClr>
              <a:buFont typeface="Wingdings" panose="05000000000000000000" pitchFamily="2" charset="2"/>
              <a:buChar char="n"/>
            </a:pPr>
            <a:r>
              <a:rPr lang="zh-CN" altLang="en-US" sz="14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是否存在《公司法》第一百七十八条情形、近三十六个月的处罚与谴责记录、市场禁入。</a:t>
            </a:r>
          </a:p>
          <a:p>
            <a:pPr marL="214313" indent="-214313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Clr>
                <a:srgbClr val="004E98"/>
              </a:buClr>
              <a:buFont typeface="Wingdings" panose="05000000000000000000" pitchFamily="2" charset="2"/>
              <a:buChar char="n"/>
            </a:pPr>
            <a:r>
              <a:rPr lang="zh-CN" altLang="en-US" sz="14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是否存在不得兼任的职务。</a:t>
            </a:r>
          </a:p>
        </p:txBody>
      </p:sp>
      <p:sp>
        <p:nvSpPr>
          <p:cNvPr id="104" name="SectionBar"/>
          <p:cNvSpPr/>
          <p:nvPr/>
        </p:nvSpPr>
        <p:spPr>
          <a:xfrm>
            <a:off x="773430" y="3278074"/>
            <a:ext cx="10645140" cy="337185"/>
          </a:xfrm>
          <a:prstGeom prst="rect">
            <a:avLst/>
          </a:prstGeom>
          <a:solidFill>
            <a:srgbClr val="004E9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3716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kern="1200" dirty="0">
                <a:solidFill>
                  <a:srgbClr val="FFFF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核查渠道</a:t>
            </a:r>
          </a:p>
        </p:txBody>
      </p:sp>
      <p:sp>
        <p:nvSpPr>
          <p:cNvPr id="105" name="Items"/>
          <p:cNvSpPr txBox="1"/>
          <p:nvPr/>
        </p:nvSpPr>
        <p:spPr>
          <a:xfrm>
            <a:off x="773430" y="3795259"/>
            <a:ext cx="10645140" cy="8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214313" indent="-214313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4E98"/>
              </a:buClr>
              <a:buFont typeface="Wingdings" panose="05000000000000000000" pitchFamily="2" charset="2"/>
              <a:buChar char="n"/>
            </a:pPr>
            <a:r>
              <a:rPr lang="zh-CN" altLang="en-US" sz="14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证监会网站：行政处罚、监管措施、市场禁入；证券交易所网站：纪律处分、通报批评。</a:t>
            </a:r>
          </a:p>
          <a:p>
            <a:pPr marL="214313" indent="-214313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Clr>
                <a:srgbClr val="004E98"/>
              </a:buClr>
              <a:buFont typeface="Wingdings" panose="05000000000000000000" pitchFamily="2" charset="2"/>
              <a:buChar char="n"/>
            </a:pPr>
            <a:r>
              <a:rPr lang="zh-CN" altLang="en-US" sz="14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中国执行信息公开网、中国裁判文书网；原任职单位背景访谈；本人书面承诺并留档。</a:t>
            </a:r>
          </a:p>
        </p:txBody>
      </p:sp>
      <p:sp>
        <p:nvSpPr>
          <p:cNvPr id="106" name="SectionBar"/>
          <p:cNvSpPr/>
          <p:nvPr/>
        </p:nvSpPr>
        <p:spPr>
          <a:xfrm>
            <a:off x="773430" y="4966846"/>
            <a:ext cx="10645140" cy="337185"/>
          </a:xfrm>
          <a:prstGeom prst="rect">
            <a:avLst/>
          </a:prstGeom>
          <a:solidFill>
            <a:srgbClr val="004E9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3716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kern="1200" dirty="0">
                <a:solidFill>
                  <a:srgbClr val="FFFF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资格之外的评估重点</a:t>
            </a:r>
          </a:p>
        </p:txBody>
      </p:sp>
      <p:sp>
        <p:nvSpPr>
          <p:cNvPr id="107" name="Items"/>
          <p:cNvSpPr txBox="1"/>
          <p:nvPr/>
        </p:nvSpPr>
        <p:spPr>
          <a:xfrm>
            <a:off x="773430" y="5484031"/>
            <a:ext cx="10645140" cy="4359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214313" indent="-214313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4E98"/>
              </a:buClr>
              <a:buFont typeface="Wingdings" panose="05000000000000000000" pitchFamily="2" charset="2"/>
              <a:buChar char="n"/>
            </a:pPr>
            <a:r>
              <a:rPr lang="zh-CN" altLang="en-US" sz="1400" b="0" kern="1200" dirty="0">
                <a:solidFill>
                  <a:srgbClr val="26262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信息披露实务能力、会议组织与协调能力、对外沟通能力、风险提示意识、时间与精力投入。</a:t>
            </a:r>
          </a:p>
        </p:txBody>
      </p:sp>
      <p:sp>
        <p:nvSpPr>
          <p:cNvPr id="108" name="Source"/>
          <p:cNvSpPr txBox="1"/>
          <p:nvPr/>
        </p:nvSpPr>
        <p:spPr>
          <a:xfrm>
            <a:off x="773430" y="6180000"/>
            <a:ext cx="1064514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kern="1200" dirty="0">
                <a:solidFill>
                  <a:srgbClr val="7F7F7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本页为根据《上市公司董事会秘书监管规则》与《公司法》相关规定整理的实务清单，仅供参考。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f619c81-a06c-4e59-8ba7-f7a8d59649db"/>
  <p:tag name="COMMONDATA" val="eyJoZGlkIjoiN2YzNjBkOTgyNWQ1YTMxYzM3MzMwNWFiODNmOWIzYW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orbel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>
          <a:solidFill>
            <a:schemeClr val="accent1">
              <a:lumMod val="60000"/>
              <a:lumOff val="40000"/>
            </a:schemeClr>
          </a:solidFill>
          <a:prstDash val="sysDot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红橙色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207</Words>
  <Application>Microsoft Macintosh PowerPoint</Application>
  <PresentationFormat>宽屏</PresentationFormat>
  <Paragraphs>39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等线</vt:lpstr>
      <vt:lpstr>华文楷体</vt:lpstr>
      <vt:lpstr>微软雅黑</vt:lpstr>
      <vt:lpstr>Arial</vt:lpstr>
      <vt:lpstr>Calibri</vt:lpstr>
      <vt:lpstr>Corbel</vt:lpstr>
      <vt:lpstr>Times New Roman</vt:lpstr>
      <vt:lpstr>Wingdings</vt:lpstr>
      <vt:lpstr>Office 主题​​</vt:lpstr>
      <vt:lpstr>1_自定义设计方案</vt:lpstr>
      <vt:lpstr>PowerPoint 演示文稿</vt:lpstr>
      <vt:lpstr>PowerPoint 演示文稿</vt:lpstr>
      <vt:lpstr>PowerPoint 演示文稿</vt:lpstr>
      <vt:lpstr>1 本项目团队介绍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GTJA</dc:creator>
  <cp:lastModifiedBy>Dong, Xiaojian</cp:lastModifiedBy>
  <cp:revision>3943</cp:revision>
  <dcterms:created xsi:type="dcterms:W3CDTF">2025-11-17T10:02:00Z</dcterms:created>
  <dcterms:modified xsi:type="dcterms:W3CDTF">2026-09-01T09:11:51Z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7114C7864D3842E7B6E34F4D30F49135_13</vt:lpwstr>
  </property>
  <property fmtid="{D5CDD505-2E9C-101B-9397-08002B2CF9AE}" pid="3" name="KSOProductBuildVer">
    <vt:lpwstr>2052-12.1.0.26895</vt:lpwstr>
  </property>
</Properties>
</file>