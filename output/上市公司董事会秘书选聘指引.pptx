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5" r:id="rId2"/>
  </p:sldMasterIdLst>
  <p:notesMasterIdLst>
    <p:notesMasterId r:id="rId7"/>
  </p:notesMasterIdLst>
  <p:handoutMasterIdLst>
    <p:handoutMasterId r:id="rId8"/>
  </p:handoutMasterIdLst>
  <p:sldIdLst>
    <p:sldId id="14273090" r:id="rId3"/>
    <p:sldId id="14272344" r:id="rId4"/>
    <p:sldId id="14273091" r:id="rId15"/>
    <p:sldId id="14273092" r:id="rId16"/>
    <p:sldId id="14273093" r:id="rId17"/>
    <p:sldId id="14273094" r:id="rId18"/>
    <p:sldId id="14273095" r:id="rId19"/>
    <p:sldId id="14273096" r:id="rId20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04" userDrawn="1">
          <p15:clr>
            <a:srgbClr val="A4A3A4"/>
          </p15:clr>
        </p15:guide>
        <p15:guide id="2" pos="3935" userDrawn="1">
          <p15:clr>
            <a:srgbClr val="A4A3A4"/>
          </p15:clr>
        </p15:guide>
        <p15:guide id="4" orient="horz" pos="3220" userDrawn="1">
          <p15:clr>
            <a:srgbClr val="A4A3A4"/>
          </p15:clr>
        </p15:guide>
        <p15:guide id="5" orient="horz" pos="2307" userDrawn="1">
          <p15:clr>
            <a:srgbClr val="A4A3A4"/>
          </p15:clr>
        </p15:guide>
        <p15:guide id="6" pos="534" userDrawn="1">
          <p15:clr>
            <a:srgbClr val="A4A3A4"/>
          </p15:clr>
        </p15:guide>
        <p15:guide id="7" pos="7212" userDrawn="1">
          <p15:clr>
            <a:srgbClr val="A4A3A4"/>
          </p15:clr>
        </p15:guide>
        <p15:guide id="8" orient="horz" pos="91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iwei Chen (CM)" initials="BC(" lastIdx="3" clrIdx="0"/>
  <p:cmAuthor id="43" name="Wei Xu" initials="WX" lastIdx="4" clrIdx="42"/>
  <p:cmAuthor id="1" name="聂 绪雯" initials="聂" lastIdx="44" clrIdx="0"/>
  <p:cmAuthor id="44" name="Nuo Xu" initials="NX" lastIdx="31" clrIdx="43"/>
  <p:cmAuthor id="2" name="曾蕴也" initials="曾蕴也" lastIdx="16" clrIdx="1"/>
  <p:cmAuthor id="45" name="tao lingzhi" initials="tl" lastIdx="7" clrIdx="44"/>
  <p:cmAuthor id="3" name="Yang Zikai" initials="YZ" lastIdx="3" clrIdx="2"/>
  <p:cmAuthor id="46" name="GTJA" initials="G" lastIdx="25" clrIdx="45"/>
  <p:cmAuthor id="4" name="沈 一冲" initials="沈" lastIdx="37" clrIdx="4"/>
  <p:cmAuthor id="47" name="吴云龙" initials="云吴" lastIdx="4" clrIdx="46"/>
  <p:cmAuthor id="5" name="QINGSONG MENG" initials="QM" lastIdx="32" clrIdx="5"/>
  <p:cmAuthor id="6" name="张 希朦" initials="张" lastIdx="201" clrIdx="5"/>
  <p:cmAuthor id="7" name="Zhang Shuai" initials="ZS" lastIdx="87" clrIdx="6"/>
  <p:cmAuthor id="8" name="吴 云龙" initials="吴" lastIdx="21" clrIdx="7"/>
  <p:cmAuthor id="9" name="ZHANG Xiangyang" initials="ZX" lastIdx="18" clrIdx="8"/>
  <p:cmAuthor id="10" name="CJY" initials="CJY" lastIdx="87" clrIdx="9"/>
  <p:cmAuthor id="11" name="Yang Fancy" initials="YF" lastIdx="3" clrIdx="10"/>
  <p:cmAuthor id="12" name="舒 迪" initials="舒" lastIdx="10" clrIdx="11"/>
  <p:cmAuthor id="13" name="Jiang Hualin" initials="JH" lastIdx="1" clrIdx="12"/>
  <p:cmAuthor id="14" name="毛 宁" initials="毛" lastIdx="54" clrIdx="13"/>
  <p:cmAuthor id="771252100" name="。。。" initials="。" lastIdx="1" clrIdx="28"/>
  <p:cmAuthor id="15" name="Microsoft 帐户" initials="M帐" lastIdx="10" clrIdx="14"/>
  <p:cmAuthor id="16" name="ZHANG Ximeng" initials="ZX" lastIdx="27" clrIdx="15"/>
  <p:cmAuthor id="17" name="weipeng" initials="WP" lastIdx="51" clrIdx="16"/>
  <p:cmAuthor id="18" name="李 佳宸" initials="李" lastIdx="5" clrIdx="17"/>
  <p:cmAuthor id="19" name="Yang Frank" initials="YF" lastIdx="25" clrIdx="18"/>
  <p:cmAuthor id="20" name="Yang Will" initials="YW" lastIdx="40" clrIdx="19"/>
  <p:cmAuthor id="21" name="HUAWEI" initials="H" lastIdx="282" clrIdx="20"/>
  <p:cmAuthor id="22" name="花 浩翔" initials="花" lastIdx="16" clrIdx="21"/>
  <p:cmAuthor id="23" name="1" initials="1" lastIdx="5" clrIdx="0"/>
  <p:cmAuthor id="24" name="Administrator" initials="A" lastIdx="19" clrIdx="23"/>
  <p:cmAuthor id="25" name="bai yifan" initials="by" lastIdx="6" clrIdx="24"/>
  <p:cmAuthor id="26" name="白逸凡" initials="白" lastIdx="5" clrIdx="25"/>
  <p:cmAuthor id="283655073" name="wangfang" initials="w" lastIdx="15" clrIdx="2"/>
  <p:cmAuthor id="28" name="江志强" initials="志江" lastIdx="44" clrIdx="27"/>
  <p:cmAuthor id="29" name="孙逸然" initials="孙逸然" lastIdx="1" clrIdx="28"/>
  <p:cmAuthor id="30" name="Y58346" initials="Y" lastIdx="58" clrIdx="29"/>
  <p:cmAuthor id="31" name="baiyifan" initials="b" lastIdx="44" clrIdx="30"/>
  <p:cmAuthor id="32" name="张 晓博" initials="张" lastIdx="3" clrIdx="31"/>
  <p:cmAuthor id="33" name="li qin" initials="lq" lastIdx="6" clrIdx="32"/>
  <p:cmAuthor id="34" name="qin li" initials="ql" lastIdx="10" clrIdx="33"/>
  <p:cmAuthor id="991881679" name="Jacey刘嘉" initials="J" lastIdx="9" clrIdx="1"/>
  <p:cmAuthor id="35" name="昕滈 季" initials="昕季" lastIdx="7" clrIdx="34"/>
  <p:cmAuthor id="991881680" name="熊 鹤辉" initials="熊鹤" lastIdx="1" clrIdx="45"/>
  <p:cmAuthor id="36" name="JXH" initials="J" lastIdx="1" clrIdx="35"/>
  <p:cmAuthor id="37" name="kunpengwang" initials="wk" lastIdx="19" clrIdx="36"/>
  <p:cmAuthor id="38" name="Frank Yang" initials="FY" lastIdx="53" clrIdx="37"/>
  <p:cmAuthor id="39" name="lingzhi tao" initials="lt" lastIdx="39" clrIdx="38"/>
  <p:cmAuthor id="40" name="作者" initials="作者" lastIdx="9" clrIdx="39"/>
  <p:cmAuthor id="41" name="Yangrun Hu" initials="YH" lastIdx="1" clrIdx="40"/>
  <p:cmAuthor id="42" name="Zhangyx" initials="Zhangyx" lastIdx="3" clrIdx="4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B7FF"/>
    <a:srgbClr val="B2C5E6"/>
    <a:srgbClr val="4472C4"/>
    <a:srgbClr val="CBD2E3"/>
    <a:srgbClr val="E7EAF1"/>
    <a:srgbClr val="C5E0B4"/>
    <a:srgbClr val="FFFFFF"/>
    <a:srgbClr val="004E98"/>
    <a:srgbClr val="C6D4ED"/>
    <a:srgbClr val="FBD6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76" autoAdjust="0"/>
    <p:restoredTop sz="94986" autoAdjust="0"/>
  </p:normalViewPr>
  <p:slideViewPr>
    <p:cSldViewPr snapToGrid="0" showGuides="1">
      <p:cViewPr varScale="1">
        <p:scale>
          <a:sx n="111" d="100"/>
          <a:sy n="111" d="100"/>
        </p:scale>
        <p:origin x="216" y="280"/>
      </p:cViewPr>
      <p:guideLst>
        <p:guide orient="horz" pos="4104"/>
        <p:guide pos="3935"/>
        <p:guide orient="horz" pos="3220"/>
        <p:guide orient="horz" pos="2307"/>
        <p:guide pos="534"/>
        <p:guide pos="7212"/>
        <p:guide orient="horz" pos="910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5320" y="1496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tags" Target="tags/tag1.xml"/><Relationship Id="rId14" Type="http://schemas.openxmlformats.org/officeDocument/2006/relationships/tableStyles" Target="tableStyles.xml"/>  <Relationship Id="rId15" Type="http://schemas.openxmlformats.org/officeDocument/2006/relationships/slide" Target="slides/slide5.xml"/>
  <Relationship Id="rId16" Type="http://schemas.openxmlformats.org/officeDocument/2006/relationships/slide" Target="slides/slide6.xml"/>
  <Relationship Id="rId17" Type="http://schemas.openxmlformats.org/officeDocument/2006/relationships/slide" Target="slides/slide7.xml"/>
  <Relationship Id="rId18" Type="http://schemas.openxmlformats.org/officeDocument/2006/relationships/slide" Target="slides/slide8.xml"/>
  <Relationship Id="rId19" Type="http://schemas.openxmlformats.org/officeDocument/2006/relationships/slide" Target="slides/slide9.xml"/>
  <Relationship Id="rId20" Type="http://schemas.openxmlformats.org/officeDocument/2006/relationships/slide" Target="slides/slide10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E74D37-739B-4B0F-B410-A6C1E86F2E6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37C943-43AD-45D5-9527-D307204B7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126617-3357-4720-B756-1FCD7BFA9E3D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B3471-8649-456E-9FA4-AA8FA9AAF09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1063" cy="335438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1405F3E-6C76-4A64-BA24-39CAB9C7848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E91903-E4A1-4DCB-85D8-AC72B96C290B}" type="datetime1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2026/9/1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7" name="页眉占位符 6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bg>
      <p:bgPr>
        <a:solidFill>
          <a:srgbClr val="0061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 noChangeArrowheads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788" y="5519738"/>
            <a:ext cx="720725" cy="722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856581"/>
            <a:ext cx="12192000" cy="45719"/>
          </a:xfrm>
          <a:prstGeom prst="rect">
            <a:avLst/>
          </a:prstGeom>
          <a:gradFill>
            <a:gsLst>
              <a:gs pos="0">
                <a:srgbClr val="5E9EFF"/>
              </a:gs>
              <a:gs pos="53000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65"/>
          </a:p>
        </p:txBody>
      </p:sp>
      <p:sp>
        <p:nvSpPr>
          <p:cNvPr id="10" name="标题 6"/>
          <p:cNvSpPr>
            <a:spLocks noGrp="1"/>
          </p:cNvSpPr>
          <p:nvPr>
            <p:ph type="title" hasCustomPrompt="1"/>
          </p:nvPr>
        </p:nvSpPr>
        <p:spPr>
          <a:xfrm>
            <a:off x="2023200" y="216000"/>
            <a:ext cx="7869920" cy="581236"/>
          </a:xfrm>
        </p:spPr>
        <p:txBody>
          <a:bodyPr>
            <a:normAutofit/>
          </a:bodyPr>
          <a:lstStyle>
            <a:lvl1pPr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【】</a:t>
            </a:r>
            <a:endParaRPr lang="zh-CN" altLang="en-US" dirty="0"/>
          </a:p>
        </p:txBody>
      </p:sp>
      <p:grpSp>
        <p:nvGrpSpPr>
          <p:cNvPr id="11" name="组合 2"/>
          <p:cNvGrpSpPr/>
          <p:nvPr userDrawn="1"/>
        </p:nvGrpSpPr>
        <p:grpSpPr bwMode="auto">
          <a:xfrm>
            <a:off x="10410096" y="323849"/>
            <a:ext cx="1969848" cy="352319"/>
            <a:chOff x="16449" y="509"/>
            <a:chExt cx="2731" cy="426"/>
          </a:xfrm>
        </p:grpSpPr>
        <p:sp>
          <p:nvSpPr>
            <p:cNvPr id="12" name="任意多边形 3"/>
            <p:cNvSpPr/>
            <p:nvPr/>
          </p:nvSpPr>
          <p:spPr>
            <a:xfrm>
              <a:off x="17522" y="529"/>
              <a:ext cx="1560" cy="406"/>
            </a:xfrm>
            <a:custGeom>
              <a:avLst/>
              <a:gdLst>
                <a:gd name="connsiteX0" fmla="*/ 0 w 1890"/>
                <a:gd name="connsiteY0" fmla="*/ 406 h 406"/>
                <a:gd name="connsiteX1" fmla="*/ 179 w 1890"/>
                <a:gd name="connsiteY1" fmla="*/ 3 h 406"/>
                <a:gd name="connsiteX2" fmla="*/ 1890 w 1890"/>
                <a:gd name="connsiteY2" fmla="*/ 0 h 406"/>
                <a:gd name="connsiteX3" fmla="*/ 1789 w 1890"/>
                <a:gd name="connsiteY3" fmla="*/ 406 h 406"/>
                <a:gd name="connsiteX4" fmla="*/ 0 w 1890"/>
                <a:gd name="connsiteY4" fmla="*/ 406 h 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" h="406">
                  <a:moveTo>
                    <a:pt x="0" y="406"/>
                  </a:moveTo>
                  <a:lnTo>
                    <a:pt x="179" y="3"/>
                  </a:lnTo>
                  <a:lnTo>
                    <a:pt x="1890" y="0"/>
                  </a:lnTo>
                  <a:lnTo>
                    <a:pt x="1789" y="406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004E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>
              <a:spLocks noChangeArrowheads="1"/>
            </p:cNvSpPr>
            <p:nvPr/>
          </p:nvSpPr>
          <p:spPr bwMode="auto">
            <a:xfrm>
              <a:off x="16449" y="509"/>
              <a:ext cx="2731" cy="3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9pPr>
            </a:lstStyle>
            <a:p>
              <a:pPr eaLnBrk="1" hangingPunct="1">
                <a:defRPr/>
              </a:pPr>
              <a:r>
                <a:rPr lang="zh-CN" altLang="zh-CN" sz="1400" dirty="0">
                  <a:solidFill>
                    <a:srgbClr val="BFBFBF"/>
                  </a:solidFill>
                  <a:sym typeface="+mn-lt"/>
                </a:rPr>
                <a:t>国泰海通</a:t>
              </a:r>
              <a:r>
                <a:rPr lang="en-US" altLang="zh-CN" sz="1400">
                  <a:solidFill>
                    <a:srgbClr val="BFBFBF"/>
                  </a:solidFill>
                  <a:sym typeface="+mn-lt"/>
                </a:rPr>
                <a:t>  </a:t>
              </a:r>
              <a:r>
                <a:rPr lang="zh-CN" altLang="zh-CN" sz="1400">
                  <a:solidFill>
                    <a:schemeClr val="bg1"/>
                  </a:solidFill>
                  <a:sym typeface="+mn-lt"/>
                </a:rPr>
                <a:t>投资银行</a:t>
              </a:r>
              <a:endParaRPr lang="en-US" altLang="zh-CN" sz="1400" dirty="0">
                <a:solidFill>
                  <a:schemeClr val="bg1"/>
                </a:solidFill>
                <a:sym typeface="+mn-lt"/>
              </a:endParaRPr>
            </a:p>
          </p:txBody>
        </p:sp>
      </p:grpSp>
      <p:sp>
        <p:nvSpPr>
          <p:cNvPr id="19" name="灯片编号占位符 5"/>
          <p:cNvSpPr txBox="1">
            <a:spLocks noChangeArrowheads="1"/>
          </p:cNvSpPr>
          <p:nvPr userDrawn="1"/>
        </p:nvSpPr>
        <p:spPr bwMode="auto">
          <a:xfrm>
            <a:off x="9101013" y="6508750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lIns="91416" tIns="45708" rIns="91416" bIns="45708" anchor="ctr"/>
          <a:lstStyle>
            <a:lvl1pPr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9pPr>
          </a:lstStyle>
          <a:p>
            <a:pPr algn="r" eaLnBrk="1" hangingPunct="1"/>
            <a:r>
              <a:rPr lang="en-US" altLang="zh-CN" sz="1200">
                <a:solidFill>
                  <a:srgbClr val="898989"/>
                </a:solidFill>
              </a:rPr>
              <a:t>PAGE </a:t>
            </a:r>
            <a:fld id="{33D8948B-CCD5-4BE7-B8D8-AB11D6CCE9DD}" type="slidenum">
              <a:rPr lang="zh-CN" altLang="en-US" sz="1200" smtClean="0">
                <a:solidFill>
                  <a:srgbClr val="898989"/>
                </a:solidFill>
              </a:rPr>
              <a:t>‹#›</a:t>
            </a:fld>
            <a:endParaRPr lang="zh-CN" altLang="en-US" sz="1200" dirty="0">
              <a:solidFill>
                <a:srgbClr val="898989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350" y="404842"/>
            <a:ext cx="1450000" cy="2006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灯片编号占位符 4"/>
          <p:cNvSpPr txBox="1"/>
          <p:nvPr userDrawn="1"/>
        </p:nvSpPr>
        <p:spPr>
          <a:xfrm>
            <a:off x="4424123" y="6433461"/>
            <a:ext cx="1875905" cy="2647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D311FB5-00E2-4E01-BDD6-A37CD7ED1D78}" type="slidenum">
              <a:rPr lang="zh-CN" altLang="en-US" sz="1200" smtClean="0"/>
              <a:t>‹#›</a:t>
            </a:fld>
            <a:endParaRPr lang="zh-CN" altLang="en-US" sz="1200"/>
          </a:p>
        </p:txBody>
      </p:sp>
      <p:sp>
        <p:nvSpPr>
          <p:cNvPr id="9" name="矩形 8"/>
          <p:cNvSpPr/>
          <p:nvPr userDrawn="1"/>
        </p:nvSpPr>
        <p:spPr>
          <a:xfrm>
            <a:off x="13087" y="856578"/>
            <a:ext cx="12192000" cy="45719"/>
          </a:xfrm>
          <a:prstGeom prst="rect">
            <a:avLst/>
          </a:prstGeom>
          <a:gradFill>
            <a:gsLst>
              <a:gs pos="0">
                <a:srgbClr val="5E9EFF"/>
              </a:gs>
              <a:gs pos="53000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65"/>
          </a:p>
        </p:txBody>
      </p:sp>
      <p:sp>
        <p:nvSpPr>
          <p:cNvPr id="10" name="标题 6"/>
          <p:cNvSpPr>
            <a:spLocks noGrp="1"/>
          </p:cNvSpPr>
          <p:nvPr>
            <p:ph type="title" hasCustomPrompt="1"/>
          </p:nvPr>
        </p:nvSpPr>
        <p:spPr>
          <a:xfrm>
            <a:off x="2023200" y="304923"/>
            <a:ext cx="10515600" cy="581236"/>
          </a:xfrm>
        </p:spPr>
        <p:txBody>
          <a:bodyPr>
            <a:normAutofit/>
          </a:bodyPr>
          <a:lstStyle>
            <a:lvl1pPr>
              <a:defRPr sz="20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【】</a:t>
            </a:r>
            <a:endParaRPr lang="zh-CN" altLang="en-US" dirty="0"/>
          </a:p>
        </p:txBody>
      </p:sp>
      <p:sp>
        <p:nvSpPr>
          <p:cNvPr id="1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1" y="6356355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09601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445A4395-4E7C-46A3-A110-6D32B14695D0}" type="datetime1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0C65B470-78FF-44D9-BECF-303F6D3490C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5" name="图片 4" descr="底图-白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76765" cy="6858000"/>
          </a:xfrm>
          <a:prstGeom prst="rect">
            <a:avLst/>
          </a:prstGeom>
        </p:spPr>
      </p:pic>
      <p:sp>
        <p:nvSpPr>
          <p:cNvPr id="6" name="矩形 5"/>
          <p:cNvSpPr/>
          <p:nvPr userDrawn="1"/>
        </p:nvSpPr>
        <p:spPr>
          <a:xfrm>
            <a:off x="596706" y="714357"/>
            <a:ext cx="21425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539860" y="719999"/>
            <a:ext cx="214258" cy="54000"/>
          </a:xfrm>
          <a:prstGeom prst="rect">
            <a:avLst/>
          </a:prstGeom>
          <a:solidFill>
            <a:srgbClr val="004B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rgbClr val="004B8F"/>
              </a:solidFill>
            </a:endParaRPr>
          </a:p>
        </p:txBody>
      </p:sp>
      <p:sp>
        <p:nvSpPr>
          <p:cNvPr id="62" name="任意多边形 127"/>
          <p:cNvSpPr/>
          <p:nvPr userDrawn="1"/>
        </p:nvSpPr>
        <p:spPr>
          <a:xfrm>
            <a:off x="10981349" y="335915"/>
            <a:ext cx="1199838" cy="257810"/>
          </a:xfrm>
          <a:custGeom>
            <a:avLst/>
            <a:gdLst>
              <a:gd name="connsiteX0" fmla="*/ 0 w 1890"/>
              <a:gd name="connsiteY0" fmla="*/ 406 h 406"/>
              <a:gd name="connsiteX1" fmla="*/ 179 w 1890"/>
              <a:gd name="connsiteY1" fmla="*/ 3 h 406"/>
              <a:gd name="connsiteX2" fmla="*/ 1890 w 1890"/>
              <a:gd name="connsiteY2" fmla="*/ 0 h 406"/>
              <a:gd name="connsiteX3" fmla="*/ 1789 w 1890"/>
              <a:gd name="connsiteY3" fmla="*/ 406 h 406"/>
              <a:gd name="connsiteX4" fmla="*/ 0 w 1890"/>
              <a:gd name="connsiteY4" fmla="*/ 406 h 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90" h="406">
                <a:moveTo>
                  <a:pt x="0" y="406"/>
                </a:moveTo>
                <a:lnTo>
                  <a:pt x="179" y="3"/>
                </a:lnTo>
                <a:lnTo>
                  <a:pt x="1890" y="0"/>
                </a:lnTo>
                <a:lnTo>
                  <a:pt x="1789" y="406"/>
                </a:lnTo>
                <a:lnTo>
                  <a:pt x="0" y="406"/>
                </a:lnTo>
                <a:close/>
              </a:path>
            </a:pathLst>
          </a:custGeom>
          <a:solidFill>
            <a:srgbClr val="004B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63" name="文本框 62"/>
          <p:cNvSpPr txBox="1"/>
          <p:nvPr userDrawn="1"/>
        </p:nvSpPr>
        <p:spPr>
          <a:xfrm>
            <a:off x="10299537" y="323215"/>
            <a:ext cx="1734368" cy="27559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indent="0">
              <a:buNone/>
            </a:pPr>
            <a:r>
              <a:rPr sz="120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国泰海通  </a:t>
            </a:r>
            <a:r>
              <a: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投资银行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文本框 63"/>
          <p:cNvSpPr txBox="1"/>
          <p:nvPr userDrawn="1"/>
        </p:nvSpPr>
        <p:spPr>
          <a:xfrm>
            <a:off x="11157094" y="6480000"/>
            <a:ext cx="741467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PAGE </a:t>
            </a:r>
            <a:fld id="{D8BDD2DE-73F7-4010-A387-DAB116C85DC8}" type="slidenum">
              <a:rPr lang="en-US" altLang="zh-CN" sz="1000" b="1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‹#›</a:t>
            </a:fld>
            <a:endParaRPr lang="en-US" altLang="zh-CN" sz="1000" b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6" name="文本占位符 65"/>
          <p:cNvSpPr>
            <a:spLocks noGrp="1"/>
          </p:cNvSpPr>
          <p:nvPr>
            <p:ph type="body" sz="quarter" idx="13"/>
          </p:nvPr>
        </p:nvSpPr>
        <p:spPr>
          <a:xfrm>
            <a:off x="539860" y="900001"/>
            <a:ext cx="2769268" cy="2769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>
            <a:lvl1pPr marL="0" indent="0">
              <a:buNone/>
              <a:defRPr lang="zh-CN" altLang="en-US" sz="18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171450" indent="0">
              <a:buNone/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z="1800" smtClean="0"/>
            </a:lvl4pPr>
            <a:lvl5pPr>
              <a:defRPr lang="en-US" sz="1800"/>
            </a:lvl5pPr>
          </a:lstStyle>
          <a:p>
            <a:pPr marL="0" lvl="0">
              <a:lnSpc>
                <a:spcPct val="100000"/>
              </a:lnSpc>
            </a:pPr>
            <a:r>
              <a:rPr lang="zh-CN" altLang="en-US" dirty="0"/>
              <a:t>单击此处编辑母版文本样式</a:t>
            </a:r>
          </a:p>
        </p:txBody>
      </p:sp>
      <p:sp>
        <p:nvSpPr>
          <p:cNvPr id="12" name="日期占位符 1"/>
          <p:cNvSpPr txBox="1"/>
          <p:nvPr userDrawn="1"/>
        </p:nvSpPr>
        <p:spPr>
          <a:xfrm>
            <a:off x="609601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45A4395-4E7C-46A3-A110-6D32B14695D0}" type="datetime1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13" name="灯片编号占位符 3"/>
          <p:cNvSpPr txBox="1"/>
          <p:nvPr userDrawn="1"/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C65B470-78FF-44D9-BECF-303F6D3490C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4" name="图片 13" descr="底图-白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7940"/>
            <a:ext cx="12176765" cy="685800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596706" y="714357"/>
            <a:ext cx="21425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" name="文本占位符 65"/>
          <p:cNvSpPr>
            <a:spLocks noGrp="1"/>
          </p:cNvSpPr>
          <p:nvPr>
            <p:ph type="body" sz="quarter" idx="14"/>
          </p:nvPr>
        </p:nvSpPr>
        <p:spPr>
          <a:xfrm>
            <a:off x="539860" y="900001"/>
            <a:ext cx="2769268" cy="2769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>
            <a:lvl1pPr marL="0" indent="0">
              <a:buNone/>
              <a:defRPr lang="zh-CN" altLang="en-US" sz="18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171450" indent="0">
              <a:buNone/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z="1800" smtClean="0"/>
            </a:lvl4pPr>
            <a:lvl5pPr>
              <a:defRPr lang="en-US" sz="1800"/>
            </a:lvl5pPr>
          </a:lstStyle>
          <a:p>
            <a:pPr marL="0" lvl="0">
              <a:lnSpc>
                <a:spcPct val="100000"/>
              </a:lnSpc>
            </a:pPr>
            <a:r>
              <a:rPr lang="zh-CN" altLang="en-US" dirty="0"/>
              <a:t>单击此处编辑母版文本样式</a:t>
            </a:r>
          </a:p>
        </p:txBody>
      </p:sp>
      <p:sp>
        <p:nvSpPr>
          <p:cNvPr id="17" name="标题 1"/>
          <p:cNvSpPr>
            <a:spLocks noGrp="1"/>
          </p:cNvSpPr>
          <p:nvPr>
            <p:ph type="title" hasCustomPrompt="1"/>
          </p:nvPr>
        </p:nvSpPr>
        <p:spPr>
          <a:xfrm>
            <a:off x="1825127" y="226676"/>
            <a:ext cx="8604562" cy="533400"/>
          </a:xfrm>
          <a:prstGeom prst="rect">
            <a:avLst/>
          </a:prstGeom>
        </p:spPr>
        <p:txBody>
          <a:bodyPr anchor="ctr" anchorCtr="0"/>
          <a:lstStyle>
            <a:lvl1pPr algn="l">
              <a:defRPr sz="1800" b="1" baseline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1pPr>
          </a:lstStyle>
          <a:p>
            <a:r>
              <a:rPr lang="en-US" altLang="zh-CN" dirty="0"/>
              <a:t>5.1 </a:t>
            </a:r>
            <a:endParaRPr lang="zh-CN" altLang="en-US" dirty="0"/>
          </a:p>
        </p:txBody>
      </p:sp>
      <p:sp>
        <p:nvSpPr>
          <p:cNvPr id="18" name="矩形 17"/>
          <p:cNvSpPr/>
          <p:nvPr userDrawn="1"/>
        </p:nvSpPr>
        <p:spPr>
          <a:xfrm>
            <a:off x="0" y="856581"/>
            <a:ext cx="12192000" cy="45719"/>
          </a:xfrm>
          <a:prstGeom prst="rect">
            <a:avLst/>
          </a:prstGeom>
          <a:gradFill>
            <a:gsLst>
              <a:gs pos="0">
                <a:srgbClr val="5E9EFF"/>
              </a:gs>
              <a:gs pos="53000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65"/>
          </a:p>
        </p:txBody>
      </p:sp>
      <p:grpSp>
        <p:nvGrpSpPr>
          <p:cNvPr id="20" name="组合 2"/>
          <p:cNvGrpSpPr/>
          <p:nvPr userDrawn="1"/>
        </p:nvGrpSpPr>
        <p:grpSpPr bwMode="auto">
          <a:xfrm>
            <a:off x="10410096" y="323849"/>
            <a:ext cx="1969848" cy="352319"/>
            <a:chOff x="16449" y="509"/>
            <a:chExt cx="2731" cy="426"/>
          </a:xfrm>
        </p:grpSpPr>
        <p:sp>
          <p:nvSpPr>
            <p:cNvPr id="21" name="任意多边形 3"/>
            <p:cNvSpPr/>
            <p:nvPr/>
          </p:nvSpPr>
          <p:spPr>
            <a:xfrm>
              <a:off x="17522" y="529"/>
              <a:ext cx="1560" cy="406"/>
            </a:xfrm>
            <a:custGeom>
              <a:avLst/>
              <a:gdLst>
                <a:gd name="connsiteX0" fmla="*/ 0 w 1890"/>
                <a:gd name="connsiteY0" fmla="*/ 406 h 406"/>
                <a:gd name="connsiteX1" fmla="*/ 179 w 1890"/>
                <a:gd name="connsiteY1" fmla="*/ 3 h 406"/>
                <a:gd name="connsiteX2" fmla="*/ 1890 w 1890"/>
                <a:gd name="connsiteY2" fmla="*/ 0 h 406"/>
                <a:gd name="connsiteX3" fmla="*/ 1789 w 1890"/>
                <a:gd name="connsiteY3" fmla="*/ 406 h 406"/>
                <a:gd name="connsiteX4" fmla="*/ 0 w 1890"/>
                <a:gd name="connsiteY4" fmla="*/ 406 h 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" h="406">
                  <a:moveTo>
                    <a:pt x="0" y="406"/>
                  </a:moveTo>
                  <a:lnTo>
                    <a:pt x="179" y="3"/>
                  </a:lnTo>
                  <a:lnTo>
                    <a:pt x="1890" y="0"/>
                  </a:lnTo>
                  <a:lnTo>
                    <a:pt x="1789" y="406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004B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22" name="文本框 21"/>
            <p:cNvSpPr txBox="1">
              <a:spLocks noChangeArrowheads="1"/>
            </p:cNvSpPr>
            <p:nvPr/>
          </p:nvSpPr>
          <p:spPr bwMode="auto">
            <a:xfrm>
              <a:off x="16449" y="509"/>
              <a:ext cx="2731" cy="3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9pPr>
            </a:lstStyle>
            <a:p>
              <a:pPr eaLnBrk="1" hangingPunct="1">
                <a:defRPr/>
              </a:pPr>
              <a:r>
                <a:rPr lang="zh-CN" altLang="zh-CN" sz="1400" dirty="0">
                  <a:solidFill>
                    <a:srgbClr val="BFBFBF"/>
                  </a:solidFill>
                  <a:sym typeface="+mn-lt"/>
                </a:rPr>
                <a:t>国泰海通</a:t>
              </a:r>
              <a:r>
                <a:rPr lang="en-US" altLang="zh-CN" sz="1400">
                  <a:solidFill>
                    <a:srgbClr val="BFBFBF"/>
                  </a:solidFill>
                  <a:sym typeface="+mn-lt"/>
                </a:rPr>
                <a:t>  </a:t>
              </a:r>
              <a:r>
                <a:rPr lang="zh-CN" altLang="zh-CN" sz="1400">
                  <a:solidFill>
                    <a:schemeClr val="bg1"/>
                  </a:solidFill>
                  <a:sym typeface="+mn-lt"/>
                </a:rPr>
                <a:t>投资银行</a:t>
              </a:r>
              <a:endParaRPr lang="en-US" altLang="zh-CN" sz="1400" dirty="0">
                <a:solidFill>
                  <a:schemeClr val="bg1"/>
                </a:solidFill>
                <a:sym typeface="+mn-lt"/>
              </a:endParaRPr>
            </a:p>
          </p:txBody>
        </p:sp>
      </p:grpSp>
      <p:sp>
        <p:nvSpPr>
          <p:cNvPr id="23" name="灯片编号占位符 5"/>
          <p:cNvSpPr txBox="1">
            <a:spLocks noChangeArrowheads="1"/>
          </p:cNvSpPr>
          <p:nvPr userDrawn="1"/>
        </p:nvSpPr>
        <p:spPr bwMode="auto">
          <a:xfrm>
            <a:off x="9101013" y="6508750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lIns="91416" tIns="45708" rIns="91416" bIns="45708" anchor="ctr"/>
          <a:lstStyle>
            <a:lvl1pPr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9pPr>
          </a:lstStyle>
          <a:p>
            <a:pPr algn="r" eaLnBrk="1" hangingPunct="1"/>
            <a:r>
              <a:rPr lang="en-US" altLang="zh-CN" sz="1200">
                <a:solidFill>
                  <a:srgbClr val="898989"/>
                </a:solidFill>
              </a:rPr>
              <a:t>PAGE </a:t>
            </a:r>
            <a:fld id="{33D8948B-CCD5-4BE7-B8D8-AB11D6CCE9DD}" type="slidenum">
              <a:rPr lang="zh-CN" altLang="en-US" sz="1200" smtClean="0">
                <a:solidFill>
                  <a:srgbClr val="898989"/>
                </a:solidFill>
              </a:rPr>
              <a:t>‹#›</a:t>
            </a:fld>
            <a:endParaRPr lang="zh-CN" altLang="en-US" sz="1200" dirty="0">
              <a:solidFill>
                <a:srgbClr val="898989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75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EE1F8E8-8CB3-4EF8-B62A-AB05B3AD45A3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75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EE1F8E8-8CB3-4EF8-B62A-AB05B3AD45A3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EE1F8E8-8CB3-4EF8-B62A-AB05B3AD45A3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4"/>
          </p:nvPr>
        </p:nvSpPr>
        <p:spPr>
          <a:xfrm>
            <a:off x="9100800" y="65808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E1F8E8-8CB3-4EF8-B62A-AB05B3AD45A3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5"/>
          <p:cNvSpPr/>
          <p:nvPr userDrawn="1"/>
        </p:nvSpPr>
        <p:spPr>
          <a:xfrm>
            <a:off x="0" y="856581"/>
            <a:ext cx="12192000" cy="45719"/>
          </a:xfrm>
          <a:prstGeom prst="rect">
            <a:avLst/>
          </a:prstGeom>
          <a:gradFill>
            <a:gsLst>
              <a:gs pos="0">
                <a:srgbClr val="5E9EFF"/>
              </a:gs>
              <a:gs pos="53000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65"/>
          </a:p>
        </p:txBody>
      </p:sp>
      <p:sp>
        <p:nvSpPr>
          <p:cNvPr id="7" name="标题 6"/>
          <p:cNvSpPr txBox="1"/>
          <p:nvPr userDrawn="1"/>
        </p:nvSpPr>
        <p:spPr>
          <a:xfrm>
            <a:off x="2023200" y="216000"/>
            <a:ext cx="7869920" cy="58123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67119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800" b="1" kern="12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【】</a:t>
            </a:r>
            <a:endParaRPr lang="zh-CN" altLang="en-US" dirty="0"/>
          </a:p>
        </p:txBody>
      </p:sp>
      <p:grpSp>
        <p:nvGrpSpPr>
          <p:cNvPr id="9" name="组合 2"/>
          <p:cNvGrpSpPr/>
          <p:nvPr userDrawn="1"/>
        </p:nvGrpSpPr>
        <p:grpSpPr bwMode="auto">
          <a:xfrm>
            <a:off x="10410096" y="323849"/>
            <a:ext cx="1969848" cy="352319"/>
            <a:chOff x="16449" y="509"/>
            <a:chExt cx="2731" cy="426"/>
          </a:xfrm>
        </p:grpSpPr>
        <p:sp>
          <p:nvSpPr>
            <p:cNvPr id="11" name="任意多边形 3"/>
            <p:cNvSpPr/>
            <p:nvPr/>
          </p:nvSpPr>
          <p:spPr>
            <a:xfrm>
              <a:off x="17522" y="529"/>
              <a:ext cx="1560" cy="406"/>
            </a:xfrm>
            <a:custGeom>
              <a:avLst/>
              <a:gdLst>
                <a:gd name="connsiteX0" fmla="*/ 0 w 1890"/>
                <a:gd name="connsiteY0" fmla="*/ 406 h 406"/>
                <a:gd name="connsiteX1" fmla="*/ 179 w 1890"/>
                <a:gd name="connsiteY1" fmla="*/ 3 h 406"/>
                <a:gd name="connsiteX2" fmla="*/ 1890 w 1890"/>
                <a:gd name="connsiteY2" fmla="*/ 0 h 406"/>
                <a:gd name="connsiteX3" fmla="*/ 1789 w 1890"/>
                <a:gd name="connsiteY3" fmla="*/ 406 h 406"/>
                <a:gd name="connsiteX4" fmla="*/ 0 w 1890"/>
                <a:gd name="connsiteY4" fmla="*/ 406 h 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" h="406">
                  <a:moveTo>
                    <a:pt x="0" y="406"/>
                  </a:moveTo>
                  <a:lnTo>
                    <a:pt x="179" y="3"/>
                  </a:lnTo>
                  <a:lnTo>
                    <a:pt x="1890" y="0"/>
                  </a:lnTo>
                  <a:lnTo>
                    <a:pt x="1789" y="406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004B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2" name="文本框 11"/>
            <p:cNvSpPr txBox="1">
              <a:spLocks noChangeArrowheads="1"/>
            </p:cNvSpPr>
            <p:nvPr/>
          </p:nvSpPr>
          <p:spPr bwMode="auto">
            <a:xfrm>
              <a:off x="16449" y="509"/>
              <a:ext cx="2731" cy="3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9pPr>
            </a:lstStyle>
            <a:p>
              <a:pPr eaLnBrk="1" hangingPunct="1">
                <a:defRPr/>
              </a:pPr>
              <a:r>
                <a:rPr lang="zh-CN" altLang="zh-CN" sz="1400" dirty="0">
                  <a:solidFill>
                    <a:srgbClr val="BFBFBF"/>
                  </a:solidFill>
                  <a:sym typeface="+mn-lt"/>
                </a:rPr>
                <a:t>国泰海通</a:t>
              </a:r>
              <a:r>
                <a:rPr lang="en-US" altLang="zh-CN" sz="1400">
                  <a:solidFill>
                    <a:srgbClr val="BFBFBF"/>
                  </a:solidFill>
                  <a:sym typeface="+mn-lt"/>
                </a:rPr>
                <a:t> </a:t>
              </a:r>
              <a:r>
                <a:rPr lang="zh-CN" altLang="zh-CN" sz="1400">
                  <a:solidFill>
                    <a:schemeClr val="bg1"/>
                  </a:solidFill>
                  <a:sym typeface="+mn-lt"/>
                </a:rPr>
                <a:t>投资银行</a:t>
              </a:r>
              <a:endParaRPr lang="en-US" altLang="zh-CN" sz="1400" dirty="0">
                <a:solidFill>
                  <a:schemeClr val="bg1"/>
                </a:solidFill>
                <a:sym typeface="+mn-lt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</p:sldLayoutIdLst>
  <p:hf hdr="0" ftr="0" dt="0"/>
  <p:txStyles>
    <p:titleStyle>
      <a:lvl1pPr algn="l" defTabSz="671195" rtl="0" eaLnBrk="1" latinLnBrk="0" hangingPunct="1">
        <a:lnSpc>
          <a:spcPct val="90000"/>
        </a:lnSpc>
        <a:spcBef>
          <a:spcPct val="0"/>
        </a:spcBef>
        <a:buNone/>
        <a:defRPr sz="1765" b="1" kern="1200">
          <a:solidFill>
            <a:schemeClr val="tx1"/>
          </a:solidFill>
          <a:effectLst/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67640" indent="-167640" algn="l" defTabSz="671195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5" kern="1200">
          <a:solidFill>
            <a:schemeClr val="tx1"/>
          </a:solidFill>
          <a:latin typeface="+mn-lt"/>
          <a:ea typeface="+mn-ea"/>
          <a:cs typeface="+mn-cs"/>
        </a:defRPr>
      </a:lvl1pPr>
      <a:lvl2pPr marL="503555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839470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5385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4pPr>
      <a:lvl5pPr marL="1510665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5pPr>
      <a:lvl6pPr marL="1846580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6pPr>
      <a:lvl7pPr marL="2182495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7pPr>
      <a:lvl8pPr marL="2518410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8pPr>
      <a:lvl9pPr marL="2853690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1pPr>
      <a:lvl2pPr marL="335915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2pPr>
      <a:lvl3pPr marL="671195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3pPr>
      <a:lvl4pPr marL="100711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4pPr>
      <a:lvl5pPr marL="1343025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5pPr>
      <a:lvl6pPr marL="167894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6pPr>
      <a:lvl7pPr marL="201422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7pPr>
      <a:lvl8pPr marL="2350135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8pPr>
      <a:lvl9pPr marL="268605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-1" y="5048742"/>
            <a:ext cx="12192000" cy="945668"/>
          </a:xfrm>
          <a:prstGeom prst="rect">
            <a:avLst/>
          </a:prstGeom>
          <a:solidFill>
            <a:srgbClr val="006199"/>
          </a:solidFill>
          <a:ln w="190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华文楷体" panose="02010600040101010101" pitchFamily="2" charset="-122"/>
              <a:cs typeface="+mn-cs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-52705" y="2771903"/>
            <a:ext cx="12192000" cy="1041580"/>
          </a:xfrm>
          <a:prstGeom prst="rect">
            <a:avLst/>
          </a:prstGeom>
        </p:spPr>
        <p:txBody>
          <a:bodyPr/>
          <a:lstStyle>
            <a:lvl1pPr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zh-CN" altLang="en-US" sz="2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ea"/>
                <a:sym typeface="+mn-lt"/>
              </a:rPr>
              <a:t>上市公司董事会秘书选聘指引</a:t>
            </a: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CE9F7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ea"/>
                <a:sym typeface="+mn-lt"/>
              </a:rPr>
              <a:t>——《上市公司董事会秘书监管规则》要点解读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507772" y="5198930"/>
            <a:ext cx="2723063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ea"/>
                <a:sym typeface="Arial" panose="020B0604020202020204" pitchFamily="34" charset="0"/>
              </a:rPr>
              <a:t>国泰海通证券股份有限公司  二○二六年九月</a:t>
            </a:r>
          </a:p>
        </p:txBody>
      </p:sp>
      <p:pic>
        <p:nvPicPr>
          <p:cNvPr id="2" name="图片 1" descr="国泰海通证券-蓝-左右组合【常用】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990" y="367665"/>
            <a:ext cx="2026920" cy="28067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-3104707" y="4890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rbel" panose="020B0503020204020204"/>
              <a:ea typeface="华文楷体" panose="0201060004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一、法律地位与职责边界</a:t>
            </a:r>
          </a:p>
        </p:txBody>
      </p:sp>
      <p:sp>
        <p:nvSpPr>
          <p:cNvPr id="102" name="Context"/>
          <p:cNvSpPr/>
          <p:nvPr/>
        </p:nvSpPr>
        <p:spPr>
          <a:xfrm>
            <a:off x="773430" y="1010000"/>
            <a:ext cx="10645140" cy="46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C8D9EA"/>
            </a:solidFill>
          </a:ln>
        </p:spPr>
        <p:txBody>
          <a:bodyPr wrap="square" lIns="182880" tIns="68580" rIns="137160" bIns="68580" rtlCol="0" anchor="ctr"/>
          <a:lstStyle/>
          <a:p>
            <a:pPr marL="0"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《上市公司董事会秘书监管规则》（证监会公告〔2026〕8号）自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2026年5月24日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起施行，共38条；现有任职、兼职安排不符合规定的，应在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2027年12月31日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前调整到位。</a:t>
            </a:r>
          </a:p>
        </p:txBody>
      </p:sp>
      <p:sp>
        <p:nvSpPr>
          <p:cNvPr id="103" name="SectionBar"/>
          <p:cNvSpPr/>
          <p:nvPr/>
        </p:nvSpPr>
        <p:spPr>
          <a:xfrm>
            <a:off x="773430" y="155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法律地位：董事会秘书是法定高级管理人员</a:t>
            </a:r>
          </a:p>
        </p:txBody>
      </p:sp>
      <p:sp>
        <p:nvSpPr>
          <p:cNvPr id="104" name="Fact"/>
          <p:cNvSpPr/>
          <p:nvPr/>
        </p:nvSpPr>
        <p:spPr>
          <a:xfrm>
            <a:off x="773430" y="1970000"/>
            <a:ext cx="2541285" cy="113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60020" tIns="137160" rIns="137160" bIns="91440" rtlCol="0" anchor="t"/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法定高管身份</a:t>
            </a:r>
          </a:p>
          <a:p>
            <a:pPr marL="0" indent="0"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altLang="en-US" sz="10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《公司法》项下的高级管理人员，与经理、财务负责人同属高管序列</a:t>
            </a:r>
          </a:p>
        </p:txBody>
      </p:sp>
      <p:sp>
        <p:nvSpPr>
          <p:cNvPr id="105" name="Fact"/>
          <p:cNvSpPr/>
          <p:nvPr/>
        </p:nvSpPr>
        <p:spPr>
          <a:xfrm>
            <a:off x="3474715" y="1970000"/>
            <a:ext cx="2541285" cy="113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60020" tIns="137160" rIns="137160" bIns="91440" rtlCol="0" anchor="t"/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由董事会聘任</a:t>
            </a:r>
          </a:p>
          <a:p>
            <a:pPr marL="0" indent="0"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altLang="en-US" sz="10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董事会聘任与解聘，向董事会报告工作</a:t>
            </a:r>
          </a:p>
        </p:txBody>
      </p:sp>
      <p:sp>
        <p:nvSpPr>
          <p:cNvPr id="106" name="Fact"/>
          <p:cNvSpPr/>
          <p:nvPr/>
        </p:nvSpPr>
        <p:spPr>
          <a:xfrm>
            <a:off x="6176000" y="1970000"/>
            <a:ext cx="2541285" cy="113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60020" tIns="137160" rIns="137160" bIns="91440" rtlCol="0" anchor="t"/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必须设置，不得长期空缺</a:t>
            </a:r>
          </a:p>
          <a:p>
            <a:pPr marL="0" indent="0"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altLang="en-US" sz="10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空缺期间由董事长代行，并在六个月内完成补聘</a:t>
            </a:r>
          </a:p>
        </p:txBody>
      </p:sp>
      <p:sp>
        <p:nvSpPr>
          <p:cNvPr id="107" name="Fact"/>
          <p:cNvSpPr/>
          <p:nvPr/>
        </p:nvSpPr>
        <p:spPr>
          <a:xfrm>
            <a:off x="8877285" y="1970000"/>
            <a:ext cx="2541285" cy="113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60020" tIns="137160" rIns="137160" bIns="91440" rtlCol="0" anchor="t"/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依法独立履职受保障</a:t>
            </a:r>
          </a:p>
          <a:p>
            <a:pPr marL="0" indent="0"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altLang="en-US" sz="10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有权列席会议、查阅资料、要求相关部门说明，任何人不得阻碍</a:t>
            </a:r>
          </a:p>
        </p:txBody>
      </p:sp>
      <p:sp>
        <p:nvSpPr>
          <p:cNvPr id="108" name="SectionBar"/>
          <p:cNvSpPr/>
          <p:nvPr/>
        </p:nvSpPr>
        <p:spPr>
          <a:xfrm>
            <a:off x="773430" y="319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职责边界：董事会秘书负责的事项与应当区分的事项</a:t>
            </a:r>
          </a:p>
        </p:txBody>
      </p:sp>
      <p:sp>
        <p:nvSpPr>
          <p:cNvPr id="109" name="Card"/>
          <p:cNvSpPr/>
          <p:nvPr/>
        </p:nvSpPr>
        <p:spPr>
          <a:xfrm>
            <a:off x="773430" y="3610000"/>
            <a:ext cx="5172570" cy="176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董事会秘书负责的事项</a:t>
            </a:r>
          </a:p>
          <a:p>
            <a:pPr marL="171450" indent="-171450" algn="l">
              <a:lnSpc>
                <a:spcPct val="135000"/>
              </a:lnSpc>
              <a:spcBef>
                <a:spcPts val="34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信息披露事务：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定期报告、临时报告</a:t>
            </a: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的组织编制与披露</a:t>
            </a:r>
          </a:p>
          <a:p>
            <a:pPr marL="171450" indent="-171450" algn="l">
              <a:lnSpc>
                <a:spcPct val="13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会议与治理：股东会、董事会的召集、召开与会议记录</a:t>
            </a:r>
          </a:p>
          <a:p>
            <a:pPr marL="171450" indent="-171450" algn="l">
              <a:lnSpc>
                <a:spcPct val="13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内外沟通：股东、投资者、董事与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证监会、证券交易所</a:t>
            </a:r>
          </a:p>
          <a:p>
            <a:pPr marL="171450" indent="-171450" algn="l">
              <a:lnSpc>
                <a:spcPct val="13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内幕信息与保密：内幕信息知情人档案的登记与保管</a:t>
            </a:r>
          </a:p>
        </p:txBody>
      </p:sp>
      <p:sp>
        <p:nvSpPr>
          <p:cNvPr id="110" name="Card"/>
          <p:cNvSpPr/>
          <p:nvPr/>
        </p:nvSpPr>
        <p:spPr>
          <a:xfrm>
            <a:off x="6246000" y="3610000"/>
            <a:ext cx="5172570" cy="176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应当与其职责相区分的事项</a:t>
            </a:r>
          </a:p>
          <a:p>
            <a:pPr marL="171450" indent="-171450" algn="l">
              <a:lnSpc>
                <a:spcPct val="135000"/>
              </a:lnSpc>
              <a:spcBef>
                <a:spcPts val="34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经营决策与业务执行——属经理层职责</a:t>
            </a:r>
          </a:p>
          <a:p>
            <a:pPr marL="171450" indent="-171450" algn="l">
              <a:lnSpc>
                <a:spcPct val="13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财务核算与资金管理——属财务负责人职责</a:t>
            </a:r>
          </a:p>
          <a:p>
            <a:pPr marL="171450" indent="-171450" algn="l">
              <a:lnSpc>
                <a:spcPct val="13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故不得兼任经理、分管经营业务的副经理、财务负责人</a:t>
            </a:r>
          </a:p>
          <a:p>
            <a:pPr marL="171450" indent="-171450" algn="l">
              <a:lnSpc>
                <a:spcPct val="13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兼任其他职务的，应明确区分职责并保证时间精力</a:t>
            </a:r>
          </a:p>
        </p:txBody>
      </p:sp>
      <p:sp>
        <p:nvSpPr>
          <p:cNvPr id="111" name="Liability"/>
          <p:cNvSpPr/>
          <p:nvPr/>
        </p:nvSpPr>
        <p:spPr>
          <a:xfrm>
            <a:off x="773430" y="5460000"/>
            <a:ext cx="10645140" cy="46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82880" tIns="68580" rIns="182880" bIns="6858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董事长、经理、董事会秘书对临时报告信息披露的真实、准确、完整、及时、公平承担主要责任。</a:t>
            </a:r>
          </a:p>
        </p:txBody>
      </p:sp>
      <p:sp>
        <p:nvSpPr>
          <p:cNvPr id="112" name="Footnote"/>
          <p:cNvSpPr txBox="1"/>
          <p:nvPr/>
        </p:nvSpPr>
        <p:spPr>
          <a:xfrm>
            <a:off x="773430" y="601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依据：《公司法》第二百六十五条；《上市公司董事会秘书监管规则》第二条、第七条、第二十五条、第二十六条、第二十八条、第三十八条。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二、任职资格（一）：专业背景与从业年限</a:t>
            </a:r>
          </a:p>
        </p:txBody>
      </p:sp>
      <p:sp>
        <p:nvSpPr>
          <p:cNvPr id="102" name="SectionBar"/>
          <p:cNvSpPr/>
          <p:nvPr/>
        </p:nvSpPr>
        <p:spPr>
          <a:xfrm>
            <a:off x="773430" y="101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专业背景要求：下列三类情形符合其一即可（规则第二十二条第一项）</a:t>
            </a:r>
          </a:p>
        </p:txBody>
      </p:sp>
      <p:sp>
        <p:nvSpPr>
          <p:cNvPr id="103" name="Path"/>
          <p:cNvSpPr/>
          <p:nvPr/>
        </p:nvSpPr>
        <p:spPr>
          <a:xfrm>
            <a:off x="773430" y="1470000"/>
            <a:ext cx="3401713" cy="118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路径一 ｜ 相关工作经验</a:t>
            </a:r>
          </a:p>
          <a:p>
            <a:pPr marL="0" indent="0" algn="l">
              <a:lnSpc>
                <a:spcPct val="14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财务、会计、审计、法律合规、金融从业，或其他与履行董事会秘书职责相关的工作经验</a:t>
            </a:r>
          </a:p>
        </p:txBody>
      </p:sp>
      <p:sp>
        <p:nvSpPr>
          <p:cNvPr id="104" name="Path"/>
          <p:cNvSpPr/>
          <p:nvPr/>
        </p:nvSpPr>
        <p:spPr>
          <a:xfrm>
            <a:off x="4395143" y="1470000"/>
            <a:ext cx="3401713" cy="118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路径二 ｜ 法律职业资格</a:t>
            </a:r>
          </a:p>
          <a:p>
            <a:pPr marL="0" indent="0" algn="l">
              <a:lnSpc>
                <a:spcPct val="14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取得法律职业资格证书</a:t>
            </a:r>
          </a:p>
        </p:txBody>
      </p:sp>
      <p:sp>
        <p:nvSpPr>
          <p:cNvPr id="105" name="Path"/>
          <p:cNvSpPr/>
          <p:nvPr/>
        </p:nvSpPr>
        <p:spPr>
          <a:xfrm>
            <a:off x="8016856" y="1470000"/>
            <a:ext cx="3401713" cy="118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路径三 ｜ 注册会计师</a:t>
            </a:r>
          </a:p>
          <a:p>
            <a:pPr marL="0" indent="0" algn="l">
              <a:lnSpc>
                <a:spcPct val="14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取得注册会计师证书</a:t>
            </a:r>
          </a:p>
        </p:txBody>
      </p:sp>
      <p:sp>
        <p:nvSpPr>
          <p:cNvPr id="106" name="KeyBar"/>
          <p:cNvSpPr/>
          <p:nvPr/>
        </p:nvSpPr>
        <p:spPr>
          <a:xfrm>
            <a:off x="773430" y="2760000"/>
            <a:ext cx="10645140" cy="620000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三类情形均须同时具备：五年以上工作经验</a:t>
            </a:r>
          </a:p>
        </p:txBody>
      </p:sp>
      <p:sp>
        <p:nvSpPr>
          <p:cNvPr id="107" name="SectionBar"/>
          <p:cNvSpPr/>
          <p:nvPr/>
        </p:nvSpPr>
        <p:spPr>
          <a:xfrm>
            <a:off x="773430" y="354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同时应当具备的素质要求与聘任时的披露义务</a:t>
            </a:r>
          </a:p>
        </p:txBody>
      </p:sp>
      <p:sp>
        <p:nvSpPr>
          <p:cNvPr id="108" name="Bullets"/>
          <p:cNvSpPr txBox="1"/>
          <p:nvPr/>
        </p:nvSpPr>
        <p:spPr>
          <a:xfrm>
            <a:off x="773430" y="4100000"/>
            <a:ext cx="10645140" cy="1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190500" indent="-17653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具有</a:t>
            </a: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良好的职业道德和个人品德</a:t>
            </a: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熟悉证券法律法规和证券交易所业务规则</a:t>
            </a: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190500" indent="-17653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聘任董事会秘书时，公司应当就候选人符合上述各项情形</a:t>
            </a:r>
            <a:r>
              <a:rPr lang="zh-CN" altLang="en-US" sz="140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作出说明并予以披露</a:t>
            </a: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190500" indent="-17653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长期在上市公司担任</a:t>
            </a: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董事会秘书或证券事务代表</a:t>
            </a: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的，可认定为“其他与履行董事会秘书职责相关的工作经验”。（证监会起草说明）</a:t>
            </a:r>
          </a:p>
        </p:txBody>
      </p:sp>
      <p:sp>
        <p:nvSpPr>
          <p:cNvPr id="109" name="Footnote"/>
          <p:cNvSpPr txBox="1"/>
          <p:nvPr/>
        </p:nvSpPr>
        <p:spPr>
          <a:xfrm>
            <a:off x="773430" y="588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依据：《上市公司董事会秘书监管规则》第二十二条第一款、第一项；《〈上市公司董事会秘书监管规则〉起草说明》。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三、任职资格（二）：不得担任董事会秘书的情形</a:t>
            </a:r>
          </a:p>
        </p:txBody>
      </p:sp>
      <p:sp>
        <p:nvSpPr>
          <p:cNvPr id="102" name="Card"/>
          <p:cNvSpPr/>
          <p:nvPr/>
        </p:nvSpPr>
        <p:spPr>
          <a:xfrm>
            <a:off x="773430" y="1010000"/>
            <a:ext cx="517257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Ａ ｜ 《公司法》第一百七十八条规定的五种情形</a:t>
            </a:r>
          </a:p>
          <a:p>
            <a:pPr marL="171450" indent="-171450" algn="l">
              <a:lnSpc>
                <a:spcPct val="155000"/>
              </a:lnSpc>
              <a:spcBef>
                <a:spcPts val="4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无民事行为能力或者限制民事行为能力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因</a:t>
            </a: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贪污、贿赂、侵占财产、挪用财产或破坏社会主义市场经济秩序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被判处刑罚，</a:t>
            </a:r>
            <a:r>
              <a:rPr lang="zh-CN" altLang="en-US" sz="13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执行期满未逾五年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（缓刑的，考验期满未逾二年）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担任破产清算公司的董事或厂长、经理，对破产负有个人责任，</a:t>
            </a:r>
            <a:r>
              <a:rPr lang="zh-CN" altLang="en-US" sz="13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清算完结未逾三年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担任因违法被吊销执照、责令关闭公司的法定代表人并负有个人责任，</a:t>
            </a:r>
            <a:r>
              <a:rPr lang="zh-CN" altLang="en-US" sz="13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未逾三年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因数额较大债务到期未清偿，被人民法院列为</a:t>
            </a: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失信被执行人</a:t>
            </a:r>
          </a:p>
        </p:txBody>
      </p:sp>
      <p:sp>
        <p:nvSpPr>
          <p:cNvPr id="103" name="Card"/>
          <p:cNvSpPr/>
          <p:nvPr/>
        </p:nvSpPr>
        <p:spPr>
          <a:xfrm>
            <a:off x="6246000" y="1010000"/>
            <a:ext cx="517257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Ｂ ｜ 规则第二十二条规定的监管与自律处分记录</a:t>
            </a:r>
          </a:p>
          <a:p>
            <a:pPr marL="171450" indent="-171450" algn="l">
              <a:lnSpc>
                <a:spcPct val="155000"/>
              </a:lnSpc>
              <a:spcBef>
                <a:spcPts val="4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最近</a:t>
            </a:r>
            <a:r>
              <a:rPr lang="zh-CN" altLang="en-US" sz="13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三十六个月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被中国证监会</a:t>
            </a: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行政处罚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，或者被采取</a:t>
            </a: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三次以上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行政监督管理措施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最近</a:t>
            </a:r>
            <a:r>
              <a:rPr lang="zh-CN" altLang="en-US" sz="13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三十六个月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被证券交易所</a:t>
            </a: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公开谴责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，或者</a:t>
            </a: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三次以上通报批评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被证监会采取</a:t>
            </a: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证券市场禁入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措施且期限未届满；或被交易所</a:t>
            </a: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公开认定为不适合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担任上市公司董监高且期限未届满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兜底条款：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法律法规、证券交易所业务规则规定的其他情形</a:t>
            </a:r>
          </a:p>
        </p:txBody>
      </p:sp>
      <p:sp>
        <p:nvSpPr>
          <p:cNvPr id="104" name="Warn"/>
          <p:cNvSpPr/>
          <p:nvPr/>
        </p:nvSpPr>
        <p:spPr>
          <a:xfrm>
            <a:off x="773430" y="4980000"/>
            <a:ext cx="10645140" cy="70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违反上述规定聘任的，</a:t>
            </a:r>
            <a:r>
              <a:rPr lang="zh-CN" altLang="en-US" sz="14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聘任无效</a:t>
            </a: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；任职期间出现上述情形的，公司</a:t>
            </a:r>
            <a:r>
              <a:rPr lang="zh-CN" altLang="en-US" sz="14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应当解除其职务</a:t>
            </a: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。上述情形应当在拟聘前逐条核查并留痕。</a:t>
            </a:r>
          </a:p>
        </p:txBody>
      </p:sp>
      <p:sp>
        <p:nvSpPr>
          <p:cNvPr id="105" name="Footnote"/>
          <p:cNvSpPr txBox="1"/>
          <p:nvPr/>
        </p:nvSpPr>
        <p:spPr>
          <a:xfrm>
            <a:off x="773430" y="592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依据：《公司法》第一百七十八条；《上市公司董事会秘书监管规则》第二十二条第二项至第六项。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四、兼任限制与利益冲突防范</a:t>
            </a:r>
          </a:p>
        </p:txBody>
      </p:sp>
      <p:sp>
        <p:nvSpPr>
          <p:cNvPr id="102" name="SectionBar"/>
          <p:cNvSpPr/>
          <p:nvPr/>
        </p:nvSpPr>
        <p:spPr>
          <a:xfrm>
            <a:off x="773430" y="101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不得兼任的三类职务（规则第二十六条）</a:t>
            </a:r>
          </a:p>
        </p:txBody>
      </p:sp>
      <p:sp>
        <p:nvSpPr>
          <p:cNvPr id="103" name="Ban"/>
          <p:cNvSpPr/>
          <p:nvPr/>
        </p:nvSpPr>
        <p:spPr>
          <a:xfrm>
            <a:off x="773430" y="1450000"/>
            <a:ext cx="3388380" cy="133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37160" tIns="137160" rIns="13716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0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✕</a:t>
            </a:r>
          </a:p>
          <a:p>
            <a:pPr marL="0" indent="0" algn="ctr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zh-CN" altLang="en-US" sz="16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经　理（总经理）</a:t>
            </a:r>
          </a:p>
          <a:p>
            <a:pPr marL="0" indent="0" algn="ctr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1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全面负责公司经营管理</a:t>
            </a:r>
          </a:p>
        </p:txBody>
      </p:sp>
      <p:sp>
        <p:nvSpPr>
          <p:cNvPr id="104" name="Ban"/>
          <p:cNvSpPr/>
          <p:nvPr/>
        </p:nvSpPr>
        <p:spPr>
          <a:xfrm>
            <a:off x="4401810" y="1450000"/>
            <a:ext cx="3388380" cy="133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37160" tIns="137160" rIns="13716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0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✕</a:t>
            </a:r>
          </a:p>
          <a:p>
            <a:pPr marL="0" indent="0" algn="ctr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zh-CN" altLang="en-US" sz="16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分管经营业务的副经理</a:t>
            </a:r>
          </a:p>
          <a:p>
            <a:pPr marL="0" indent="0" algn="ctr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1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直接主管具体经营业务</a:t>
            </a:r>
          </a:p>
        </p:txBody>
      </p:sp>
      <p:sp>
        <p:nvSpPr>
          <p:cNvPr id="105" name="Ban"/>
          <p:cNvSpPr/>
          <p:nvPr/>
        </p:nvSpPr>
        <p:spPr>
          <a:xfrm>
            <a:off x="8030190" y="1450000"/>
            <a:ext cx="3388380" cy="133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37160" tIns="137160" rIns="13716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0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✕</a:t>
            </a:r>
          </a:p>
          <a:p>
            <a:pPr marL="0" indent="0" algn="ctr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zh-CN" altLang="en-US" sz="16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财务负责人</a:t>
            </a:r>
          </a:p>
          <a:p>
            <a:pPr marL="0" indent="0" algn="ctr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1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主管财务核算与资金</a:t>
            </a:r>
          </a:p>
        </p:txBody>
      </p:sp>
      <p:sp>
        <p:nvSpPr>
          <p:cNvPr id="106" name="Why"/>
          <p:cNvSpPr/>
          <p:nvPr/>
        </p:nvSpPr>
        <p:spPr>
          <a:xfrm>
            <a:off x="773430" y="2930000"/>
            <a:ext cx="10645140" cy="52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C8D9EA"/>
            </a:solidFill>
          </a:ln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上述三类职务直接主管经营与财务，与董事会秘书</a:t>
            </a:r>
            <a:r>
              <a:rPr lang="zh-CN" altLang="en-US" sz="13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监督信息披露、保障治理合规</a:t>
            </a: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的职责存在利益冲突。</a:t>
            </a:r>
          </a:p>
        </p:txBody>
      </p:sp>
      <p:sp>
        <p:nvSpPr>
          <p:cNvPr id="107" name="SectionBar"/>
          <p:cNvSpPr/>
          <p:nvPr/>
        </p:nvSpPr>
        <p:spPr>
          <a:xfrm>
            <a:off x="773430" y="362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兼任公司其他职务的，应当同时满足两项条件</a:t>
            </a:r>
          </a:p>
        </p:txBody>
      </p:sp>
      <p:sp>
        <p:nvSpPr>
          <p:cNvPr id="108" name="Card"/>
          <p:cNvSpPr/>
          <p:nvPr/>
        </p:nvSpPr>
        <p:spPr>
          <a:xfrm>
            <a:off x="773430" y="4070000"/>
            <a:ext cx="5172570" cy="108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① 职责边界应当明确区分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明确区分董事会秘书职责与其他职务职责，避免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职责混同、责任不清</a:t>
            </a:r>
          </a:p>
        </p:txBody>
      </p:sp>
      <p:sp>
        <p:nvSpPr>
          <p:cNvPr id="109" name="Card"/>
          <p:cNvSpPr/>
          <p:nvPr/>
        </p:nvSpPr>
        <p:spPr>
          <a:xfrm>
            <a:off x="6246000" y="4070000"/>
            <a:ext cx="5172570" cy="108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② 时间与精力应当充分保证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确保有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足够的时间和精力独立履行董事会秘书职责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，不被其他工作挤占</a:t>
            </a:r>
          </a:p>
        </p:txBody>
      </p:sp>
      <p:sp>
        <p:nvSpPr>
          <p:cNvPr id="110" name="Note"/>
          <p:cNvSpPr/>
          <p:nvPr/>
        </p:nvSpPr>
        <p:spPr>
          <a:xfrm>
            <a:off x="773430" y="5330000"/>
            <a:ext cx="10645140" cy="52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过渡期安排：</a:t>
            </a: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现任董事会秘书存在上述兼职情形的，应当在</a:t>
            </a:r>
            <a:r>
              <a:rPr lang="zh-CN" altLang="en-US" sz="13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2027年12月31日</a:t>
            </a: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前调整到位。</a:t>
            </a:r>
          </a:p>
        </p:txBody>
      </p:sp>
      <p:sp>
        <p:nvSpPr>
          <p:cNvPr id="111" name="Footnote"/>
          <p:cNvSpPr txBox="1"/>
          <p:nvPr/>
        </p:nvSpPr>
        <p:spPr>
          <a:xfrm>
            <a:off x="773430" y="600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依据：《上市公司董事会秘书监管规则》第二十六条、第三十八条。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五、董事会秘书的法定职责</a:t>
            </a:r>
          </a:p>
        </p:txBody>
      </p:sp>
      <p:sp>
        <p:nvSpPr>
          <p:cNvPr id="102" name="Card"/>
          <p:cNvSpPr/>
          <p:nvPr/>
        </p:nvSpPr>
        <p:spPr>
          <a:xfrm>
            <a:off x="773430" y="1010000"/>
            <a:ext cx="5192570" cy="225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① 信息披露事务的组织与办理</a:t>
            </a:r>
          </a:p>
          <a:p>
            <a:pPr marL="171450" indent="-171450" algn="l">
              <a:lnSpc>
                <a:spcPct val="130000"/>
              </a:lnSpc>
              <a:spcBef>
                <a:spcPts val="33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组织编制和披露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定期报告、临时报告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办理披露的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暂缓、豁免</a:t>
            </a: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事宜，管理内幕信息知情人档案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关注媒体报道和市场传闻，及时核实并建议澄清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保证披露文件在交易所网站和符合规定条件的媒体发布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对临时报告的真实、准确、完整承担主要责任</a:t>
            </a:r>
          </a:p>
        </p:txBody>
      </p:sp>
      <p:sp>
        <p:nvSpPr>
          <p:cNvPr id="103" name="Card"/>
          <p:cNvSpPr/>
          <p:nvPr/>
        </p:nvSpPr>
        <p:spPr>
          <a:xfrm>
            <a:off x="6226000" y="1010000"/>
            <a:ext cx="5192570" cy="225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② 公司治理运作的合规保障</a:t>
            </a:r>
          </a:p>
          <a:p>
            <a:pPr marL="171450" indent="-171450" algn="l">
              <a:lnSpc>
                <a:spcPct val="130000"/>
              </a:lnSpc>
              <a:spcBef>
                <a:spcPts val="33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筹备董事会、股东会，保证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召集、召开和表决程序合规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负责会议记录，管理股东名册及持股变动核实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发现章程、治理架构不合规的，向董事会报告并提整改建议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及时汇集属于董事会、股东会职权范围内的事项，建议董事长召集会议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督促董事、高管遵守规则，定期组织培训</a:t>
            </a:r>
          </a:p>
        </p:txBody>
      </p:sp>
      <p:sp>
        <p:nvSpPr>
          <p:cNvPr id="104" name="Card"/>
          <p:cNvSpPr/>
          <p:nvPr/>
        </p:nvSpPr>
        <p:spPr>
          <a:xfrm>
            <a:off x="773430" y="3460000"/>
            <a:ext cx="5192570" cy="225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③ 内外部沟通与投资者关系</a:t>
            </a:r>
          </a:p>
          <a:p>
            <a:pPr marL="171450" indent="-171450" algn="l">
              <a:lnSpc>
                <a:spcPct val="130000"/>
              </a:lnSpc>
              <a:spcBef>
                <a:spcPts val="33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对接股东、实际控制人、投资者与董事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对接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中国证监会、证券交易所</a:t>
            </a: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，保持渠道畅通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组织和协调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投资者关系管理</a:t>
            </a: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工作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协助独立董事履职，保证其获得足够信息与资源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维持与股东、投资者及监管机构的联络渠道畅通</a:t>
            </a:r>
          </a:p>
        </p:txBody>
      </p:sp>
      <p:sp>
        <p:nvSpPr>
          <p:cNvPr id="105" name="Card"/>
          <p:cNvSpPr/>
          <p:nvPr/>
        </p:nvSpPr>
        <p:spPr>
          <a:xfrm>
            <a:off x="6226000" y="3460000"/>
            <a:ext cx="5192570" cy="225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④ 风险发现与报告</a:t>
            </a:r>
          </a:p>
          <a:p>
            <a:pPr marL="171450" indent="-171450" algn="l">
              <a:lnSpc>
                <a:spcPct val="130000"/>
              </a:lnSpc>
              <a:spcBef>
                <a:spcPts val="33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发现财务信息、内部控制问题，及时报告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审计委员会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发现无法按时披露、披露存在虚假记载等，报告证监会和交易所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提出的合规建议未被采纳的，也要向监管报告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履职受到妨碍的，先报董事长；仍受阻的，报告监管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公司内审机构发现重大问题线索的，应当同时通报董事会秘书</a:t>
            </a:r>
          </a:p>
        </p:txBody>
      </p:sp>
      <p:sp>
        <p:nvSpPr>
          <p:cNvPr id="106" name="Footnote"/>
          <p:cNvSpPr txBox="1"/>
          <p:nvPr/>
        </p:nvSpPr>
        <p:spPr>
          <a:xfrm>
            <a:off x="773430" y="605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依据：《上市公司董事会秘书监管规则》第四条至第二十一条、第二十八条至第三十二条。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六、选聘程序、履职保障与解聘安排</a:t>
            </a:r>
          </a:p>
        </p:txBody>
      </p:sp>
      <p:sp>
        <p:nvSpPr>
          <p:cNvPr id="102" name="SectionBar"/>
          <p:cNvSpPr/>
          <p:nvPr/>
        </p:nvSpPr>
        <p:spPr>
          <a:xfrm>
            <a:off x="773430" y="101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聘任程序（规则第二十三条）</a:t>
            </a:r>
          </a:p>
        </p:txBody>
      </p:sp>
      <p:sp>
        <p:nvSpPr>
          <p:cNvPr id="103" name="Step"/>
          <p:cNvSpPr/>
          <p:nvPr/>
        </p:nvSpPr>
        <p:spPr>
          <a:xfrm>
            <a:off x="773430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01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确定候选人</a:t>
            </a:r>
          </a:p>
        </p:txBody>
      </p:sp>
      <p:sp>
        <p:nvSpPr>
          <p:cNvPr id="104" name="Step"/>
          <p:cNvSpPr/>
          <p:nvPr/>
        </p:nvSpPr>
        <p:spPr>
          <a:xfrm>
            <a:off x="2928458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02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逐条核查任职资格</a:t>
            </a:r>
          </a:p>
        </p:txBody>
      </p:sp>
      <p:sp>
        <p:nvSpPr>
          <p:cNvPr id="105" name="Step"/>
          <p:cNvSpPr/>
          <p:nvPr/>
        </p:nvSpPr>
        <p:spPr>
          <a:xfrm>
            <a:off x="5083486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03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提名委员会遴选与审核</a:t>
            </a:r>
          </a:p>
        </p:txBody>
      </p:sp>
      <p:sp>
        <p:nvSpPr>
          <p:cNvPr id="106" name="Step"/>
          <p:cNvSpPr/>
          <p:nvPr/>
        </p:nvSpPr>
        <p:spPr>
          <a:xfrm>
            <a:off x="7238514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04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董事会作出聘任决议</a:t>
            </a:r>
          </a:p>
        </p:txBody>
      </p:sp>
      <p:sp>
        <p:nvSpPr>
          <p:cNvPr id="107" name="Step"/>
          <p:cNvSpPr/>
          <p:nvPr/>
        </p:nvSpPr>
        <p:spPr>
          <a:xfrm>
            <a:off x="9393542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05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公告披露任职情况</a:t>
            </a:r>
          </a:p>
        </p:txBody>
      </p:sp>
      <p:sp>
        <p:nvSpPr>
          <p:cNvPr id="108" name="StepNote"/>
          <p:cNvSpPr/>
          <p:nvPr/>
        </p:nvSpPr>
        <p:spPr>
          <a:xfrm>
            <a:off x="773430" y="2440000"/>
            <a:ext cx="10645140" cy="43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C8D9EA"/>
            </a:solidFill>
          </a:ln>
        </p:spPr>
        <p:txBody>
          <a:bodyPr wrap="square" lIns="182880" tIns="68580" rIns="137160" bIns="68580" rtlCol="0" anchor="ctr"/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说明：未在董事会中设置提名委员会的，由</a:t>
            </a:r>
            <a:r>
              <a:rPr lang="zh-CN" altLang="en-US" sz="12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独立董事专门会议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履行遴选、审核并向董事会提出建议的职责。（规则第二十三条）</a:t>
            </a:r>
          </a:p>
        </p:txBody>
      </p:sp>
      <p:sp>
        <p:nvSpPr>
          <p:cNvPr id="109" name="SectionBar"/>
          <p:cNvSpPr/>
          <p:nvPr/>
        </p:nvSpPr>
        <p:spPr>
          <a:xfrm>
            <a:off x="773430" y="299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公司应当同步落实的履职保障（规则第二十七条、第二十九条、第三十三条）</a:t>
            </a:r>
          </a:p>
        </p:txBody>
      </p:sp>
      <p:sp>
        <p:nvSpPr>
          <p:cNvPr id="110" name="Card"/>
          <p:cNvSpPr/>
          <p:nvPr/>
        </p:nvSpPr>
        <p:spPr>
          <a:xfrm>
            <a:off x="773430" y="3430000"/>
            <a:ext cx="3401713" cy="112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① 人员与机构保障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聘请</a:t>
            </a:r>
            <a:r>
              <a:rPr lang="zh-CN" altLang="en-US" sz="12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证券事务代表</a:t>
            </a: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，设立由董事会秘书</a:t>
            </a:r>
            <a:r>
              <a:rPr lang="zh-CN" altLang="en-US" sz="12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分管的工作部门</a:t>
            </a:r>
          </a:p>
        </p:txBody>
      </p:sp>
      <p:sp>
        <p:nvSpPr>
          <p:cNvPr id="111" name="Card"/>
          <p:cNvSpPr/>
          <p:nvPr/>
        </p:nvSpPr>
        <p:spPr>
          <a:xfrm>
            <a:off x="4395143" y="3430000"/>
            <a:ext cx="3401713" cy="112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② 信息获取保障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将履职</a:t>
            </a:r>
            <a:r>
              <a:rPr lang="zh-CN" altLang="en-US" sz="12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嵌入日常经营管理流程</a:t>
            </a: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，确保及时、准确、全面获取信息</a:t>
            </a:r>
          </a:p>
        </p:txBody>
      </p:sp>
      <p:sp>
        <p:nvSpPr>
          <p:cNvPr id="112" name="Card"/>
          <p:cNvSpPr/>
          <p:nvPr/>
        </p:nvSpPr>
        <p:spPr>
          <a:xfrm>
            <a:off x="8016856" y="3430000"/>
            <a:ext cx="3401713" cy="112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③ 履职评价与追责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建立</a:t>
            </a:r>
            <a:r>
              <a:rPr lang="zh-CN" altLang="en-US" sz="12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履职定期评价与责任追究机制</a:t>
            </a: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，未勤勉尽责的及时追责</a:t>
            </a:r>
          </a:p>
        </p:txBody>
      </p:sp>
      <p:sp>
        <p:nvSpPr>
          <p:cNvPr id="113" name="SectionBar"/>
          <p:cNvSpPr/>
          <p:nvPr/>
        </p:nvSpPr>
        <p:spPr>
          <a:xfrm>
            <a:off x="773430" y="475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解聘情形与空缺期安排</a:t>
            </a:r>
          </a:p>
        </p:txBody>
      </p:sp>
      <p:sp>
        <p:nvSpPr>
          <p:cNvPr id="114" name="Bullets"/>
          <p:cNvSpPr txBox="1"/>
          <p:nvPr/>
        </p:nvSpPr>
        <p:spPr>
          <a:xfrm>
            <a:off x="773430" y="5180000"/>
            <a:ext cx="1064514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190500" indent="-17653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出现下列情形，董事会</a:t>
            </a:r>
            <a:r>
              <a:rPr lang="zh-CN" altLang="en-US" sz="12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应当立即开会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决定是否解聘：不再符合任职条件；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连续三个月以上不能履职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；履职存在重大错误或疏漏造成重大损失等。</a:t>
            </a:r>
          </a:p>
          <a:p>
            <a:pPr marL="190500" indent="-17653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董事会秘书被解聘或辞职的，公司应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及时报告交易所并公告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，并在</a:t>
            </a:r>
            <a:r>
              <a:rPr lang="zh-CN" altLang="en-US" sz="12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六个月内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完成新聘；空缺期间由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董事长代行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职责。</a:t>
            </a:r>
          </a:p>
        </p:txBody>
      </p:sp>
      <p:sp>
        <p:nvSpPr>
          <p:cNvPr id="115" name="Footnote"/>
          <p:cNvSpPr txBox="1"/>
          <p:nvPr/>
        </p:nvSpPr>
        <p:spPr>
          <a:xfrm>
            <a:off x="773430" y="623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依据：《上市公司董事会秘书监管规则》第二十三条至第二十五条、第二十七条、第二十九条、第三十三条。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七、候选人遴选与核查要点</a:t>
            </a:r>
          </a:p>
        </p:txBody>
      </p:sp>
      <p:sp>
        <p:nvSpPr>
          <p:cNvPr id="102" name="Card"/>
          <p:cNvSpPr/>
          <p:nvPr/>
        </p:nvSpPr>
        <p:spPr>
          <a:xfrm>
            <a:off x="773430" y="1010000"/>
            <a:ext cx="338838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① 任职资格：逐条核查</a:t>
            </a:r>
          </a:p>
          <a:p>
            <a:pPr marL="171450" indent="-171450" algn="l">
              <a:lnSpc>
                <a:spcPct val="145000"/>
              </a:lnSpc>
              <a:spcBef>
                <a:spcPts val="42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五年以上相关工作经验，或法律职业资格、注会证书＋五年经验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熟悉证券法律法规和证券交易所业务规则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不存在《公司法》第178条五种情形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最近三十六个月无证监会处罚、无交易所公开谴责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未被市场禁入，未被公开认定不适合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不兼任经理、分管经营业务的副经理、财务负责人</a:t>
            </a:r>
          </a:p>
        </p:txBody>
      </p:sp>
      <p:sp>
        <p:nvSpPr>
          <p:cNvPr id="103" name="Card"/>
          <p:cNvSpPr/>
          <p:nvPr/>
        </p:nvSpPr>
        <p:spPr>
          <a:xfrm>
            <a:off x="4401810" y="1010000"/>
            <a:ext cx="338838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② 履职能力：重点评估</a:t>
            </a:r>
          </a:p>
          <a:p>
            <a:pPr marL="171450" indent="-171450" algn="l">
              <a:lnSpc>
                <a:spcPct val="145000"/>
              </a:lnSpc>
              <a:spcBef>
                <a:spcPts val="42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熟悉信息披露规则，胜任定期报告与临时报告编制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组织协调能力：保障董事会、股东会合规召开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沟通能力：应对投资者、监管机构与媒体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风险意识：敢于提示风险并如实报告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职业操守：不泄露内幕信息，不参与内幕交易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时间与精力投入充分，不被其他职务挤占</a:t>
            </a:r>
          </a:p>
        </p:txBody>
      </p:sp>
      <p:sp>
        <p:nvSpPr>
          <p:cNvPr id="104" name="Card"/>
          <p:cNvSpPr/>
          <p:nvPr/>
        </p:nvSpPr>
        <p:spPr>
          <a:xfrm>
            <a:off x="8030190" y="1010000"/>
            <a:ext cx="338838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③ 核查渠道与方式</a:t>
            </a:r>
          </a:p>
          <a:p>
            <a:pPr marL="171450" indent="-171450" algn="l">
              <a:lnSpc>
                <a:spcPct val="145000"/>
              </a:lnSpc>
              <a:spcBef>
                <a:spcPts val="42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证监会网站：行政处罚、监管措施、市场禁入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交易所网站：纪律处分、通报批评、监管措施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中国执行信息公开网：是否失信被执行人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中国裁判文书网：涉诉与刑事记录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原任职单位背景访谈，核实真实履职经历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要求本人出具书面承诺并留档备查</a:t>
            </a:r>
          </a:p>
        </p:txBody>
      </p:sp>
      <p:sp>
        <p:nvSpPr>
          <p:cNvPr id="105" name="Conclusion"/>
          <p:cNvSpPr/>
          <p:nvPr/>
        </p:nvSpPr>
        <p:spPr>
          <a:xfrm>
            <a:off x="773430" y="4980000"/>
            <a:ext cx="10645140" cy="720000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6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遴选顺序：先核查任职资格，再评估履职能力。</a:t>
            </a:r>
            <a:r>
              <a:rPr lang="zh-CN" altLang="en-US" sz="1400" b="0" kern="1200" dirty="0">
                <a:solidFill>
                  <a:srgbClr val="D6E6F5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 xml:space="preserve">　资格是准入底线，专业能力与责任意识决定履职质量。</a:t>
            </a:r>
          </a:p>
        </p:txBody>
      </p:sp>
      <p:sp>
        <p:nvSpPr>
          <p:cNvPr id="106" name="Footnote"/>
          <p:cNvSpPr txBox="1"/>
          <p:nvPr/>
        </p:nvSpPr>
        <p:spPr>
          <a:xfrm>
            <a:off x="773430" y="596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本页为根据《上市公司董事会秘书监管规则》与《公司法》相关规定整理的实务清单，仅供参考。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f619c81-a06c-4e59-8ba7-f7a8d59649db"/>
  <p:tag name="COMMONDATA" val="eyJoZGlkIjoiN2YzNjBkOTgyNWQ1YTMxYzM3MzMwNWFiODNmOWIzYWM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orbel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accent1">
              <a:lumMod val="60000"/>
              <a:lumOff val="40000"/>
            </a:schemeClr>
          </a:solidFill>
          <a:prstDash val="sysDot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红橙色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207</Words>
  <Application>Microsoft Macintosh PowerPoint</Application>
  <PresentationFormat>宽屏</PresentationFormat>
  <Paragraphs>39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等线</vt:lpstr>
      <vt:lpstr>华文楷体</vt:lpstr>
      <vt:lpstr>微软雅黑</vt:lpstr>
      <vt:lpstr>Arial</vt:lpstr>
      <vt:lpstr>Calibri</vt:lpstr>
      <vt:lpstr>Corbel</vt:lpstr>
      <vt:lpstr>Times New Roman</vt:lpstr>
      <vt:lpstr>Wingdings</vt:lpstr>
      <vt:lpstr>Office 主题​​</vt:lpstr>
      <vt:lpstr>1_自定义设计方案</vt:lpstr>
      <vt:lpstr>PowerPoint 演示文稿</vt:lpstr>
      <vt:lpstr>PowerPoint 演示文稿</vt:lpstr>
      <vt:lpstr>PowerPoint 演示文稿</vt:lpstr>
      <vt:lpstr>1 本项目团队介绍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GTJA</dc:creator>
  <cp:lastModifiedBy>Dong, Xiaojian</cp:lastModifiedBy>
  <cp:revision>3943</cp:revision>
  <dcterms:created xsi:type="dcterms:W3CDTF">2025-11-17T10:02:00Z</dcterms:created>
  <dcterms:modified xsi:type="dcterms:W3CDTF">2026-09-01T09:11:51Z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7114C7864D3842E7B6E34F4D30F49135_13</vt:lpwstr>
  </property>
  <property fmtid="{D5CDD505-2E9C-101B-9397-08002B2CF9AE}" pid="3" name="KSOProductBuildVer">
    <vt:lpwstr>2052-12.1.0.26895</vt:lpwstr>
  </property>
</Properties>
</file>